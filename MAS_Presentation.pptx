
<file path=[Content_Types].xml><?xml version="1.0" encoding="utf-8"?>
<Types xmlns="http://schemas.openxmlformats.org/package/2006/content-types">
  <Default Extension="rels" ContentType="application/vnd.openxmlformats-package.relationships+xml"/>
  <Default Extension="xml" ContentType="application/xml"/>
  <Default Extension="vml" ContentType="application/vnd.openxmlformats-officedocument.vmlDrawing"/>
  <Default Extension="fntdata" ContentType="application/x-fontdata"/>
  <Default Extension="bmp" ContentType="image/bmp"/>
  <Default Extension="jpeg" ContentType="image/jpeg"/>
  <Default Extension="png" ContentType="image/png"/>
  <Default Extension="gif" ContentType="image/gif"/>
  <Default Extension="tif" ContentType="image/tif"/>
  <Default Extension="emf" ContentType="image/x-emf"/>
  <Default Extension="wmf" ContentType="image/x-wmf"/>
  <Default Extension="pct" ContentType="image/pct"/>
  <Default Extension="pcx" ContentType="image/pcx"/>
  <Default Extension="tga" ContentType="image/tga"/>
  <Default Extension="svg" ContentType="image/svg+xml"/>
  <Default Extension="webp" ContentType="image/webp"/>
  <Default Extension="avi" ContentType="video/avi"/>
  <Default Extension="wmv" ContentType="video/wmv"/>
  <Default Extension="mpg" ContentType="video/mpeg"/>
  <Default Extension="mpeg" ContentType="video/mpeg"/>
  <Default Extension="mp2" ContentType="video/mpeg"/>
  <Default Extension="mp4" ContentType="video/mpeg"/>
  <Default Extension="wma" ContentType="audio/x-ms-wma"/>
  <Default Extension="mid" ContentType="audio/unknown"/>
  <Default Extension="midi" ContentType="audio/unknown"/>
  <Default Extension="rmi" ContentType="audio/unknown"/>
  <Default Extension="mp3" ContentType="audio/unknown"/>
  <Default Extension="wav" ContentType="audio/wav"/>
  <Default Extension="bin" ContentType="application/vnd.openxmlformats-officedocument.oleObjec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Types>
</file>

<file path=_rels/.rels><?xml version="1.0" encoding="UTF-8" standalone="yes" ?>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2000" cy="6858000"/>
  <p:notesSz cx="6858000" cy="9144000"/>
  <p:defaultTextStyle>
    <a:lvl1pPr marL="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1pPr>
    <a:lvl2pPr marL="4572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2pPr>
    <a:lvl3pPr marL="9144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3pPr>
    <a:lvl4pPr marL="13716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4pPr>
    <a:lvl5pPr marL="18288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5pPr>
    <a:lvl6pPr marL="22860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6pPr>
    <a:lvl7pPr marL="27432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7pPr>
    <a:lvl8pPr marL="32004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8pPr>
    <a:lvl9pPr marL="36576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9pPr>
  </p:defaultTextStyle>
</p:presentation>
</file>

<file path=ppt/presProps.xml><?xml version="1.0" encoding="utf-8"?>
<p:presentationPr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p:showPr showNarration="1">
    <p:penClr>
      <a:srgbClr val="0000FF"/>
    </p:penClr>
  </p:showPr>
  <p:extLst>
    <p:ext uri="smNativeData">
      <pr:smAppRevision xmlns:pr="smNativeData" xmlns="smNativeData" dt="1780998513" val="1230" revOS="4"/>
      <pr:smFileRevision xmlns:pr="smNativeData" xmlns="smNativeData" dt="1780998513" val="101"/>
      <pr:guideOptions xmlns:pr="smNativeData" xmlns="smNativeData" dt="1780998513" snapToBorders="1" snapToGuides="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p:slideViewPr>
    <p:cSldViewPr snapToGrid="0" showGuides="1">
      <p:cViewPr varScale="1">
        <p:scale>
          <a:sx n="56" d="100"/>
          <a:sy n="56" d="100"/>
        </p:scale>
        <p:origin x="80" y="590"/>
      </p:cViewPr>
      <p:guideLst x="0" y="0">
        <p:guide orient="horz" pos="2160"/>
        <p:guide pos="3840"/>
      </p:guideLst>
    </p:cSldViewPr>
  </p:slideViewPr>
  <p:outlineViewPr>
    <p:cViewPr>
      <p:scale>
        <a:sx n="33" d="100"/>
        <a:sy n="33" d="100"/>
      </p:scale>
      <p:origin x="0" y="0"/>
    </p:cViewPr>
  </p:outlineViewPr>
  <p:sorterViewPr>
    <p:cViewPr>
      <p:scale>
        <a:sx n="13" d="100"/>
        <a:sy n="13" d="100"/>
      </p:scale>
      <p:origin x="0" y="0"/>
    </p:cViewPr>
  </p:sorterViewPr>
  <p:notesViewPr>
    <p:cSldViewPr snapToGrid="0" showGuides="1">
      <p:cViewPr>
        <p:scale>
          <a:sx n="56" d="100"/>
          <a:sy n="56" d="100"/>
        </p:scale>
        <p:origin x="80" y="590"/>
      </p:cViewPr>
    </p:cSldViewPr>
  </p:notesViewPr>
  <p:gridSpacing cx="78028800" cy="78028800"/>
</p:viewPr>
</file>

<file path=ppt/_rels/presentation.xml.rels><?xml version="1.0" encoding="UTF-8" standalone="yes" ?>
<Relationships xmlns="http://schemas.openxmlformats.org/package/2006/relationships"><Relationship Id="rId1" Type="http://schemas.openxmlformats.org/officeDocument/2006/relationships/theme" Target="theme/theme1.xml"/><Relationship Id="rId2" Type="http://schemas.openxmlformats.org/officeDocument/2006/relationships/tableStyles" Target="tableStyles.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notesMasters/_rels/notesMaster1.xml.rels><?xml version="1.0" encoding="UTF-8" standalone="yes" ?>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noChangeArrowheads="1"/>
            <a:extLst>
              <a:ext uri="smNativeData">
                <pr:smNativeData xmlns:pr="smNativeData" xmlns="smNativeData" val="SMDATA_15_ceEnahMAAAAlAAAAZA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AAAAAAAAAABIEgAA0wIAABAAAAAmAAAACAAAAD+PAAAAAAAA"/>
              </a:ext>
            </a:extLst>
          </p:cNvSpPr>
          <p:nvPr>
            <p:ph type="hdr" sz="quarter"/>
          </p:nvPr>
        </p:nvSpPr>
        <p:spPr>
          <a:xfrm>
            <a:off x="0" y="0"/>
            <a:ext cx="2971800" cy="459105"/>
          </a:xfrm>
          <a:prstGeom prst="rect">
            <a:avLst/>
          </a:prstGeom>
        </p:spPr>
        <p:txBody>
          <a:bodyPr vert="horz" wrap="square" lIns="91440" tIns="45720" rIns="91440" bIns="45720" numCol="1" spcCol="215900" anchor="t">
            <a:prstTxWarp prst="textNoShape">
              <a:avLst/>
            </a:prstTxWarp>
          </a:bodyPr>
          <a:lstStyle>
            <a:lvl1pPr algn="l">
              <a:defRPr lang="en-us" sz="1200" cap="none"/>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a:defRPr lang="en-us"/>
            </a:pPr>
          </a:p>
        </p:txBody>
      </p:sp>
      <p:sp>
        <p:nvSpPr>
          <p:cNvPr id="3" name="Date Placeholder 2"/>
          <p:cNvSpPr>
            <a:spLocks noGrp="1" noChangeArrowheads="1"/>
            <a:extLst>
              <a:ext uri="smNativeData">
                <pr:smNativeData xmlns:pr="smNativeData" xmlns="smNativeData" val="SMDATA_15_ceEnahMAAAAlAAAAZA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5hcAAAAAAAAuKgAA0wIAABAAAAAmAAAACAAAAD+PAAAAAAAA"/>
              </a:ext>
            </a:extLst>
          </p:cNvSpPr>
          <p:nvPr>
            <p:ph type="dt" idx="10"/>
          </p:nvPr>
        </p:nvSpPr>
        <p:spPr>
          <a:xfrm>
            <a:off x="3884930" y="0"/>
            <a:ext cx="2971800" cy="459105"/>
          </a:xfrm>
          <a:prstGeom prst="rect">
            <a:avLst/>
          </a:prstGeom>
        </p:spPr>
        <p:txBody>
          <a:bodyPr vert="horz" wrap="square" lIns="91440" tIns="45720" rIns="91440" bIns="45720" numCol="1" spcCol="215900" anchor="t">
            <a:prstTxWarp prst="textNoShape">
              <a:avLst/>
            </a:prstTxWarp>
          </a:bodyPr>
          <a:lstStyle>
            <a:lvl1pPr algn="r">
              <a:defRPr lang="en-us" sz="1200" cap="none"/>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a:defRPr lang="en-us"/>
            </a:pPr>
            <a:fld id="{171B690E-40FA-4E9F-B4A3-B6CA27ED42E3}" type="datetime1">
              <a:t>5/26/2021</a:t>
            </a:fld>
          </a:p>
        </p:txBody>
      </p:sp>
      <p:sp>
        <p:nvSpPr>
          <p:cNvPr id="4" name="Slide Image Placeholder 3"/>
          <p:cNvSpPr>
            <a:spLocks noGrp="1" noChangeArrowheads="1"/>
            <a:extLst>
              <a:ext uri="smNativeData">
                <pr:smNativeData xmlns:pr="smNativeData" xmlns="smNativeData" val="SMDATA_15_ceEnahMAAAAlAAAAZAAAAC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OAQAAAgHAAD4JQAABBoAABAAAAAmAAAACAAAAL8PAAD/HwAA"/>
              </a:ext>
            </a:extLst>
          </p:cNvSpPr>
          <p:nvPr>
            <p:ph type="sldImg" idx="2"/>
          </p:nvPr>
        </p:nvSpPr>
        <p:spPr>
          <a:xfrm>
            <a:off x="685800" y="1143000"/>
            <a:ext cx="5486400" cy="3086100"/>
          </a:xfrm>
          <a:prstGeom prst="rect">
            <a:avLst/>
          </a:prstGeom>
          <a:noFill/>
          <a:ln w="12700" cap="flat" cmpd="sng" algn="ctr">
            <a:solidFill>
              <a:srgbClr val="000000"/>
            </a:solidFill>
            <a:prstDash val="solid"/>
            <a:headEnd type="none"/>
            <a:tailEnd type="none"/>
          </a:ln>
        </p:spPr>
        <p:txBody>
          <a:bodyPr vert="horz" wrap="square" lIns="91440" tIns="45720" rIns="91440" bIns="45720" numCol="1" spcCol="215900" anchor="ctr">
            <a:prstTxWarp prst="textNoShape">
              <a:avLst/>
            </a:prstTxWarp>
          </a:bodyPr>
          <a:lstStyle/>
          <a:p>
            <a:pPr>
              <a:defRPr lang="en-us"/>
            </a:pPr>
          </a:p>
        </p:txBody>
      </p:sp>
      <p:sp>
        <p:nvSpPr>
          <p:cNvPr id="5" name="Notes Placeholder 4"/>
          <p:cNvSpPr>
            <a:spLocks noGrp="1" noChangeArrowheads="1"/>
            <a:extLst>
              <a:ext uri="smNativeData">
                <pr:smNativeData xmlns:pr="smNativeData" xmlns="smNativeData" val="SMDATA_15_ceEnahMAAAAlAAAAZA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OAQAABIbAAD4JQAAODEAABAAAAAmAAAACAAAAD8PAAD/HwAA"/>
              </a:ext>
            </a:extLst>
          </p:cNvSpPr>
          <p:nvPr>
            <p:ph type="body" idx="3"/>
          </p:nvPr>
        </p:nvSpPr>
        <p:spPr>
          <a:xfrm>
            <a:off x="685800" y="4400550"/>
            <a:ext cx="5486400" cy="3600450"/>
          </a:xfrm>
          <a:prstGeom prst="rect">
            <a:avLst/>
          </a:prstGeom>
          <a:noFill/>
          <a:ln>
            <a:noFill/>
          </a:ln>
        </p:spPr>
        <p:txBody>
          <a:bodyPr vert="horz" wrap="square" lIns="91440" tIns="45720" rIns="91440" bIns="45720" numCol="1" spcCol="215900" anchor="t">
            <a:prstTxWarp prst="textNoShape">
              <a:avLst/>
            </a:prstTxWarp>
          </a:bodyPr>
          <a:lstStyle/>
          <a:p>
            <a:pPr>
              <a:defRPr lang="en-us"/>
            </a:pPr>
            <a:r>
              <a:t>Click to edit Master text styles</a:t>
            </a:r>
          </a:p>
          <a:p>
            <a:pPr lvl="1">
              <a:defRPr lang="en-us"/>
            </a:pPr>
            <a:r>
              <a:t>Second level</a:t>
            </a:r>
          </a:p>
          <a:p>
            <a:pPr lvl="2">
              <a:defRPr lang="en-us"/>
            </a:pPr>
            <a:r>
              <a:t>Third level</a:t>
            </a:r>
          </a:p>
          <a:p>
            <a:pPr lvl="3">
              <a:defRPr lang="en-us"/>
            </a:pPr>
            <a:r>
              <a:t>Fourth level</a:t>
            </a:r>
          </a:p>
          <a:p>
            <a:pPr lvl="4">
              <a:defRPr lang="en-us"/>
            </a:pPr>
            <a:r>
              <a:t>Fifth level</a:t>
            </a:r>
          </a:p>
        </p:txBody>
      </p:sp>
      <p:sp>
        <p:nvSpPr>
          <p:cNvPr id="6" name="Footer Placeholder 5"/>
          <p:cNvSpPr>
            <a:spLocks noGrp="1" noChangeArrowheads="1"/>
            <a:extLst>
              <a:ext uri="smNativeData">
                <pr:smNativeData xmlns:pr="smNativeData" xmlns="smNativeData" val="SMDATA_15_ceEnahMAAAAlAAAAZAAAAA0AAAAAkAAAAEgAAACQAAAASAAAAAAAAAAC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AAAAAG41AABIEgAAQDgAABAAAAAmAAAACAAAAL+PAAD/HwAA"/>
              </a:ext>
            </a:extLst>
          </p:cNvSpPr>
          <p:nvPr>
            <p:ph type="ftr" sz="quarter" idx="11"/>
          </p:nvPr>
        </p:nvSpPr>
        <p:spPr>
          <a:xfrm>
            <a:off x="0" y="8685530"/>
            <a:ext cx="2971800" cy="458470"/>
          </a:xfrm>
          <a:prstGeom prst="rect">
            <a:avLst/>
          </a:prstGeom>
          <a:noFill/>
          <a:ln>
            <a:noFill/>
          </a:ln>
        </p:spPr>
        <p:txBody>
          <a:bodyPr vert="horz" wrap="square" lIns="91440" tIns="45720" rIns="91440" bIns="45720" numCol="1" spcCol="215900" anchor="b">
            <a:prstTxWarp prst="textNoShape">
              <a:avLst/>
            </a:prstTxWarp>
          </a:bodyPr>
          <a:lstStyle>
            <a:lvl1pPr algn="l">
              <a:defRPr lang="en-us" sz="1200" cap="none"/>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a:defRPr lang="en-us"/>
            </a:pPr>
          </a:p>
        </p:txBody>
      </p:sp>
      <p:sp>
        <p:nvSpPr>
          <p:cNvPr id="7" name="Slide Number Placeholder 6"/>
          <p:cNvSpPr>
            <a:spLocks noGrp="1" noChangeArrowheads="1"/>
            <a:extLst>
              <a:ext uri="smNativeData">
                <pr:smNativeData xmlns:pr="smNativeData" xmlns="smNativeData" val="SMDATA_15_ceEnahMAAAAlAAAAZAAAAA0AAAAAkAAAAEgAAACQAAAASAAAAAAAAAAC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5hcAAG41AAAuKgAAQDgAABAAAAAmAAAACAAAAL+PAAD/HwAA"/>
              </a:ext>
            </a:extLst>
          </p:cNvSpPr>
          <p:nvPr>
            <p:ph type="sldNum" sz="quarter" idx="12"/>
          </p:nvPr>
        </p:nvSpPr>
        <p:spPr>
          <a:xfrm>
            <a:off x="3884930" y="8685530"/>
            <a:ext cx="2971800" cy="458470"/>
          </a:xfrm>
          <a:prstGeom prst="rect">
            <a:avLst/>
          </a:prstGeom>
          <a:noFill/>
          <a:ln>
            <a:noFill/>
          </a:ln>
        </p:spPr>
        <p:txBody>
          <a:bodyPr vert="horz" wrap="square" lIns="91440" tIns="45720" rIns="91440" bIns="45720" numCol="1" spcCol="215900" anchor="b">
            <a:prstTxWarp prst="textNoShape">
              <a:avLst/>
            </a:prstTxWarp>
          </a:bodyPr>
          <a:lstStyle>
            <a:lvl1pPr algn="r">
              <a:defRPr lang="en-us" sz="1200" cap="none"/>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a:defRPr lang="en-us"/>
            </a:pPr>
            <a:fld id="{171B231E-50FA-4ED5-B4A3-A6806DED42F3}" type="slidenum">
              <a:t>‹#›</a:t>
            </a:fld>
          </a:p>
        </p:txBody>
      </p:sp>
    </p:spTree>
  </p:cSld>
  <p:clrMap bg1="lt1" tx1="dk1" bg2="lt2" tx2="dk2" accent1="accent1" accent2="accent2" accent3="accent3" accent4="accent4" accent5="accent5" accent6="accent6" hlink="hlink" folHlink="folHlink"/>
  <p:hf hdr="0" ftr="0"/>
  <p:notesStyle>
    <a:lvl1pPr marL="0" marR="0" indent="0" algn="l" defTabSz="914400">
      <a:lnSpc>
        <a:spcPct val="100000"/>
      </a:lnSpc>
      <a:spcBef>
        <a:spcPts val="0"/>
      </a:spcBef>
      <a:spcAft>
        <a:spcPts val="0"/>
      </a:spcAft>
      <a:buNone/>
      <a:tabLst/>
      <a:defRPr lang="en-us" sz="1200" b="0" i="0" u="none" strike="noStrike" kern="1" cap="none" spc="0" baseline="0">
        <a:solidFill>
          <a:schemeClr val="tx1"/>
        </a:solidFill>
        <a:effectLst/>
        <a:latin typeface="Calibri" pitchFamily="2" charset="0"/>
        <a:ea typeface="Calibri" pitchFamily="2" charset="0"/>
        <a:cs typeface="Calibri" pitchFamily="2" charset="0"/>
      </a:defRPr>
    </a:lvl1pPr>
    <a:lvl2pPr marL="457200" marR="0" indent="0" algn="l" defTabSz="914400">
      <a:lnSpc>
        <a:spcPct val="100000"/>
      </a:lnSpc>
      <a:spcBef>
        <a:spcPts val="0"/>
      </a:spcBef>
      <a:spcAft>
        <a:spcPts val="0"/>
      </a:spcAft>
      <a:buNone/>
      <a:tabLst/>
      <a:defRPr lang="en-us" sz="1200" b="0" i="0" u="none" strike="noStrike" kern="1" cap="none" spc="0" baseline="0">
        <a:solidFill>
          <a:schemeClr val="tx1"/>
        </a:solidFill>
        <a:effectLst/>
        <a:latin typeface="Calibri" pitchFamily="2" charset="0"/>
        <a:ea typeface="Calibri" pitchFamily="2" charset="0"/>
        <a:cs typeface="Calibri" pitchFamily="2" charset="0"/>
      </a:defRPr>
    </a:lvl2pPr>
    <a:lvl3pPr marL="914400" marR="0" indent="0" algn="l" defTabSz="914400">
      <a:lnSpc>
        <a:spcPct val="100000"/>
      </a:lnSpc>
      <a:spcBef>
        <a:spcPts val="0"/>
      </a:spcBef>
      <a:spcAft>
        <a:spcPts val="0"/>
      </a:spcAft>
      <a:buNone/>
      <a:tabLst/>
      <a:defRPr lang="en-us" sz="1200" b="0" i="0" u="none" strike="noStrike" kern="1" cap="none" spc="0" baseline="0">
        <a:solidFill>
          <a:schemeClr val="tx1"/>
        </a:solidFill>
        <a:effectLst/>
        <a:latin typeface="Calibri" pitchFamily="2" charset="0"/>
        <a:ea typeface="Calibri" pitchFamily="2" charset="0"/>
        <a:cs typeface="Calibri" pitchFamily="2" charset="0"/>
      </a:defRPr>
    </a:lvl3pPr>
    <a:lvl4pPr marL="1371600" marR="0" indent="0" algn="l" defTabSz="914400">
      <a:lnSpc>
        <a:spcPct val="100000"/>
      </a:lnSpc>
      <a:spcBef>
        <a:spcPts val="0"/>
      </a:spcBef>
      <a:spcAft>
        <a:spcPts val="0"/>
      </a:spcAft>
      <a:buNone/>
      <a:tabLst/>
      <a:defRPr lang="en-us" sz="1200" b="0" i="0" u="none" strike="noStrike" kern="1" cap="none" spc="0" baseline="0">
        <a:solidFill>
          <a:schemeClr val="tx1"/>
        </a:solidFill>
        <a:effectLst/>
        <a:latin typeface="Calibri" pitchFamily="2" charset="0"/>
        <a:ea typeface="Calibri" pitchFamily="2" charset="0"/>
        <a:cs typeface="Calibri" pitchFamily="2" charset="0"/>
      </a:defRPr>
    </a:lvl4pPr>
    <a:lvl5pPr marL="1828800" marR="0" indent="0" algn="l" defTabSz="914400">
      <a:lnSpc>
        <a:spcPct val="100000"/>
      </a:lnSpc>
      <a:spcBef>
        <a:spcPts val="0"/>
      </a:spcBef>
      <a:spcAft>
        <a:spcPts val="0"/>
      </a:spcAft>
      <a:buNone/>
      <a:tabLst/>
      <a:defRPr lang="en-us" sz="1200" b="0" i="0" u="none" strike="noStrike" kern="1" cap="none" spc="0" baseline="0">
        <a:solidFill>
          <a:schemeClr val="tx1"/>
        </a:solidFill>
        <a:effectLst/>
        <a:latin typeface="Calibri" pitchFamily="2" charset="0"/>
        <a:ea typeface="Calibri" pitchFamily="2" charset="0"/>
        <a:cs typeface="Calibri" pitchFamily="2" charset="0"/>
      </a:defRPr>
    </a:lvl5pPr>
    <a:lvl6pPr marL="2286000" marR="0" indent="0" algn="l" defTabSz="914400">
      <a:lnSpc>
        <a:spcPct val="100000"/>
      </a:lnSpc>
      <a:spcBef>
        <a:spcPts val="0"/>
      </a:spcBef>
      <a:spcAft>
        <a:spcPts val="0"/>
      </a:spcAft>
      <a:buNone/>
      <a:tabLst/>
      <a:defRPr lang="en-us" sz="1200" b="0" i="0" u="none" strike="noStrike" kern="1" cap="none" spc="0" baseline="0">
        <a:solidFill>
          <a:schemeClr val="tx1"/>
        </a:solidFill>
        <a:effectLst/>
        <a:latin typeface="Calibri" pitchFamily="2" charset="0"/>
        <a:ea typeface="Calibri" pitchFamily="2" charset="0"/>
        <a:cs typeface="Calibri" pitchFamily="2" charset="0"/>
      </a:defRPr>
    </a:lvl6pPr>
    <a:lvl7pPr marL="2743200" marR="0" indent="0" algn="l" defTabSz="914400">
      <a:lnSpc>
        <a:spcPct val="100000"/>
      </a:lnSpc>
      <a:spcBef>
        <a:spcPts val="0"/>
      </a:spcBef>
      <a:spcAft>
        <a:spcPts val="0"/>
      </a:spcAft>
      <a:buNone/>
      <a:tabLst/>
      <a:defRPr lang="en-us" sz="1200" b="0" i="0" u="none" strike="noStrike" kern="1" cap="none" spc="0" baseline="0">
        <a:solidFill>
          <a:schemeClr val="tx1"/>
        </a:solidFill>
        <a:effectLst/>
        <a:latin typeface="Calibri" pitchFamily="2" charset="0"/>
        <a:ea typeface="Calibri" pitchFamily="2" charset="0"/>
        <a:cs typeface="Calibri" pitchFamily="2" charset="0"/>
      </a:defRPr>
    </a:lvl7pPr>
    <a:lvl8pPr marL="3200400" marR="0" indent="0" algn="l" defTabSz="914400">
      <a:lnSpc>
        <a:spcPct val="100000"/>
      </a:lnSpc>
      <a:spcBef>
        <a:spcPts val="0"/>
      </a:spcBef>
      <a:spcAft>
        <a:spcPts val="0"/>
      </a:spcAft>
      <a:buNone/>
      <a:tabLst/>
      <a:defRPr lang="en-us" sz="1200" b="0" i="0" u="none" strike="noStrike" kern="1" cap="none" spc="0" baseline="0">
        <a:solidFill>
          <a:schemeClr val="tx1"/>
        </a:solidFill>
        <a:effectLst/>
        <a:latin typeface="Calibri" pitchFamily="2" charset="0"/>
        <a:ea typeface="Calibri" pitchFamily="2" charset="0"/>
        <a:cs typeface="Calibri" pitchFamily="2" charset="0"/>
      </a:defRPr>
    </a:lvl8pPr>
    <a:lvl9pPr marL="3657600" marR="0" indent="0" algn="l" defTabSz="914400">
      <a:lnSpc>
        <a:spcPct val="100000"/>
      </a:lnSpc>
      <a:spcBef>
        <a:spcPts val="0"/>
      </a:spcBef>
      <a:spcAft>
        <a:spcPts val="0"/>
      </a:spcAft>
      <a:buNone/>
      <a:tabLst/>
      <a:defRPr lang="en-us" sz="1200" b="0" i="0" u="none" strike="noStrike" kern="1" cap="none" spc="0" baseline="0">
        <a:solidFill>
          <a:schemeClr val="tx1"/>
        </a:solidFill>
        <a:effectLst/>
        <a:latin typeface="Calibri" pitchFamily="2" charset="0"/>
        <a:ea typeface="Calibri" pitchFamily="2" charset="0"/>
        <a:cs typeface="Calibri" pitchFamily="2" charset="0"/>
      </a:defRPr>
    </a:lvl9pPr>
  </p:notesStyle>
</p:notesMaster>
</file>

<file path=ppt/slideLayouts/_rels/slideLayout1.xml.rels><?xml version="1.0" encoding="UTF-8" standalone="yes" ?>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hyperlink" Target="https://poweredtemplate.com/membership/" TargetMode="External"/><Relationship Id="rId4" Type="http://schemas.openxmlformats.org/officeDocument/2006/relationships/hyperlink" Target="https://poweredtemplate.com/" TargetMode="External"/><Relationship Id="rId5" Type="http://schemas.openxmlformats.org/officeDocument/2006/relationships/image" Target="../media/image2.png"/></Relationships>
</file>

<file path=ppt/slideLayouts/_rels/slideLayout5.xml.rels><?xml version="1.0" encoding="UTF-8" standalone="yes" ?>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hyperlink" Target="https://support.poweredtemplates.com/" TargetMode="External"/></Relationships>
</file>

<file path=ppt/slideLayouts/_rels/slideLayout6.xml.rels><?xml version="1.0" encoding="UTF-8" standalone="yes" ?>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hyperlink" Target="https://support.poweredtemplates.com/" TargetMode="External"/></Relationships>
</file>

<file path=ppt/slideLayouts/_rels/slideLayout7.xml.rels><?xml version="1.0" encoding="UTF-8" standalone="yes" ?>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poweredtemplate.com/" TargetMode="External"/><Relationship Id="rId3" Type="http://schemas.openxmlformats.org/officeDocument/2006/relationships/hyperlink" Target="https://poweredtemplate.com/membership/" TargetMode="External"/></Relationships>
</file>

<file path=ppt/slideLayouts/slideLayout1.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title" preserve="1">
  <p:cSld name="Title Slide">
    <p:spTree>
      <p:nvGrpSpPr>
        <p:cNvPr id="1" name=""/>
        <p:cNvGrpSpPr/>
        <p:nvPr/>
      </p:nvGrpSpPr>
      <p:grpSpPr>
        <a:xfrm>
          <a:off x="0" y="0"/>
          <a:ext cx="0" cy="0"/>
          <a:chOff x="0" y="0"/>
          <a:chExt cx="0" cy="0"/>
        </a:xfrm>
      </p:grpSpPr>
      <p:sp>
        <p:nvSpPr>
          <p:cNvPr id="2" name="Title 1"/>
          <p:cNvSpPr>
            <a:spLocks noGrp="1" noChangeArrowheads="1"/>
            <a:extLst>
              <a:ext uri="smNativeData">
                <pr:smNativeData xmlns:pr="smNativeData" xmlns="smNativeData" val="SMDATA_15_ceEnahMAAAAlAAAAZAAAAA0AAAAAkAAAAEgAAACQAAAAS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YAkAAOgGAACgQQAAmBUAABAAAAAmAAAACAAAAIGAAAAAAAAA"/>
              </a:ext>
            </a:extLst>
          </p:cNvSpPr>
          <p:nvPr>
            <p:ph type="ctrTitle"/>
          </p:nvPr>
        </p:nvSpPr>
        <p:spPr>
          <a:xfrm>
            <a:off x="1524000" y="1122680"/>
            <a:ext cx="9144000" cy="2387600"/>
          </a:xfrm>
        </p:spPr>
        <p:txBody>
          <a:bodyPr vert="horz" wrap="square" lIns="91440" tIns="45720" rIns="91440" bIns="45720" numCol="1" spcCol="215900" anchor="b">
            <a:prstTxWarp prst="textNoShape">
              <a:avLst/>
            </a:prstTxWarp>
          </a:bodyPr>
          <a:lstStyle>
            <a:lvl1pPr algn="ctr">
              <a:defRPr lang="en-us" sz="6000" cap="none">
                <a:solidFill>
                  <a:srgbClr val="7F7F7F"/>
                </a:solidFill>
              </a:defRPr>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a:defRPr lang="en-us"/>
            </a:pPr>
            <a:r>
              <a:t>Click to edit Master title style</a:t>
            </a:r>
          </a:p>
        </p:txBody>
      </p:sp>
      <p:sp>
        <p:nvSpPr>
          <p:cNvPr id="3" name="Subtitle 2"/>
          <p:cNvSpPr>
            <a:spLocks noGrp="1" noChangeArrowheads="1"/>
            <a:extLst>
              <a:ext uri="smNativeData">
                <pr:smNativeData xmlns:pr="smNativeData" xmlns="smNativeData" val="SMDATA_15_ceEnah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YAkAACkWAACgQQAAWCAAABAAAAAmAAAACAAAAAGAAAAAAAAA"/>
              </a:ext>
            </a:extLst>
          </p:cNvSpPr>
          <p:nvPr>
            <p:ph type="subTitle" idx="1"/>
          </p:nvPr>
        </p:nvSpPr>
        <p:spPr>
          <a:xfrm>
            <a:off x="1524000" y="3602355"/>
            <a:ext cx="9144000" cy="1655445"/>
          </a:xfrm>
        </p:spPr>
        <p:txBody>
          <a:bodyPr/>
          <a:lstStyle>
            <a:lvl1pPr marL="0" indent="0" algn="ctr">
              <a:buNone/>
              <a:defRPr lang="en-us" sz="2400" cap="none">
                <a:solidFill>
                  <a:srgbClr val="7F7F7F"/>
                </a:solidFill>
              </a:defRPr>
            </a:lvl1pPr>
            <a:lvl2pPr marL="457200" indent="0" algn="ctr">
              <a:buNone/>
              <a:defRPr lang="en-us" sz="2000" cap="none"/>
            </a:lvl2pPr>
            <a:lvl3pPr marL="914400" indent="0" algn="ctr">
              <a:buNone/>
              <a:defRPr lang="en-us" sz="1800" cap="none"/>
            </a:lvl3pPr>
            <a:lvl4pPr marL="1371600" indent="0" algn="ctr">
              <a:buNone/>
              <a:defRPr lang="en-us" sz="1600" cap="none"/>
            </a:lvl4pPr>
            <a:lvl5pPr marL="1828800" indent="0" algn="ctr">
              <a:buNone/>
              <a:defRPr lang="en-us" sz="1600" cap="none"/>
            </a:lvl5pPr>
            <a:lvl6pPr marL="2286000" indent="0" algn="ctr">
              <a:buNone/>
              <a:defRPr lang="en-us" sz="1600" cap="none"/>
            </a:lvl6pPr>
            <a:lvl7pPr marL="2743200" indent="0" algn="ctr">
              <a:buNone/>
              <a:defRPr lang="en-us" sz="1600" cap="none"/>
            </a:lvl7pPr>
            <a:lvl8pPr marL="3200400" indent="0" algn="ctr">
              <a:buNone/>
              <a:defRPr lang="en-us" sz="1600" cap="none"/>
            </a:lvl8pPr>
            <a:lvl9pPr marL="3657600" indent="0" algn="ctr">
              <a:buNone/>
              <a:defRPr lang="en-us" sz="1600" cap="none"/>
            </a:lvl9pPr>
          </a:lstStyle>
          <a:p>
            <a:pPr>
              <a:defRPr lang="en-us"/>
            </a:pPr>
            <a:r>
              <a:t>Click to edit Master subtitle style</a:t>
            </a:r>
          </a:p>
        </p:txBody>
      </p:sp>
      <p:sp>
        <p:nvSpPr>
          <p:cNvPr id="4" name="Date Placeholder 3"/>
          <p:cNvSpPr>
            <a:spLocks noGrp="1" noChangeArrowheads="1"/>
            <a:extLst>
              <a:ext uri="smNativeData">
                <pr:smNativeData xmlns:pr="smNativeData" xmlns="smNativeData" val="SMDATA_15_ceEna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IFgAAWSkAABAAAAAmAAAACAAAAAAAAAAAAAAA"/>
              </a:ext>
            </a:extLst>
          </p:cNvSpPr>
          <p:nvPr>
            <p:ph type="dt" sz="half" idx="10"/>
          </p:nvPr>
        </p:nvSpPr>
        <p:spPr/>
        <p:txBody>
          <a:bodyPr/>
          <a:lstStyle/>
          <a:p>
            <a:pPr>
              <a:defRPr lang="en-us"/>
            </a:pPr>
            <a:fld id="{171B4AFA-B4FA-4EBC-B4A3-42E904ED4217}" type="datetime1">
              <a:t>5/26/2021</a:t>
            </a:fld>
          </a:p>
        </p:txBody>
      </p:sp>
      <p:sp>
        <p:nvSpPr>
          <p:cNvPr id="5" name="Footer Placeholder 4"/>
          <p:cNvSpPr>
            <a:spLocks noGrp="1" noChangeArrowheads="1"/>
            <a:extLst>
              <a:ext uri="smNativeData">
                <pr:smNativeData xmlns:pr="smNativeData" xmlns="smNativeData" val="SMDATA_15_ceEna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oMgAAWSkAABAAAAAmAAAACAAAAAAAAAAAAAAA"/>
              </a:ext>
            </a:extLst>
          </p:cNvSpPr>
          <p:nvPr>
            <p:ph type="ftr" sz="quarter" idx="11"/>
          </p:nvPr>
        </p:nvSpPr>
        <p:spPr/>
        <p:txBody>
          <a:bodyPr/>
          <a:lstStyle/>
          <a:p>
            <a:pPr>
              <a:defRPr lang="en-us"/>
            </a:pPr>
            <a:r>
              <a:t>Designed by PoweredTemplate</a:t>
            </a:r>
          </a:p>
        </p:txBody>
      </p:sp>
      <p:sp>
        <p:nvSpPr>
          <p:cNvPr id="6" name="Slide Number Placeholder 5"/>
          <p:cNvSpPr>
            <a:spLocks noGrp="1" noChangeArrowheads="1"/>
            <a:extLst>
              <a:ext uri="smNativeData">
                <pr:smNativeData xmlns:pr="smNativeData" xmlns="smNativeData" val="SMDATA_15_ceEna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YRQAAWSkAABAAAAAmAAAACAAAAAAAAAAAAAAA"/>
              </a:ext>
            </a:extLst>
          </p:cNvSpPr>
          <p:nvPr>
            <p:ph type="sldNum" sz="quarter" idx="12"/>
          </p:nvPr>
        </p:nvSpPr>
        <p:spPr/>
        <p:txBody>
          <a:bodyPr/>
          <a:lstStyle/>
          <a:p>
            <a:pPr>
              <a:defRPr lang="en-us"/>
            </a:pPr>
            <a:fld id="{171B0B26-68FA-4EFD-B4A3-9EA845ED42CB}" type="slidenum">
              <a:t>‹#›</a:t>
            </a:fld>
          </a:p>
        </p:txBody>
      </p:sp>
    </p:spTree>
  </p:cSld>
  <p:clrMapOvr>
    <a:masterClrMapping/>
  </p:clrMapOvr>
  <p:hf hdr="0" ftr="0"/>
</p:sldLayout>
</file>

<file path=ppt/slideLayouts/slideLayout2.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blank" preserve="1">
  <p:cSld name="Title and Content Light">
    <p:spTree>
      <p:nvGrpSpPr>
        <p:cNvPr id="1" name=""/>
        <p:cNvGrpSpPr/>
        <p:nvPr/>
      </p:nvGrpSpPr>
      <p:grpSpPr>
        <a:xfrm>
          <a:off x="0" y="0"/>
          <a:ext cx="0" cy="0"/>
          <a:chOff x="0" y="0"/>
          <a:chExt cx="0" cy="0"/>
        </a:xfrm>
      </p:grpSpPr>
      <p:sp>
        <p:nvSpPr>
          <p:cNvPr id="2" name="Title 1"/>
          <p:cNvSpPr>
            <a:spLocks noGrp="1" noChangeArrowheads="1"/>
            <a:extLst>
              <a:ext uri="smNativeData">
                <pr:smNativeData xmlns:pr="smNativeData" xmlns="smNativeData" val="SMDATA_15_ceEna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NcAAADYRQAAkQUAABAAAAAmAAAACAAAAAGAAAAAAAAA"/>
              </a:ext>
            </a:extLst>
          </p:cNvSpPr>
          <p:nvPr>
            <p:ph type="title"/>
          </p:nvPr>
        </p:nvSpPr>
        <p:spPr>
          <a:xfrm>
            <a:off x="838200" y="136525"/>
            <a:ext cx="10515600" cy="768350"/>
          </a:xfrm>
        </p:spPr>
        <p:txBody>
          <a:bodyPr/>
          <a:lstStyle>
            <a:lvl1pPr algn="ctr">
              <a:defRPr lang="en-us" cap="none">
                <a:solidFill>
                  <a:srgbClr val="7F7F7F"/>
                </a:solidFill>
              </a:defRPr>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a:defRPr lang="en-us"/>
            </a:pPr>
            <a:r>
              <a:t>Click to edit Master title style</a:t>
            </a:r>
          </a:p>
        </p:txBody>
      </p:sp>
      <p:sp>
        <p:nvSpPr>
          <p:cNvPr id="3" name="Date Placeholder 3"/>
          <p:cNvSpPr>
            <a:spLocks noGrp="1" noChangeArrowheads="1"/>
            <a:extLst>
              <a:ext uri="smNativeData">
                <pr:smNativeData xmlns:pr="smNativeData" xmlns="smNativeData" val="SMDATA_15_ceEna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IFgAAWSkAABAAAAAmAAAACAAAAAAAAAAAAAAA"/>
              </a:ext>
            </a:extLst>
          </p:cNvSpPr>
          <p:nvPr>
            <p:ph type="dt" sz="half" idx="10"/>
          </p:nvPr>
        </p:nvSpPr>
        <p:spPr/>
        <p:txBody>
          <a:bodyPr/>
          <a:lstStyle/>
          <a:p>
            <a:pPr>
              <a:defRPr lang="en-us"/>
            </a:pPr>
            <a:fld id="{171B517C-32FA-4EA7-B4A3-C4F21FED4291}" type="datetime1">
              <a:t/>
            </a:fld>
          </a:p>
        </p:txBody>
      </p:sp>
      <p:sp>
        <p:nvSpPr>
          <p:cNvPr id="4" name="Footer Placeholder 4"/>
          <p:cNvSpPr>
            <a:spLocks noGrp="1" noChangeArrowheads="1"/>
            <a:extLst>
              <a:ext uri="smNativeData">
                <pr:smNativeData xmlns:pr="smNativeData" xmlns="smNativeData" val="SMDATA_15_ceEna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oMgAAWSkAABAAAAAmAAAACAAAAAAAAAAAAAAA"/>
              </a:ext>
            </a:extLst>
          </p:cNvSpPr>
          <p:nvPr>
            <p:ph type="ftr" sz="quarter" idx="11"/>
          </p:nvPr>
        </p:nvSpPr>
        <p:spPr/>
        <p:txBody>
          <a:bodyPr/>
          <a:lstStyle/>
          <a:p>
            <a:pPr>
              <a:defRPr lang="en-us"/>
            </a:pPr>
            <a:r>
              <a:t>Designed by PoweredTemplate</a:t>
            </a:r>
          </a:p>
        </p:txBody>
      </p:sp>
      <p:sp>
        <p:nvSpPr>
          <p:cNvPr id="5" name="Slide Number Placeholder 5"/>
          <p:cNvSpPr>
            <a:spLocks noGrp="1" noChangeArrowheads="1"/>
            <a:extLst>
              <a:ext uri="smNativeData">
                <pr:smNativeData xmlns:pr="smNativeData" xmlns="smNativeData" val="SMDATA_15_ceEna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YRQAAWSkAABAAAAAmAAAACAAAAAAAAAAAAAAA"/>
              </a:ext>
            </a:extLst>
          </p:cNvSpPr>
          <p:nvPr>
            <p:ph type="sldNum" sz="quarter" idx="12"/>
          </p:nvPr>
        </p:nvSpPr>
        <p:spPr/>
        <p:txBody>
          <a:bodyPr/>
          <a:lstStyle/>
          <a:p>
            <a:pPr>
              <a:defRPr lang="en-us"/>
            </a:pPr>
            <a:fld id="{171B31D6-98FA-4EC7-B4A3-6E927FED423B}" type="slidenum">
              <a:t/>
            </a:fld>
          </a:p>
        </p:txBody>
      </p:sp>
    </p:spTree>
  </p:cSld>
  <p:clrMapOvr>
    <a:masterClrMapping/>
  </p:clrMapOvr>
  <p:hf hdr="0" ftr="0"/>
</p:sldLayout>
</file>

<file path=ppt/slideLayouts/slideLayout3.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blank" preserve="1">
  <p:cSld name="Title and Content Dark">
    <p:bg>
      <p:bgPr>
        <a:solidFill>
          <a:srgbClr val="484848"/>
        </a:solidFill>
        <a:effectLst/>
      </p:bgPr>
    </p:bg>
    <p:spTree>
      <p:nvGrpSpPr>
        <p:cNvPr id="1" name=""/>
        <p:cNvGrpSpPr/>
        <p:nvPr/>
      </p:nvGrpSpPr>
      <p:grpSpPr>
        <a:xfrm>
          <a:off x="0" y="0"/>
          <a:ext cx="0" cy="0"/>
          <a:chOff x="0" y="0"/>
          <a:chExt cx="0" cy="0"/>
        </a:xfrm>
      </p:grpSpPr>
      <p:sp>
        <p:nvSpPr>
          <p:cNvPr id="2" name="Title 1"/>
          <p:cNvSpPr>
            <a:spLocks noGrp="1" noChangeArrowheads="1"/>
            <a:extLst>
              <a:ext uri="smNativeData">
                <pr:smNativeData xmlns:pr="smNativeData" xmlns="smNativeData" val="SMDATA_15_ceEna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NcAAADYRQAAkQUAABAAAAAmAAAACAAAAAGAAAAAAAAA"/>
              </a:ext>
            </a:extLst>
          </p:cNvSpPr>
          <p:nvPr>
            <p:ph type="title"/>
          </p:nvPr>
        </p:nvSpPr>
        <p:spPr>
          <a:xfrm>
            <a:off x="838200" y="136525"/>
            <a:ext cx="10515600" cy="768350"/>
          </a:xfrm>
        </p:spPr>
        <p:txBody>
          <a:bodyPr/>
          <a:lstStyle>
            <a:lvl1pPr algn="ctr">
              <a:defRPr lang="en-us" cap="none">
                <a:solidFill>
                  <a:schemeClr val="bg1"/>
                </a:solidFill>
              </a:defRPr>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a:defRPr lang="en-us"/>
            </a:pPr>
            <a:r>
              <a:t>Click to edit Master title style</a:t>
            </a:r>
          </a:p>
        </p:txBody>
      </p:sp>
      <p:sp>
        <p:nvSpPr>
          <p:cNvPr id="3" name="Date Placeholder 3"/>
          <p:cNvSpPr>
            <a:spLocks noGrp="1" noChangeArrowheads="1"/>
            <a:extLst>
              <a:ext uri="smNativeData">
                <pr:smNativeData xmlns:pr="smNativeData" xmlns="smNativeData" val="SMDATA_15_ceEna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IFgAAWSkAABAAAAAmAAAACAAAAACAAAAAAAAA"/>
              </a:ext>
            </a:extLst>
          </p:cNvSpPr>
          <p:nvPr>
            <p:ph type="dt" sz="half" idx="10"/>
          </p:nvPr>
        </p:nvSpPr>
        <p:spPr/>
        <p:txBody>
          <a:bodyPr/>
          <a:lstStyle>
            <a:lvl1pPr>
              <a:defRPr lang="en-us" cap="none">
                <a:solidFill>
                  <a:srgbClr val="D8D8D8"/>
                </a:solidFill>
              </a:defRPr>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a:defRPr lang="en-us"/>
            </a:pPr>
            <a:fld id="{171B3664-2AFA-4EC0-B4A3-DC9578ED4289}" type="datetime1">
              <a:t/>
            </a:fld>
          </a:p>
        </p:txBody>
      </p:sp>
      <p:sp>
        <p:nvSpPr>
          <p:cNvPr id="4" name="Footer Placeholder 4"/>
          <p:cNvSpPr>
            <a:spLocks noGrp="1" noChangeArrowheads="1"/>
            <a:extLst>
              <a:ext uri="smNativeData">
                <pr:smNativeData xmlns:pr="smNativeData" xmlns="smNativeData" val="SMDATA_15_ceEna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oMgAAWSkAABAAAAAmAAAACAAAAACAAAAAAAAA"/>
              </a:ext>
            </a:extLst>
          </p:cNvSpPr>
          <p:nvPr>
            <p:ph type="ftr" sz="quarter" idx="11"/>
          </p:nvPr>
        </p:nvSpPr>
        <p:spPr/>
        <p:txBody>
          <a:bodyPr/>
          <a:lstStyle>
            <a:lvl1pPr>
              <a:defRPr lang="en-us" cap="none">
                <a:solidFill>
                  <a:srgbClr val="D8D8D8"/>
                </a:solidFill>
              </a:defRPr>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a:defRPr lang="en-us"/>
            </a:pPr>
            <a:r>
              <a:t>Designed by PoweredTemplate</a:t>
            </a:r>
          </a:p>
        </p:txBody>
      </p:sp>
      <p:sp>
        <p:nvSpPr>
          <p:cNvPr id="5" name="Slide Number Placeholder 5"/>
          <p:cNvSpPr>
            <a:spLocks noGrp="1" noChangeArrowheads="1"/>
            <a:extLst>
              <a:ext uri="smNativeData">
                <pr:smNativeData xmlns:pr="smNativeData" xmlns="smNativeData" val="SMDATA_15_ceEna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YRQAAWSkAABAAAAAmAAAACAAAAACAAAAAAAAA"/>
              </a:ext>
            </a:extLst>
          </p:cNvSpPr>
          <p:nvPr>
            <p:ph type="sldNum" sz="quarter" idx="12"/>
          </p:nvPr>
        </p:nvSpPr>
        <p:spPr/>
        <p:txBody>
          <a:bodyPr/>
          <a:lstStyle>
            <a:lvl1pPr>
              <a:defRPr lang="en-us" cap="none">
                <a:solidFill>
                  <a:srgbClr val="D8D8D8"/>
                </a:solidFill>
              </a:defRPr>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a:defRPr lang="en-us"/>
            </a:pPr>
            <a:fld id="{171B4ABA-F4FA-4EBC-B4A3-02E904ED4257}" type="slidenum">
              <a:t/>
            </a:fld>
          </a:p>
        </p:txBody>
      </p:sp>
    </p:spTree>
  </p:cSld>
  <p:clrMapOvr>
    <a:masterClrMapping/>
  </p:clrMapOvr>
  <p:hf hdr="0" ftr="0"/>
</p:sldLayout>
</file>

<file path=ppt/slideLayouts/slideLayout4.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blank" preserve="1">
  <p:cSld name="Discount Code">
    <p:bg>
      <p:bgPr>
        <a:solidFill>
          <a:srgbClr val="7358B1"/>
        </a:solidFill>
        <a:effectLst/>
      </p:bgPr>
    </p:bg>
    <p:spTree>
      <p:nvGrpSpPr>
        <p:cNvPr id="1" name=""/>
        <p:cNvGrpSpPr/>
        <p:nvPr/>
      </p:nvGrpSpPr>
      <p:grpSpPr>
        <a:xfrm>
          <a:off x="0" y="0"/>
          <a:ext cx="0" cy="0"/>
          <a:chOff x="0" y="0"/>
          <a:chExt cx="0" cy="0"/>
        </a:xfrm>
      </p:grpSpPr>
      <p:pic>
        <p:nvPicPr>
          <p:cNvPr id="2" name="Picture 6"/>
          <p:cNvPicPr>
            <a:picLocks noChangeAspect="1"/>
            <a:extLst>
              <a:ext uri="smNativeData">
                <pr:smNativeData xmlns:pr="smNativeData" xmlns="smNativeData" val="SMDATA_17_ceEnahMAAAAlAAAAEQAAAC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QAAAAAAAAAAAAAAAAAAAAEAAAAAAAAAPAAAAPb////IAAAAZAAAAGQAAAAAAAAAy8vLADwAAAD2////yAAAAGQAAABkAAAAAAAAAAcAAAA4AAAAAAAAAAAAAAAAAAAA////AAAAAAAAAAAAAAAAAAAAAAC/CAAAVAwAAAAAAABkAAAAZAAAAAAAAAAjAAAABAAAAGQAAAAXAAAAFAAAAAAAAAAAAAAA/38AAP9/AAAAAAAACQAAAAQAAAAAAAAAHgAAAGgAAAAAAAAAAAAAAAAAAAAAAAAAAAAAABAnAAAQJwAAAAAAAAAAAAAAAAAAAAAAAAAAAAAAAAAAAAAAAAAAAABQAAAAAAAAAMDA/wAAAAAAAAAAAAAAAAAAAAAAZAAAAAAAAAB/f38ACgAAACIAAAAYAAAAAAAAAAAAAAAAAAAAAAAAAAAAAAAAAAAAJAAAACQAAAAAAAAABwAAAAAAAAAAAAAAAAAAAAAAAAAAAAAAAAAAAH9/fwAlAAAAWAAAAAAAAAAAAAAAAAAAAAAAAAAAAAAAAAAAAAAAAAAAAAAAAAAAAAAAAAAAAAAAPwAAAAAAAACghgEAAAAAAAAAAAAAAAAADAAAAAEAAAAAAAAAAAAAAAAAAAAfAAAAVAAAAERyxAX///8BAAAAAAAAAAAAAAAAAAAAAAAAAAAAAAAAAAAAAAAAAAAAAAACf39/AAAAAADLy8sAwMD/AH9/fwAAAAAAAAAAAAAAAAD///8AAAAAACEAAAAYAAAAFAAAAIEHAAAOAAAAAUsAAD4qAAAQAAAAJgAAAAgAAAD//////////w=="/>
              </a:ext>
            </a:extLst>
          </p:cNvPicPr>
          <p:nvPr/>
        </p:nvPicPr>
        <p:blipFill>
          <a:blip r:embed="rId2"/>
          <a:srcRect l="0" t="0" r="22390" b="31560"/>
          <a:stretch>
            <a:fillRect/>
          </a:stretch>
        </p:blipFill>
        <p:spPr>
          <a:xfrm>
            <a:off x="1219835" y="8890"/>
            <a:ext cx="10972800" cy="6858000"/>
          </a:xfrm>
          <a:prstGeom prst="rect">
            <a:avLst/>
          </a:prstGeom>
          <a:noFill/>
          <a:ln>
            <a:noFill/>
          </a:ln>
          <a:effectLst>
            <a:outerShdw blurRad="50800" dist="127159" dir="5571744" algn="tl">
              <a:srgbClr val="000000">
                <a:alpha val="40000"/>
              </a:srgbClr>
            </a:outerShdw>
          </a:effectLst>
        </p:spPr>
      </p:pic>
      <p:sp>
        <p:nvSpPr>
          <p:cNvPr id="3" name="TextBox 7"/>
          <p:cNvSpPr>
            <a:extLst>
              <a:ext uri="smNativeData">
                <pr:smNativeData xmlns:pr="smNativeData" xmlns="smNativeData" val="SMDATA_15_ceEnahMAAAAlAAAAZAAAAE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QAIAAPEDAABLHAAAmQ0AABAgAAAmAAAACAAAAP//////////"/>
              </a:ext>
            </a:extLst>
          </p:cNvSpPr>
          <p:nvPr/>
        </p:nvSpPr>
        <p:spPr>
          <a:xfrm>
            <a:off x="365760" y="640715"/>
            <a:ext cx="4233545" cy="1569720"/>
          </a:xfrm>
          <a:prstGeom prst="rect">
            <a:avLst/>
          </a:prstGeom>
          <a:noFill/>
          <a:ln>
            <a:noFill/>
          </a:ln>
          <a:effectLst/>
        </p:spPr>
        <p:txBody>
          <a:bodyPr vert="horz" wrap="none" lIns="91440" tIns="45720" rIns="91440" bIns="45720" numCol="1" spcCol="215900" anchor="t"/>
          <a:lstStyle/>
          <a:p>
            <a:pPr>
              <a:defRPr lang="en-us"/>
            </a:pPr>
            <a:r>
              <a:rPr lang="en-us" sz="9600" b="1" cap="none">
                <a:solidFill>
                  <a:schemeClr val="bg1"/>
                </a:solidFill>
              </a:rPr>
              <a:t>75,000+</a:t>
            </a:r>
            <a:endParaRPr lang="en-us" sz="9600" b="1" cap="none">
              <a:solidFill>
                <a:schemeClr val="bg1"/>
              </a:solidFill>
            </a:endParaRPr>
          </a:p>
        </p:txBody>
      </p:sp>
      <p:sp>
        <p:nvSpPr>
          <p:cNvPr id="4" name="TextBox 8"/>
          <p:cNvSpPr>
            <a:extLst>
              <a:ext uri="smNativeData">
                <pr:smNativeData xmlns:pr="smNativeData" xmlns="smNativeData" val="SMDATA_15_ceEnahMAAAAlAAAAZAAAAE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QAIAAKQMAAD1KQAA2REAABAgAAAmAAAACAAAAP//////////"/>
              </a:ext>
            </a:extLst>
          </p:cNvSpPr>
          <p:nvPr/>
        </p:nvSpPr>
        <p:spPr>
          <a:xfrm>
            <a:off x="365760" y="2054860"/>
            <a:ext cx="6454775" cy="846455"/>
          </a:xfrm>
          <a:prstGeom prst="rect">
            <a:avLst/>
          </a:prstGeom>
          <a:noFill/>
          <a:ln>
            <a:noFill/>
          </a:ln>
          <a:effectLst/>
        </p:spPr>
        <p:txBody>
          <a:bodyPr vert="horz" wrap="square" lIns="91440" tIns="45720" rIns="91440" bIns="45720" numCol="1" spcCol="215900" anchor="t"/>
          <a:lstStyle/>
          <a:p>
            <a:pPr>
              <a:defRPr lang="en-us"/>
            </a:pPr>
            <a:r>
              <a:rPr lang="en-us" sz="1650" b="1" cap="none">
                <a:solidFill>
                  <a:schemeClr val="bg1"/>
                </a:solidFill>
              </a:rPr>
              <a:t>Eye-Catching Preformatted Editable Templates. </a:t>
            </a:r>
            <a:endParaRPr lang="en-us" sz="1650" b="1" cap="none">
              <a:solidFill>
                <a:schemeClr val="bg1"/>
              </a:solidFill>
            </a:endParaRPr>
          </a:p>
          <a:p>
            <a:pPr>
              <a:defRPr lang="en-us"/>
            </a:pPr>
            <a:r>
              <a:rPr lang="en-us" sz="1600" b="1" cap="none">
                <a:solidFill>
                  <a:schemeClr val="bg1"/>
                </a:solidFill>
              </a:rPr>
              <a:t>Download and save hours of work!</a:t>
            </a:r>
            <a:endParaRPr lang="en-us" sz="1600" b="1" cap="none">
              <a:solidFill>
                <a:schemeClr val="bg1"/>
              </a:solidFill>
            </a:endParaRPr>
          </a:p>
          <a:p>
            <a:pPr>
              <a:defRPr lang="en-us"/>
            </a:pPr>
            <a:endParaRPr lang="en-us" sz="1650" b="1" cap="none">
              <a:solidFill>
                <a:schemeClr val="bg1"/>
              </a:solidFill>
            </a:endParaRPr>
          </a:p>
        </p:txBody>
      </p:sp>
      <p:sp>
        <p:nvSpPr>
          <p:cNvPr id="5" name="Rectangle: Rounded Corners 10">
            <a:hlinkClick r:id="rId3"/>
          </p:cNvPr>
          <p:cNvSpPr>
            <a:extLst>
              <a:ext uri="smNativeData">
                <pr:smNativeData xmlns:pr="smNativeData" xmlns="smNativeData" val="SMDATA_15_ceEnahMAAAAlAAAAZQAAAA0AAAAAkAAAAEgAAACQAAAASAAAAAAAAAABAAAAAAAAAAEAAABQAAAAhbacS3FV1T8AAAAAAAAAAA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BAAAAAAAAAP///wg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P///wF/f38A5+bmA8zMzADAwP8Af39/AAAAAAAAAAAAAAAAAAAAAAAAAAAAIQAAABgAAAAUAAAA2AIAAMQdAAAXDwAA3yEAABAAAAAmAAAACAAAAP//////////"/>
              </a:ext>
            </a:extLst>
          </p:cNvSpPr>
          <p:nvPr/>
        </p:nvSpPr>
        <p:spPr>
          <a:xfrm>
            <a:off x="462280" y="4838700"/>
            <a:ext cx="1990725" cy="667385"/>
          </a:xfrm>
          <a:prstGeom prst="roundRect">
            <a:avLst>
              <a:gd name="adj" fmla="val 16667"/>
            </a:avLst>
          </a:prstGeom>
          <a:noFill/>
          <a:ln w="9525" cap="flat" cmpd="sng" algn="ctr">
            <a:solidFill>
              <a:schemeClr val="bg1"/>
            </a:solidFill>
            <a:prstDash val="solid"/>
            <a:headEnd type="none"/>
            <a:tailEnd type="none"/>
          </a:ln>
          <a:effectLst/>
        </p:spPr>
        <p:txBody>
          <a:bodyPr vert="horz" wrap="square" lIns="91440" tIns="45720" rIns="91440" bIns="45720" numCol="1" spcCol="215900" anchor="ctr"/>
          <a:lstStyle/>
          <a:p>
            <a:pPr algn="ctr">
              <a:defRPr lang="en-us" cap="none">
                <a:solidFill>
                  <a:schemeClr val="accent1"/>
                </a:solidFill>
              </a:defRPr>
            </a:pPr>
            <a:r>
              <a:rPr lang="en-us" cap="none">
                <a:solidFill>
                  <a:schemeClr val="bg1"/>
                </a:solidFill>
              </a:rPr>
              <a:t>CODE: </a:t>
            </a:r>
            <a:r>
              <a:rPr lang="en-us" b="1" cap="none">
                <a:solidFill>
                  <a:schemeClr val="bg1"/>
                </a:solidFill>
              </a:rPr>
              <a:t>ANNUAL30</a:t>
            </a:r>
            <a:endParaRPr lang="en-us" b="1" cap="none">
              <a:solidFill>
                <a:schemeClr val="bg1"/>
              </a:solidFill>
            </a:endParaRPr>
          </a:p>
        </p:txBody>
      </p:sp>
      <p:sp>
        <p:nvSpPr>
          <p:cNvPr id="6" name="TextBox 11"/>
          <p:cNvSpPr>
            <a:extLst>
              <a:ext uri="smNativeData">
                <pr:smNativeData xmlns:pr="smNativeData" xmlns="smNativeData" val="SMDATA_15_ceEnahMAAAAlAAAAZAAAAE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QAIAALgYAABLHAAAWB8AABAgAAAmAAAACAAAAP//////////"/>
              </a:ext>
            </a:extLst>
          </p:cNvSpPr>
          <p:nvPr/>
        </p:nvSpPr>
        <p:spPr>
          <a:xfrm>
            <a:off x="365760" y="4018280"/>
            <a:ext cx="4233545" cy="1076960"/>
          </a:xfrm>
          <a:prstGeom prst="rect">
            <a:avLst/>
          </a:prstGeom>
          <a:noFill/>
          <a:ln>
            <a:noFill/>
          </a:ln>
          <a:effectLst/>
        </p:spPr>
        <p:txBody>
          <a:bodyPr vert="horz" wrap="square" lIns="91440" tIns="45720" rIns="91440" bIns="45720" numCol="1" spcCol="215900" anchor="t"/>
          <a:lstStyle/>
          <a:p>
            <a:pPr>
              <a:defRPr lang="en-us"/>
            </a:pPr>
            <a:r>
              <a:rPr lang="en-us" sz="2400" b="1" cap="none">
                <a:solidFill>
                  <a:schemeClr val="bg1"/>
                </a:solidFill>
              </a:rPr>
              <a:t>30% OFF</a:t>
            </a:r>
            <a:endParaRPr lang="en-us" sz="2400" b="1" cap="none">
              <a:solidFill>
                <a:schemeClr val="bg1"/>
              </a:solidFill>
            </a:endParaRPr>
          </a:p>
          <a:p>
            <a:pPr>
              <a:defRPr lang="en-us"/>
            </a:pPr>
            <a:r>
              <a:rPr lang="en-us" sz="2000" b="1" cap="none">
                <a:solidFill>
                  <a:schemeClr val="bg1"/>
                </a:solidFill>
              </a:rPr>
              <a:t>Your Annual Membership Plan</a:t>
            </a:r>
            <a:endParaRPr lang="en-us" sz="2000" b="1" cap="none">
              <a:solidFill>
                <a:schemeClr val="bg1"/>
              </a:solidFill>
            </a:endParaRPr>
          </a:p>
          <a:p>
            <a:pPr>
              <a:defRPr lang="en-us"/>
            </a:pPr>
            <a:endParaRPr lang="en-us" sz="2000" b="1" cap="none">
              <a:solidFill>
                <a:schemeClr val="bg1"/>
              </a:solidFill>
            </a:endParaRPr>
          </a:p>
        </p:txBody>
      </p:sp>
      <p:pic>
        <p:nvPicPr>
          <p:cNvPr id="7" name="Picture 12" descr="A picture containing drawing&#10;&#10;Description automatically generated">
            <a:hlinkClick r:id="rId4"/>
          </p:cNvPr>
          <p:cNvPicPr>
            <a:picLocks noChangeAspect="1"/>
            <a:extLst>
              <a:ext uri="smNativeData">
                <pr:smNativeData xmlns:pr="smNativeData" xmlns="smNativeData" val="SMDATA_17_ceEnahMAAAAlAAAAEQAAAC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ERyxAX///8BAAAAAAAAAAAAAAAAAAAAAAAAAAAAAAAAAAAAAAAAAAAAAAACf39/AOfm5gPMzMwAwMD/AH9/fwAAAAAAAAAAAAAAAAD///8AAAAAACEAAAAYAAAAFAAAANgCAADqAQAAMRgAAKkEAAAQAAAAJgAAAAgAAAD//////////w=="/>
              </a:ext>
            </a:extLst>
          </p:cNvPicPr>
          <p:nvPr/>
        </p:nvPicPr>
        <p:blipFill>
          <a:blip r:embed="rId5"/>
          <a:stretch>
            <a:fillRect/>
          </a:stretch>
        </p:blipFill>
        <p:spPr>
          <a:xfrm>
            <a:off x="462280" y="311150"/>
            <a:ext cx="3470275" cy="446405"/>
          </a:xfrm>
          <a:prstGeom prst="rect">
            <a:avLst/>
          </a:prstGeom>
          <a:noFill/>
          <a:ln>
            <a:noFill/>
          </a:ln>
          <a:effectLst/>
        </p:spPr>
      </p:pic>
      <p:sp>
        <p:nvSpPr>
          <p:cNvPr id="8" name="TextBox 13"/>
          <p:cNvSpPr>
            <a:extLst>
              <a:ext uri="smNativeData">
                <pr:smNativeData xmlns:pr="smNativeData" xmlns="smNativeData" val="SMDATA_15_ceEnahMAAAAlAAAAZAAAAE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QAIAAFciAAAZDgAACyQAABAgAAAmAAAACAAAAP//////////"/>
              </a:ext>
            </a:extLst>
          </p:cNvSpPr>
          <p:nvPr/>
        </p:nvSpPr>
        <p:spPr>
          <a:xfrm>
            <a:off x="365760" y="5582285"/>
            <a:ext cx="1925955" cy="276860"/>
          </a:xfrm>
          <a:prstGeom prst="rect">
            <a:avLst/>
          </a:prstGeom>
          <a:noFill/>
          <a:ln>
            <a:noFill/>
          </a:ln>
          <a:effectLst/>
        </p:spPr>
        <p:txBody>
          <a:bodyPr vert="horz" wrap="none" lIns="91440" tIns="45720" rIns="91440" bIns="45720" numCol="1" spcCol="215900" anchor="t"/>
          <a:lstStyle/>
          <a:p>
            <a:pPr>
              <a:defRPr lang="en-us"/>
            </a:pPr>
            <a:r>
              <a:rPr lang="en-us" sz="1200" cap="none">
                <a:solidFill>
                  <a:schemeClr val="bg1"/>
                </a:solidFill>
                <a:hlinkClick r:id="rId4"/>
              </a:rPr>
              <a:t>Visit PoweredTemplate.com</a:t>
            </a:r>
            <a:endParaRPr lang="en-us" sz="1200" cap="none">
              <a:solidFill>
                <a:schemeClr val="bg1"/>
              </a:solidFill>
            </a:endParaRPr>
          </a:p>
        </p:txBody>
      </p:sp>
      <p:sp>
        <p:nvSpPr>
          <p:cNvPr id="9" name="TextBox 15"/>
          <p:cNvSpPr>
            <a:extLst>
              <a:ext uri="smNativeData">
                <pr:smNativeData xmlns:pr="smNativeData" xmlns="smNativeData" val="SMDATA_15_ceEnahMAAAAlAAAAZAAAAE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cgMAAHgRAAD1KQAAJhcAABAgAAAmAAAACAAAAP//////////"/>
              </a:ext>
            </a:extLst>
          </p:cNvSpPr>
          <p:nvPr/>
        </p:nvSpPr>
        <p:spPr>
          <a:xfrm>
            <a:off x="560070" y="2839720"/>
            <a:ext cx="6260465" cy="923290"/>
          </a:xfrm>
          <a:prstGeom prst="rect">
            <a:avLst/>
          </a:prstGeom>
          <a:noFill/>
          <a:ln>
            <a:noFill/>
          </a:ln>
          <a:effectLst/>
        </p:spPr>
        <p:txBody>
          <a:bodyPr vert="horz" wrap="square" lIns="91440" tIns="45720" rIns="91440" bIns="45720" numCol="1" spcCol="215900" anchor="t"/>
          <a:lstStyle/>
          <a:p>
            <a:pPr marL="285750" indent="-285750">
              <a:buFont typeface="Arial" pitchFamily="2" charset="0"/>
              <a:buChar char="•"/>
              <a:defRPr lang="en-us"/>
            </a:pPr>
            <a:r>
              <a:rPr lang="en-us" b="1" cap="none">
                <a:solidFill>
                  <a:schemeClr val="bg1"/>
                </a:solidFill>
              </a:rPr>
              <a:t>Easy to use</a:t>
            </a:r>
            <a:endParaRPr lang="en-us" b="1" cap="none">
              <a:solidFill>
                <a:schemeClr val="bg1"/>
              </a:solidFill>
            </a:endParaRPr>
          </a:p>
          <a:p>
            <a:pPr marL="285750" indent="-285750">
              <a:buFont typeface="Arial" pitchFamily="2" charset="0"/>
              <a:buChar char="•"/>
              <a:defRPr lang="en-us"/>
            </a:pPr>
            <a:r>
              <a:rPr lang="en-us" b="1" cap="none">
                <a:solidFill>
                  <a:schemeClr val="bg1"/>
                </a:solidFill>
              </a:rPr>
              <a:t>Fully customizable</a:t>
            </a:r>
            <a:endParaRPr lang="en-us" b="1" cap="none">
              <a:solidFill>
                <a:schemeClr val="bg1"/>
              </a:solidFill>
            </a:endParaRPr>
          </a:p>
          <a:p>
            <a:pPr marL="285750" indent="-285750">
              <a:buFont typeface="Arial" pitchFamily="2" charset="0"/>
              <a:buChar char="•"/>
              <a:defRPr lang="en-us"/>
            </a:pPr>
            <a:r>
              <a:rPr lang="en-us" b="1" cap="none">
                <a:solidFill>
                  <a:schemeClr val="bg1"/>
                </a:solidFill>
              </a:rPr>
              <a:t>Cutting edge designs</a:t>
            </a:r>
            <a:endParaRPr lang="en-us" b="1" cap="none">
              <a:solidFill>
                <a:schemeClr val="bg1"/>
              </a:solidFill>
            </a:endParaRPr>
          </a:p>
        </p:txBody>
      </p:sp>
    </p:spTree>
  </p:cSld>
  <p:clrMapOvr>
    <a:masterClrMapping/>
  </p:clrMapOvr>
</p:sldLayout>
</file>

<file path=ppt/slideLayouts/slideLayout5.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blank" preserve="1">
  <p:cSld name="Change Shape Colors">
    <p:spTree>
      <p:nvGrpSpPr>
        <p:cNvPr id="1" name=""/>
        <p:cNvGrpSpPr/>
        <p:nvPr/>
      </p:nvGrpSpPr>
      <p:grpSpPr>
        <a:xfrm>
          <a:off x="0" y="0"/>
          <a:ext cx="0" cy="0"/>
          <a:chOff x="0" y="0"/>
          <a:chExt cx="0" cy="0"/>
        </a:xfrm>
      </p:grpSpPr>
      <p:sp>
        <p:nvSpPr>
          <p:cNvPr id="2" name="Date Placeholder 2"/>
          <p:cNvSpPr>
            <a:spLocks noGrp="1" noChangeArrowheads="1"/>
            <a:extLst>
              <a:ext uri="smNativeData">
                <pr:smNativeData xmlns:pr="smNativeData" xmlns="smNativeData" val="SMDATA_15_ceEna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IFgAAWSkAABAAAAAmAAAACAAAAAAAAAAAAAAA"/>
              </a:ext>
            </a:extLst>
          </p:cNvSpPr>
          <p:nvPr>
            <p:ph type="dt" sz="half" idx="10"/>
          </p:nvPr>
        </p:nvSpPr>
        <p:spPr/>
        <p:txBody>
          <a:bodyPr/>
          <a:lstStyle/>
          <a:p>
            <a:pPr>
              <a:defRPr lang="en-us"/>
            </a:pPr>
            <a:fld id="{171B2C44-0AFA-4EDA-B4A3-FC8F62ED42A9}" type="datetime1">
              <a:t/>
            </a:fld>
          </a:p>
        </p:txBody>
      </p:sp>
      <p:sp>
        <p:nvSpPr>
          <p:cNvPr id="3" name="Footer Placeholder 3"/>
          <p:cNvSpPr>
            <a:spLocks noGrp="1" noChangeArrowheads="1"/>
            <a:extLst>
              <a:ext uri="smNativeData">
                <pr:smNativeData xmlns:pr="smNativeData" xmlns="smNativeData" val="SMDATA_15_ceEna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oMgAAWSkAABAAAAAmAAAACAAAAAAAAAAAAAAA"/>
              </a:ext>
            </a:extLst>
          </p:cNvSpPr>
          <p:nvPr>
            <p:ph type="ftr" sz="quarter" idx="11"/>
          </p:nvPr>
        </p:nvSpPr>
        <p:spPr/>
        <p:txBody>
          <a:bodyPr/>
          <a:lstStyle/>
          <a:p>
            <a:pPr>
              <a:defRPr lang="en-us"/>
            </a:pPr>
            <a:r>
              <a:t>Designed by PoweredTemplate</a:t>
            </a:r>
          </a:p>
        </p:txBody>
      </p:sp>
      <p:sp>
        <p:nvSpPr>
          <p:cNvPr id="4" name="Slide Number Placeholder 4"/>
          <p:cNvSpPr>
            <a:spLocks noGrp="1" noChangeArrowheads="1"/>
            <a:extLst>
              <a:ext uri="smNativeData">
                <pr:smNativeData xmlns:pr="smNativeData" xmlns="smNativeData" val="SMDATA_15_ceEna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YRQAAWSkAABAAAAAmAAAACAAAAAAAAAAAAAAA"/>
              </a:ext>
            </a:extLst>
          </p:cNvSpPr>
          <p:nvPr>
            <p:ph type="sldNum" sz="quarter" idx="12"/>
          </p:nvPr>
        </p:nvSpPr>
        <p:spPr/>
        <p:txBody>
          <a:bodyPr/>
          <a:lstStyle/>
          <a:p>
            <a:pPr>
              <a:defRPr lang="en-us"/>
            </a:pPr>
            <a:fld id="{171B416A-24FA-4EB7-B4A3-D2E20FED4287}" type="slidenum">
              <a:t/>
            </a:fld>
          </a:p>
        </p:txBody>
      </p:sp>
      <p:pic>
        <p:nvPicPr>
          <p:cNvPr id="5" name="Picture 6"/>
          <p:cNvPicPr>
            <a:picLocks noChangeAspect="1"/>
            <a:extLst>
              <a:ext uri="smNativeData">
                <pr:smNativeData xmlns:pr="smNativeData" xmlns="smNativeData" val="SMDATA_17_ceEnahMAAAAlAAAAEQAAAC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ERyxAX///8BAAAAAAAAAAAAAAAAAAAAAAAAAAAAAAAAAAAAAAAAAAAAAAACf39/AOfm5gPMzMwAwMD/AH9/fwAAAAAAAAAAAAAAAAD///8AAAAAACEAAAAYAAAAFAAAACwdAACYEQAAjCwAAJchAAAQAAAAJgAAAAgAAAD//////////w=="/>
              </a:ext>
            </a:extLst>
          </p:cNvPicPr>
          <p:nvPr/>
        </p:nvPicPr>
        <p:blipFill>
          <a:blip r:embed="rId2"/>
          <a:stretch>
            <a:fillRect/>
          </a:stretch>
        </p:blipFill>
        <p:spPr>
          <a:xfrm>
            <a:off x="4742180" y="2860040"/>
            <a:ext cx="2499360" cy="2600325"/>
          </a:xfrm>
          <a:prstGeom prst="rect">
            <a:avLst/>
          </a:prstGeom>
          <a:noFill/>
          <a:ln>
            <a:noFill/>
          </a:ln>
          <a:effectLst/>
        </p:spPr>
      </p:pic>
      <p:pic>
        <p:nvPicPr>
          <p:cNvPr id="6" name="Picture 7" descr="A screenshot of a cell phone&#10;&#10;Description automatically generated"/>
          <p:cNvPicPr>
            <a:picLocks noChangeAspect="1"/>
            <a:extLst>
              <a:ext uri="smNativeData">
                <pr:smNativeData xmlns:pr="smNativeData" xmlns="smNativeData" val="SMDATA_17_ceEnahMAAAAlAAAAEQAAAC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BERiB4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ERyxAX///8BAAAAAAAAAAAAAAAAAAAAAAAAAAAAAAAAAAAAAAAAAAAAAAACf39/AOfm5gPMzMwAwMD/AH9/fwAAAAAAAAAAAAAAAAD///8AAAAAACEAAAAYAAAAFAAAACEsAAByDgAAKjQAAA0lAAAQAAAAJgAAAAgAAAD//////////w=="/>
              </a:ext>
            </a:extLst>
          </p:cNvPicPr>
          <p:nvPr/>
        </p:nvPicPr>
        <p:blipFill>
          <a:blip r:embed="rId3"/>
          <a:stretch>
            <a:fillRect/>
          </a:stretch>
        </p:blipFill>
        <p:spPr>
          <a:xfrm>
            <a:off x="7173595" y="2348230"/>
            <a:ext cx="1306195" cy="3674745"/>
          </a:xfrm>
          <a:prstGeom prst="rect">
            <a:avLst/>
          </a:prstGeom>
          <a:noFill/>
          <a:ln>
            <a:noFill/>
          </a:ln>
          <a:effectLst/>
        </p:spPr>
      </p:pic>
      <p:pic>
        <p:nvPicPr>
          <p:cNvPr id="7" name="Picture 8" descr="A screenshot of a cell phone&#10;&#10;Description automatically generated"/>
          <p:cNvPicPr>
            <a:picLocks noChangeAspect="1"/>
            <a:extLst>
              <a:ext uri="smNativeData">
                <pr:smNativeData xmlns:pr="smNativeData" xmlns="smNativeData" val="SMDATA_17_ceEnahMAAAAlAAAAEQAAAC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ERyxAX///8BAAAAAAAAAAAAAAAAAAAAAAAAAAAAAAAAAAAAAAAAAAAAAAACf39/AOfm5gPMzMwAwMD/AH9/fwAAAAAAAAAAAAAAAAD///8AAAAAACEAAAAYAAAAFAAAABc1AADuDgAAE0UAAA0lAAAQAAAAJgAAAAgAAAD//////////w=="/>
              </a:ext>
            </a:extLst>
          </p:cNvPicPr>
          <p:nvPr/>
        </p:nvPicPr>
        <p:blipFill>
          <a:blip r:embed="rId4"/>
          <a:stretch>
            <a:fillRect/>
          </a:stretch>
        </p:blipFill>
        <p:spPr>
          <a:xfrm>
            <a:off x="8630285" y="2426970"/>
            <a:ext cx="2598420" cy="3596005"/>
          </a:xfrm>
          <a:prstGeom prst="rect">
            <a:avLst/>
          </a:prstGeom>
          <a:noFill/>
          <a:ln>
            <a:noFill/>
          </a:ln>
          <a:effectLst/>
        </p:spPr>
      </p:pic>
      <p:sp>
        <p:nvSpPr>
          <p:cNvPr id="8" name="Content Placeholder 2"/>
          <p:cNvSpPr>
            <a:extLst>
              <a:ext uri="smNativeData">
                <pr:smNativeData xmlns:pr="smNativeData" xmlns="smNativeData" val="SMDATA_15_ceEnahMAAAAlAAAAZA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B/f38A5+bmA8zMzADAwP8Af39/AAAAAAAAAAAAAAAAAAAAAAAAAAAAIQAAABgAAAAUAAAAKAUAAJoPAADWGgAANSYAABAAAAAmAAAACAAAAP//////////"/>
              </a:ext>
            </a:extLst>
          </p:cNvSpPr>
          <p:nvPr/>
        </p:nvSpPr>
        <p:spPr>
          <a:xfrm>
            <a:off x="838200" y="2536190"/>
            <a:ext cx="3524250" cy="3674745"/>
          </a:xfrm>
          <a:prstGeom prst="rect">
            <a:avLst/>
          </a:prstGeom>
          <a:noFill/>
          <a:ln>
            <a:noFill/>
          </a:ln>
          <a:effectLst/>
        </p:spPr>
        <p:txBody>
          <a:bodyPr vert="horz" wrap="square" lIns="91440" tIns="45720" rIns="91440" bIns="45720" numCol="1" spcCol="215900" anchor="t"/>
          <a:lstStyle>
            <a:lvl1pPr marL="228600" indent="-228600" algn="l" defTabSz="914400">
              <a:lnSpc>
                <a:spcPct val="90000"/>
              </a:lnSpc>
              <a:spcBef>
                <a:spcPts val="1000"/>
              </a:spcBef>
              <a:buFont typeface="Arial" pitchFamily="2" charset="0"/>
              <a:buChar char="•"/>
              <a:tabLst/>
              <a:defRPr lang="en-us" sz="2800" kern="1" cap="none">
                <a:solidFill>
                  <a:schemeClr val="tx1"/>
                </a:solidFill>
                <a:latin typeface="Calibri" pitchFamily="2" charset="0"/>
                <a:ea typeface="Calibri" pitchFamily="2" charset="0"/>
                <a:cs typeface="Calibri" pitchFamily="2" charset="0"/>
              </a:defRPr>
            </a:lvl1pPr>
            <a:lvl2pPr marL="685800" indent="-228600" algn="l" defTabSz="914400">
              <a:lnSpc>
                <a:spcPct val="90000"/>
              </a:lnSpc>
              <a:spcBef>
                <a:spcPts val="500"/>
              </a:spcBef>
              <a:buFont typeface="Arial" pitchFamily="2" charset="0"/>
              <a:buChar char="•"/>
              <a:tabLst/>
              <a:defRPr lang="en-us" sz="2400" kern="1" cap="none">
                <a:solidFill>
                  <a:schemeClr val="tx1"/>
                </a:solidFill>
                <a:latin typeface="Calibri" pitchFamily="2" charset="0"/>
                <a:ea typeface="Calibri" pitchFamily="2" charset="0"/>
                <a:cs typeface="Calibri" pitchFamily="2" charset="0"/>
              </a:defRPr>
            </a:lvl2pPr>
            <a:lvl3pPr marL="1143000" indent="-228600" algn="l" defTabSz="914400">
              <a:lnSpc>
                <a:spcPct val="90000"/>
              </a:lnSpc>
              <a:spcBef>
                <a:spcPts val="500"/>
              </a:spcBef>
              <a:buFont typeface="Arial" pitchFamily="2" charset="0"/>
              <a:buChar char="•"/>
              <a:tabLst/>
              <a:defRPr lang="en-us" sz="2000" kern="1" cap="none">
                <a:solidFill>
                  <a:schemeClr val="tx1"/>
                </a:solidFill>
                <a:latin typeface="Calibri" pitchFamily="2" charset="0"/>
                <a:ea typeface="Calibri" pitchFamily="2" charset="0"/>
                <a:cs typeface="Calibri" pitchFamily="2" charset="0"/>
              </a:defRPr>
            </a:lvl3pPr>
            <a:lvl4pPr marL="1600200" indent="-228600" algn="l" defTabSz="914400">
              <a:lnSpc>
                <a:spcPct val="90000"/>
              </a:lnSpc>
              <a:spcBef>
                <a:spcPts val="500"/>
              </a:spcBef>
              <a:buFont typeface="Arial" pitchFamily="2" charset="0"/>
              <a:buChar char="•"/>
              <a:tabLst/>
              <a:defRPr lang="en-us" sz="1800" kern="1" cap="none">
                <a:solidFill>
                  <a:schemeClr val="tx1"/>
                </a:solidFill>
                <a:latin typeface="Calibri" pitchFamily="2" charset="0"/>
                <a:ea typeface="Calibri" pitchFamily="2" charset="0"/>
                <a:cs typeface="Calibri" pitchFamily="2" charset="0"/>
              </a:defRPr>
            </a:lvl4pPr>
            <a:lvl5pPr marL="2057400" indent="-228600" algn="l" defTabSz="914400">
              <a:lnSpc>
                <a:spcPct val="90000"/>
              </a:lnSpc>
              <a:spcBef>
                <a:spcPts val="500"/>
              </a:spcBef>
              <a:buFont typeface="Arial" pitchFamily="2" charset="0"/>
              <a:buChar char="•"/>
              <a:tabLst/>
              <a:defRPr lang="en-us" sz="1800" kern="1" cap="none">
                <a:solidFill>
                  <a:schemeClr val="tx1"/>
                </a:solidFill>
                <a:latin typeface="Calibri" pitchFamily="2" charset="0"/>
                <a:ea typeface="Calibri" pitchFamily="2" charset="0"/>
                <a:cs typeface="Calibri" pitchFamily="2" charset="0"/>
              </a:defRPr>
            </a:lvl5pPr>
            <a:lvl6pPr marL="2514600" indent="-228600" algn="l" defTabSz="914400">
              <a:lnSpc>
                <a:spcPct val="90000"/>
              </a:lnSpc>
              <a:spcBef>
                <a:spcPts val="500"/>
              </a:spcBef>
              <a:buFont typeface="Arial" pitchFamily="2" charset="0"/>
              <a:buChar char="•"/>
              <a:tabLst/>
              <a:defRPr lang="en-us" sz="1800" kern="1" cap="none">
                <a:solidFill>
                  <a:schemeClr val="tx1"/>
                </a:solidFill>
                <a:latin typeface="Calibri" pitchFamily="2" charset="0"/>
                <a:ea typeface="Calibri" pitchFamily="2" charset="0"/>
                <a:cs typeface="Calibri" pitchFamily="2" charset="0"/>
              </a:defRPr>
            </a:lvl6pPr>
            <a:lvl7pPr marL="2971800" indent="-228600" algn="l" defTabSz="914400">
              <a:lnSpc>
                <a:spcPct val="90000"/>
              </a:lnSpc>
              <a:spcBef>
                <a:spcPts val="500"/>
              </a:spcBef>
              <a:buFont typeface="Arial" pitchFamily="2" charset="0"/>
              <a:buChar char="•"/>
              <a:tabLst/>
              <a:defRPr lang="en-us" sz="1800" kern="1" cap="none">
                <a:solidFill>
                  <a:schemeClr val="tx1"/>
                </a:solidFill>
                <a:latin typeface="Calibri" pitchFamily="2" charset="0"/>
                <a:ea typeface="Calibri" pitchFamily="2" charset="0"/>
                <a:cs typeface="Calibri" pitchFamily="2" charset="0"/>
              </a:defRPr>
            </a:lvl7pPr>
            <a:lvl8pPr marL="3429000" indent="-228600" algn="l" defTabSz="914400">
              <a:lnSpc>
                <a:spcPct val="90000"/>
              </a:lnSpc>
              <a:spcBef>
                <a:spcPts val="500"/>
              </a:spcBef>
              <a:buFont typeface="Arial" pitchFamily="2" charset="0"/>
              <a:buChar char="•"/>
              <a:tabLst/>
              <a:defRPr lang="en-us" sz="1800" kern="1" cap="none">
                <a:solidFill>
                  <a:schemeClr val="tx1"/>
                </a:solidFill>
                <a:latin typeface="Calibri" pitchFamily="2" charset="0"/>
                <a:ea typeface="Calibri" pitchFamily="2" charset="0"/>
                <a:cs typeface="Calibri" pitchFamily="2" charset="0"/>
              </a:defRPr>
            </a:lvl8pPr>
            <a:lvl9pPr marL="3886200" indent="-228600" algn="l" defTabSz="914400">
              <a:lnSpc>
                <a:spcPct val="90000"/>
              </a:lnSpc>
              <a:spcBef>
                <a:spcPts val="500"/>
              </a:spcBef>
              <a:buFont typeface="Arial" pitchFamily="2" charset="0"/>
              <a:buChar char="•"/>
              <a:tabLst/>
              <a:defRPr lang="en-us" sz="1800" kern="1" cap="none">
                <a:solidFill>
                  <a:schemeClr val="tx1"/>
                </a:solidFill>
                <a:latin typeface="Calibri" pitchFamily="2" charset="0"/>
                <a:ea typeface="Calibri" pitchFamily="2" charset="0"/>
                <a:cs typeface="Calibri" pitchFamily="2" charset="0"/>
              </a:defRPr>
            </a:lvl9pPr>
          </a:lstStyle>
          <a:p>
            <a:pPr marL="457200" indent="-457200">
              <a:buFontTx/>
              <a:buAutoNum type="arabicPeriod"/>
              <a:defRPr lang="en-us"/>
            </a:pPr>
            <a:r>
              <a:rPr lang="en-us" sz="2000" cap="none">
                <a:solidFill>
                  <a:srgbClr val="7F7F7F"/>
                </a:solidFill>
              </a:rPr>
              <a:t>Right click on the object you want to change the color of.</a:t>
            </a:r>
            <a:endParaRPr lang="en-us" sz="2000" cap="none">
              <a:solidFill>
                <a:srgbClr val="7F7F7F"/>
              </a:solidFill>
            </a:endParaRPr>
          </a:p>
          <a:p>
            <a:pPr marL="457200" indent="-457200">
              <a:buFontTx/>
              <a:buAutoNum type="arabicPeriod"/>
              <a:defRPr lang="en-us"/>
            </a:pPr>
            <a:r>
              <a:rPr lang="en-us" sz="2000" cap="none">
                <a:solidFill>
                  <a:srgbClr val="7F7F7F"/>
                </a:solidFill>
              </a:rPr>
              <a:t>Choose Format Shape in drop down menu.</a:t>
            </a:r>
            <a:endParaRPr lang="en-us" sz="2000" cap="none">
              <a:solidFill>
                <a:srgbClr val="7F7F7F"/>
              </a:solidFill>
            </a:endParaRPr>
          </a:p>
          <a:p>
            <a:pPr marL="457200" indent="-457200">
              <a:buFontTx/>
              <a:buAutoNum type="arabicPeriod"/>
              <a:defRPr lang="en-us"/>
            </a:pPr>
            <a:r>
              <a:rPr lang="en-us" sz="2000" cap="none">
                <a:solidFill>
                  <a:srgbClr val="7F7F7F"/>
                </a:solidFill>
              </a:rPr>
              <a:t>Choose "Fill" in the Format Shape box then "Solid" or "Gradient" depending on the appearance of the object. Click on a new color.</a:t>
            </a:r>
            <a:endParaRPr lang="en-us" sz="2000" cap="none">
              <a:solidFill>
                <a:srgbClr val="7F7F7F"/>
              </a:solidFill>
            </a:endParaRPr>
          </a:p>
        </p:txBody>
      </p:sp>
      <p:sp>
        <p:nvSpPr>
          <p:cNvPr id="9" name="TextBox 12"/>
          <p:cNvSpPr>
            <a:extLst>
              <a:ext uri="smNativeData">
                <pr:smNativeData xmlns:pr="smNativeData" xmlns="smNativeData" val="SMDATA_15_ceEnahMAAAAlAAAAZAAAAE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HIAYTo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KAUAAN8HAADYRQAAjQ0AABAgAAAmAAAACAAAAP//////////"/>
              </a:ext>
            </a:extLst>
          </p:cNvSpPr>
          <p:nvPr/>
        </p:nvSpPr>
        <p:spPr>
          <a:xfrm>
            <a:off x="838200" y="1279525"/>
            <a:ext cx="10515600" cy="923290"/>
          </a:xfrm>
          <a:prstGeom prst="rect">
            <a:avLst/>
          </a:prstGeom>
          <a:noFill/>
          <a:ln>
            <a:noFill/>
          </a:ln>
          <a:effectLst/>
        </p:spPr>
        <p:txBody>
          <a:bodyPr vert="horz" wrap="square" lIns="91440" tIns="45720" rIns="91440" bIns="45720" numCol="1" spcCol="215900" anchor="t"/>
          <a:lstStyle/>
          <a:p>
            <a:pPr marL="0" indent="0">
              <a:buNone/>
              <a:defRPr lang="en-us"/>
            </a:pPr>
            <a:r>
              <a:rPr lang="en-us" cap="none">
                <a:solidFill>
                  <a:srgbClr val="7F7F7F"/>
                </a:solidFill>
              </a:rPr>
              <a:t>The presentation template has been made in PowerPoint itself, and you can edit the color of any component in this graphics. To change the color, just right click the object to highlight it, and then follow the instructions. In case on any questions please visit our </a:t>
            </a:r>
            <a:r>
              <a:rPr lang="en-us" cap="none">
                <a:solidFill>
                  <a:srgbClr val="0070C0"/>
                </a:solidFill>
                <a:hlinkClick r:id="rId5"/>
              </a:rPr>
              <a:t>Help Center</a:t>
            </a:r>
            <a:r>
              <a:rPr lang="en-us" cap="none">
                <a:solidFill>
                  <a:srgbClr val="7F7F7F"/>
                </a:solidFill>
              </a:rPr>
              <a:t>.</a:t>
            </a:r>
            <a:endParaRPr lang="en-us" cap="none">
              <a:solidFill>
                <a:srgbClr val="7F7F7F"/>
              </a:solidFill>
            </a:endParaRPr>
          </a:p>
        </p:txBody>
      </p:sp>
      <p:sp>
        <p:nvSpPr>
          <p:cNvPr id="10" name="TextBox 14"/>
          <p:cNvSpPr>
            <a:extLst>
              <a:ext uri="smNativeData">
                <pr:smNativeData xmlns:pr="smNativeData" xmlns="smNativeData" val="SMDATA_15_ceEnahMAAAAlAAAAZAAAAE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FRodW0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KAUAANcAAAATRQAAkwUAABAgAAAmAAAACAAAAP//////////"/>
              </a:ext>
            </a:extLst>
          </p:cNvSpPr>
          <p:nvPr/>
        </p:nvSpPr>
        <p:spPr>
          <a:xfrm>
            <a:off x="838200" y="136525"/>
            <a:ext cx="10390505" cy="769620"/>
          </a:xfrm>
          <a:prstGeom prst="rect">
            <a:avLst/>
          </a:prstGeom>
          <a:noFill/>
          <a:ln>
            <a:noFill/>
          </a:ln>
          <a:effectLst/>
        </p:spPr>
        <p:txBody>
          <a:bodyPr vert="horz" wrap="square" lIns="91440" tIns="45720" rIns="91440" bIns="45720" numCol="1" spcCol="215900" anchor="t"/>
          <a:lstStyle/>
          <a:p>
            <a:pPr>
              <a:defRPr lang="en-us"/>
            </a:pPr>
            <a:r>
              <a:rPr lang="en-us" sz="4400" cap="none">
                <a:solidFill>
                  <a:srgbClr val="7F7F7F"/>
                </a:solidFill>
                <a:latin typeface="Calibri Light (Headings)" pitchFamily="0" charset="0"/>
                <a:ea typeface="Calibri" pitchFamily="2" charset="0"/>
                <a:cs typeface="Calibri" pitchFamily="2" charset="0"/>
              </a:rPr>
              <a:t>Change Shapes Colors</a:t>
            </a:r>
            <a:endParaRPr lang="en-us" sz="4400" cap="none">
              <a:solidFill>
                <a:srgbClr val="7F7F7F"/>
              </a:solidFill>
              <a:latin typeface="Calibri Light (Headings)" pitchFamily="0" charset="0"/>
              <a:ea typeface="Calibri" pitchFamily="2" charset="0"/>
              <a:cs typeface="Calibri" pitchFamily="2" charset="0"/>
            </a:endParaRPr>
          </a:p>
        </p:txBody>
      </p:sp>
    </p:spTree>
  </p:cSld>
  <p:clrMapOvr>
    <a:masterClrMapping/>
  </p:clrMapOvr>
  <p:hf hdr="0" ftr="0"/>
</p:sldLayout>
</file>

<file path=ppt/slideLayouts/slideLayout6.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blank" preserve="1">
  <p:cSld name="Edit Shapes">
    <p:spTree>
      <p:nvGrpSpPr>
        <p:cNvPr id="1" name=""/>
        <p:cNvGrpSpPr/>
        <p:nvPr/>
      </p:nvGrpSpPr>
      <p:grpSpPr>
        <a:xfrm>
          <a:off x="0" y="0"/>
          <a:ext cx="0" cy="0"/>
          <a:chOff x="0" y="0"/>
          <a:chExt cx="0" cy="0"/>
        </a:xfrm>
      </p:grpSpPr>
      <p:sp>
        <p:nvSpPr>
          <p:cNvPr id="2" name="Date Placeholder 2"/>
          <p:cNvSpPr>
            <a:spLocks noGrp="1" noChangeArrowheads="1"/>
            <a:extLst>
              <a:ext uri="smNativeData">
                <pr:smNativeData xmlns:pr="smNativeData" xmlns="smNativeData" val="SMDATA_15_ceEna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IFgAAWSkAABAAAAAmAAAACAAAAAAAAAAAAAAA"/>
              </a:ext>
            </a:extLst>
          </p:cNvSpPr>
          <p:nvPr>
            <p:ph type="dt" sz="half" idx="10"/>
          </p:nvPr>
        </p:nvSpPr>
        <p:spPr/>
        <p:txBody>
          <a:bodyPr/>
          <a:lstStyle/>
          <a:p>
            <a:pPr>
              <a:defRPr lang="en-us"/>
            </a:pPr>
            <a:fld id="{171B4593-DDFA-4EB3-B4A3-2BE60BED427E}" type="datetime1">
              <a:t/>
            </a:fld>
          </a:p>
        </p:txBody>
      </p:sp>
      <p:sp>
        <p:nvSpPr>
          <p:cNvPr id="3" name="Footer Placeholder 3"/>
          <p:cNvSpPr>
            <a:spLocks noGrp="1" noChangeArrowheads="1"/>
            <a:extLst>
              <a:ext uri="smNativeData">
                <pr:smNativeData xmlns:pr="smNativeData" xmlns="smNativeData" val="SMDATA_15_ceEna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oMgAAWSkAABAAAAAmAAAACAAAAAAAAAAAAAAA"/>
              </a:ext>
            </a:extLst>
          </p:cNvSpPr>
          <p:nvPr>
            <p:ph type="ftr" sz="quarter" idx="11"/>
          </p:nvPr>
        </p:nvSpPr>
        <p:spPr/>
        <p:txBody>
          <a:bodyPr/>
          <a:lstStyle/>
          <a:p>
            <a:pPr>
              <a:defRPr lang="en-us"/>
            </a:pPr>
            <a:r>
              <a:t>Designed by PoweredTemplate</a:t>
            </a:r>
          </a:p>
        </p:txBody>
      </p:sp>
      <p:sp>
        <p:nvSpPr>
          <p:cNvPr id="4" name="Slide Number Placeholder 4"/>
          <p:cNvSpPr>
            <a:spLocks noGrp="1" noChangeArrowheads="1"/>
            <a:extLst>
              <a:ext uri="smNativeData">
                <pr:smNativeData xmlns:pr="smNativeData" xmlns="smNativeData" val="SMDATA_15_ceEna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YRQAAWSkAABAAAAAmAAAACAAAAAAAAAAAAAAA"/>
              </a:ext>
            </a:extLst>
          </p:cNvSpPr>
          <p:nvPr>
            <p:ph type="sldNum" sz="quarter" idx="12"/>
          </p:nvPr>
        </p:nvSpPr>
        <p:spPr/>
        <p:txBody>
          <a:bodyPr/>
          <a:lstStyle/>
          <a:p>
            <a:pPr>
              <a:defRPr lang="en-us"/>
            </a:pPr>
            <a:fld id="{171B3415-5BFA-4EC2-B4A3-AD977AED42F8}" type="slidenum">
              <a:t/>
            </a:fld>
          </a:p>
        </p:txBody>
      </p:sp>
      <p:pic>
        <p:nvPicPr>
          <p:cNvPr id="5" name="Picture 6"/>
          <p:cNvPicPr>
            <a:picLocks noChangeAspect="1"/>
            <a:extLst>
              <a:ext uri="smNativeData">
                <pr:smNativeData xmlns:pr="smNativeData" xmlns="smNativeData" val="SMDATA_17_ceEnahMAAAAlAAAAEQAAAC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AgeG1s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ERyxAX///8BAAAAAAAAAAAAAAAAAAAAAAAAAAAAAAAAAAAAAAAAAAAAAAACf39/AOfm5gPMzMwAwMD/AH9/fwAAAAAAAAAAAAAAAAD///8AAAAAACEAAAAYAAAAFAAAANg5AACREQAAOEkAAJAhAAAQAAAAJgAAAAgAAAD//////////w=="/>
              </a:ext>
            </a:extLst>
          </p:cNvPicPr>
          <p:nvPr/>
        </p:nvPicPr>
        <p:blipFill>
          <a:blip r:embed="rId2"/>
          <a:stretch>
            <a:fillRect/>
          </a:stretch>
        </p:blipFill>
        <p:spPr>
          <a:xfrm>
            <a:off x="9403080" y="2855595"/>
            <a:ext cx="2499360" cy="2600325"/>
          </a:xfrm>
          <a:prstGeom prst="rect">
            <a:avLst/>
          </a:prstGeom>
          <a:noFill/>
          <a:ln>
            <a:noFill/>
          </a:ln>
          <a:effectLst/>
        </p:spPr>
      </p:pic>
      <p:pic>
        <p:nvPicPr>
          <p:cNvPr id="6" name="Picture 7" descr="A close up of a sign&#10;&#10;Description automatically generated"/>
          <p:cNvPicPr>
            <a:picLocks noChangeAspect="1"/>
            <a:extLst>
              <a:ext uri="smNativeData">
                <pr:smNativeData xmlns:pr="smNativeData" xmlns="smNativeData" val="SMDATA_17_ceEnahMAAAAlAAAAEQAAAC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ERyxAX///8BAAAAAAAAAAAAAAAAAAAAAAAAAAAAAAAAAAAAAAAAAAAAAAACf39/AOfm5gPMzMwAwMD/AH9/fwAAAAAAAAAAAAAAAAD///8AAAAAACEAAAAYAAAAFAAAALEbAAA2EQAAESsAADUhAAAQAAAAJgAAAAgAAAD//////////w=="/>
              </a:ext>
            </a:extLst>
          </p:cNvPicPr>
          <p:nvPr/>
        </p:nvPicPr>
        <p:blipFill>
          <a:blip r:embed="rId3"/>
          <a:stretch>
            <a:fillRect/>
          </a:stretch>
        </p:blipFill>
        <p:spPr>
          <a:xfrm>
            <a:off x="4501515" y="2797810"/>
            <a:ext cx="2499360" cy="2600325"/>
          </a:xfrm>
          <a:prstGeom prst="rect">
            <a:avLst/>
          </a:prstGeom>
          <a:noFill/>
          <a:ln>
            <a:noFill/>
          </a:ln>
          <a:effectLst/>
        </p:spPr>
      </p:pic>
      <p:pic>
        <p:nvPicPr>
          <p:cNvPr id="7" name="Picture 8" descr="A screenshot of a cell phone&#10;&#10;Description automatically generated"/>
          <p:cNvPicPr>
            <a:picLocks noChangeAspect="1"/>
            <a:extLst>
              <a:ext uri="smNativeData">
                <pr:smNativeData xmlns:pr="smNativeData" xmlns="smNativeData" val="SMDATA_17_ceEnahMAAAAlAAAAEQAAAC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ERyxAX///8BAAAAAAAAAAAAAAAAAAAAAAAAAAAAAAAAAAAAAAAAAAAAAAACf39/AOfm5gPMzMwAwMD/AH9/fwAAAAAAAAAAAAAAAAD///8AAAAAACEAAAAYAAAAFAAAAHgqAADXCwAA2DkAAOokAAAQAAAAJgAAAAgAAAD//////////w=="/>
              </a:ext>
            </a:extLst>
          </p:cNvPicPr>
          <p:nvPr/>
        </p:nvPicPr>
        <p:blipFill>
          <a:blip r:embed="rId4"/>
          <a:stretch>
            <a:fillRect/>
          </a:stretch>
        </p:blipFill>
        <p:spPr>
          <a:xfrm>
            <a:off x="6903720" y="1924685"/>
            <a:ext cx="2499360" cy="4076065"/>
          </a:xfrm>
          <a:prstGeom prst="rect">
            <a:avLst/>
          </a:prstGeom>
          <a:noFill/>
          <a:ln>
            <a:noFill/>
          </a:ln>
          <a:effectLst/>
        </p:spPr>
      </p:pic>
      <p:sp>
        <p:nvSpPr>
          <p:cNvPr id="8" name="Content Placeholder 2"/>
          <p:cNvSpPr>
            <a:extLst>
              <a:ext uri="smNativeData">
                <pr:smNativeData xmlns:pr="smNativeData" xmlns="smNativeData" val="SMDATA_15_ceEnahMAAAAlAAAAZA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B/f38A5+bmA8zMzADAwP8Af39/AAAAAAAAAAAAAAAAAAAAAAAAAAAAIQAAABgAAAAUAAAAKAUAAJoPAADWGgAANSYAABAAAAAmAAAACAAAAP//////////"/>
              </a:ext>
            </a:extLst>
          </p:cNvSpPr>
          <p:nvPr/>
        </p:nvSpPr>
        <p:spPr>
          <a:xfrm>
            <a:off x="838200" y="2536190"/>
            <a:ext cx="3524250" cy="3674745"/>
          </a:xfrm>
          <a:prstGeom prst="rect">
            <a:avLst/>
          </a:prstGeom>
          <a:noFill/>
          <a:ln>
            <a:noFill/>
          </a:ln>
          <a:effectLst/>
        </p:spPr>
        <p:txBody>
          <a:bodyPr vert="horz" wrap="square" lIns="91440" tIns="45720" rIns="91440" bIns="45720" numCol="1" spcCol="215900" anchor="t"/>
          <a:lstStyle>
            <a:lvl1pPr marL="228600" indent="-228600" algn="l" defTabSz="914400">
              <a:lnSpc>
                <a:spcPct val="90000"/>
              </a:lnSpc>
              <a:spcBef>
                <a:spcPts val="1000"/>
              </a:spcBef>
              <a:buFont typeface="Arial" pitchFamily="2" charset="0"/>
              <a:buChar char="•"/>
              <a:tabLst/>
              <a:defRPr lang="en-us" sz="2800" kern="1" cap="none">
                <a:solidFill>
                  <a:schemeClr val="tx1"/>
                </a:solidFill>
                <a:latin typeface="Calibri" pitchFamily="2" charset="0"/>
                <a:ea typeface="Calibri" pitchFamily="2" charset="0"/>
                <a:cs typeface="Calibri" pitchFamily="2" charset="0"/>
              </a:defRPr>
            </a:lvl1pPr>
            <a:lvl2pPr marL="685800" indent="-228600" algn="l" defTabSz="914400">
              <a:lnSpc>
                <a:spcPct val="90000"/>
              </a:lnSpc>
              <a:spcBef>
                <a:spcPts val="500"/>
              </a:spcBef>
              <a:buFont typeface="Arial" pitchFamily="2" charset="0"/>
              <a:buChar char="•"/>
              <a:tabLst/>
              <a:defRPr lang="en-us" sz="2400" kern="1" cap="none">
                <a:solidFill>
                  <a:schemeClr val="tx1"/>
                </a:solidFill>
                <a:latin typeface="Calibri" pitchFamily="2" charset="0"/>
                <a:ea typeface="Calibri" pitchFamily="2" charset="0"/>
                <a:cs typeface="Calibri" pitchFamily="2" charset="0"/>
              </a:defRPr>
            </a:lvl2pPr>
            <a:lvl3pPr marL="1143000" indent="-228600" algn="l" defTabSz="914400">
              <a:lnSpc>
                <a:spcPct val="90000"/>
              </a:lnSpc>
              <a:spcBef>
                <a:spcPts val="500"/>
              </a:spcBef>
              <a:buFont typeface="Arial" pitchFamily="2" charset="0"/>
              <a:buChar char="•"/>
              <a:tabLst/>
              <a:defRPr lang="en-us" sz="2000" kern="1" cap="none">
                <a:solidFill>
                  <a:schemeClr val="tx1"/>
                </a:solidFill>
                <a:latin typeface="Calibri" pitchFamily="2" charset="0"/>
                <a:ea typeface="Calibri" pitchFamily="2" charset="0"/>
                <a:cs typeface="Calibri" pitchFamily="2" charset="0"/>
              </a:defRPr>
            </a:lvl3pPr>
            <a:lvl4pPr marL="1600200" indent="-228600" algn="l" defTabSz="914400">
              <a:lnSpc>
                <a:spcPct val="90000"/>
              </a:lnSpc>
              <a:spcBef>
                <a:spcPts val="500"/>
              </a:spcBef>
              <a:buFont typeface="Arial" pitchFamily="2" charset="0"/>
              <a:buChar char="•"/>
              <a:tabLst/>
              <a:defRPr lang="en-us" sz="1800" kern="1" cap="none">
                <a:solidFill>
                  <a:schemeClr val="tx1"/>
                </a:solidFill>
                <a:latin typeface="Calibri" pitchFamily="2" charset="0"/>
                <a:ea typeface="Calibri" pitchFamily="2" charset="0"/>
                <a:cs typeface="Calibri" pitchFamily="2" charset="0"/>
              </a:defRPr>
            </a:lvl4pPr>
            <a:lvl5pPr marL="2057400" indent="-228600" algn="l" defTabSz="914400">
              <a:lnSpc>
                <a:spcPct val="90000"/>
              </a:lnSpc>
              <a:spcBef>
                <a:spcPts val="500"/>
              </a:spcBef>
              <a:buFont typeface="Arial" pitchFamily="2" charset="0"/>
              <a:buChar char="•"/>
              <a:tabLst/>
              <a:defRPr lang="en-us" sz="1800" kern="1" cap="none">
                <a:solidFill>
                  <a:schemeClr val="tx1"/>
                </a:solidFill>
                <a:latin typeface="Calibri" pitchFamily="2" charset="0"/>
                <a:ea typeface="Calibri" pitchFamily="2" charset="0"/>
                <a:cs typeface="Calibri" pitchFamily="2" charset="0"/>
              </a:defRPr>
            </a:lvl5pPr>
            <a:lvl6pPr marL="2514600" indent="-228600" algn="l" defTabSz="914400">
              <a:lnSpc>
                <a:spcPct val="90000"/>
              </a:lnSpc>
              <a:spcBef>
                <a:spcPts val="500"/>
              </a:spcBef>
              <a:buFont typeface="Arial" pitchFamily="2" charset="0"/>
              <a:buChar char="•"/>
              <a:tabLst/>
              <a:defRPr lang="en-us" sz="1800" kern="1" cap="none">
                <a:solidFill>
                  <a:schemeClr val="tx1"/>
                </a:solidFill>
                <a:latin typeface="Calibri" pitchFamily="2" charset="0"/>
                <a:ea typeface="Calibri" pitchFamily="2" charset="0"/>
                <a:cs typeface="Calibri" pitchFamily="2" charset="0"/>
              </a:defRPr>
            </a:lvl6pPr>
            <a:lvl7pPr marL="2971800" indent="-228600" algn="l" defTabSz="914400">
              <a:lnSpc>
                <a:spcPct val="90000"/>
              </a:lnSpc>
              <a:spcBef>
                <a:spcPts val="500"/>
              </a:spcBef>
              <a:buFont typeface="Arial" pitchFamily="2" charset="0"/>
              <a:buChar char="•"/>
              <a:tabLst/>
              <a:defRPr lang="en-us" sz="1800" kern="1" cap="none">
                <a:solidFill>
                  <a:schemeClr val="tx1"/>
                </a:solidFill>
                <a:latin typeface="Calibri" pitchFamily="2" charset="0"/>
                <a:ea typeface="Calibri" pitchFamily="2" charset="0"/>
                <a:cs typeface="Calibri" pitchFamily="2" charset="0"/>
              </a:defRPr>
            </a:lvl7pPr>
            <a:lvl8pPr marL="3429000" indent="-228600" algn="l" defTabSz="914400">
              <a:lnSpc>
                <a:spcPct val="90000"/>
              </a:lnSpc>
              <a:spcBef>
                <a:spcPts val="500"/>
              </a:spcBef>
              <a:buFont typeface="Arial" pitchFamily="2" charset="0"/>
              <a:buChar char="•"/>
              <a:tabLst/>
              <a:defRPr lang="en-us" sz="1800" kern="1" cap="none">
                <a:solidFill>
                  <a:schemeClr val="tx1"/>
                </a:solidFill>
                <a:latin typeface="Calibri" pitchFamily="2" charset="0"/>
                <a:ea typeface="Calibri" pitchFamily="2" charset="0"/>
                <a:cs typeface="Calibri" pitchFamily="2" charset="0"/>
              </a:defRPr>
            </a:lvl8pPr>
            <a:lvl9pPr marL="3886200" indent="-228600" algn="l" defTabSz="914400">
              <a:lnSpc>
                <a:spcPct val="90000"/>
              </a:lnSpc>
              <a:spcBef>
                <a:spcPts val="500"/>
              </a:spcBef>
              <a:buFont typeface="Arial" pitchFamily="2" charset="0"/>
              <a:buChar char="•"/>
              <a:tabLst/>
              <a:defRPr lang="en-us" sz="1800" kern="1" cap="none">
                <a:solidFill>
                  <a:schemeClr val="tx1"/>
                </a:solidFill>
                <a:latin typeface="Calibri" pitchFamily="2" charset="0"/>
                <a:ea typeface="Calibri" pitchFamily="2" charset="0"/>
                <a:cs typeface="Calibri" pitchFamily="2" charset="0"/>
              </a:defRPr>
            </a:lvl9pPr>
          </a:lstStyle>
          <a:p>
            <a:pPr marL="457200" indent="-457200">
              <a:buFontTx/>
              <a:buAutoNum type="arabicPeriod"/>
              <a:defRPr lang="en-us"/>
            </a:pPr>
            <a:r>
              <a:rPr lang="en-us" sz="2000" cap="none">
                <a:solidFill>
                  <a:srgbClr val="7F7F7F"/>
                </a:solidFill>
              </a:rPr>
              <a:t>Right click on the object you want to modify.</a:t>
            </a:r>
            <a:endParaRPr lang="en-us" sz="2000" cap="none">
              <a:solidFill>
                <a:srgbClr val="7F7F7F"/>
              </a:solidFill>
            </a:endParaRPr>
          </a:p>
          <a:p>
            <a:pPr marL="457200" indent="-457200">
              <a:buFontTx/>
              <a:buAutoNum type="arabicPeriod"/>
              <a:defRPr lang="en-us"/>
            </a:pPr>
            <a:r>
              <a:rPr lang="en-us" sz="2000" cap="none">
                <a:solidFill>
                  <a:srgbClr val="7F7F7F"/>
                </a:solidFill>
              </a:rPr>
              <a:t>Choose Group -&gt; Ungroup in drop down menu.</a:t>
            </a:r>
            <a:endParaRPr lang="en-us" sz="2000" cap="none">
              <a:solidFill>
                <a:srgbClr val="7F7F7F"/>
              </a:solidFill>
            </a:endParaRPr>
          </a:p>
          <a:p>
            <a:pPr marL="457200" indent="-457200">
              <a:buFontTx/>
              <a:buAutoNum type="arabicPeriod"/>
              <a:defRPr lang="en-us"/>
            </a:pPr>
            <a:r>
              <a:rPr lang="en-us" sz="2000" cap="none">
                <a:solidFill>
                  <a:srgbClr val="7F7F7F"/>
                </a:solidFill>
              </a:rPr>
              <a:t>Click on any objects and shapes to start working with it.</a:t>
            </a:r>
            <a:endParaRPr lang="en-us" sz="2000" cap="none">
              <a:solidFill>
                <a:srgbClr val="7F7F7F"/>
              </a:solidFill>
            </a:endParaRPr>
          </a:p>
          <a:p>
            <a:pPr marL="457200" indent="-457200">
              <a:buFontTx/>
              <a:buAutoNum type="arabicPeriod"/>
              <a:defRPr lang="en-us"/>
            </a:pPr>
            <a:r>
              <a:rPr lang="en-us" sz="2000" cap="none">
                <a:solidFill>
                  <a:srgbClr val="7F7F7F"/>
                </a:solidFill>
              </a:rPr>
              <a:t>When you finish, select all objects you want to group and choose Group -&gt; Group in the menu.</a:t>
            </a:r>
            <a:endParaRPr lang="en-us" sz="2000" cap="none">
              <a:solidFill>
                <a:srgbClr val="7F7F7F"/>
              </a:solidFill>
            </a:endParaRPr>
          </a:p>
        </p:txBody>
      </p:sp>
      <p:sp>
        <p:nvSpPr>
          <p:cNvPr id="9" name="TextBox 12"/>
          <p:cNvSpPr>
            <a:extLst>
              <a:ext uri="smNativeData">
                <pr:smNativeData xmlns:pr="smNativeData" xmlns="smNativeData" val="SMDATA_15_ceEnahMAAAAlAAAAZAAAAE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KAUAABwIAADYRQAAFgwAABAgAAAmAAAACAAAAP//////////"/>
              </a:ext>
            </a:extLst>
          </p:cNvSpPr>
          <p:nvPr/>
        </p:nvSpPr>
        <p:spPr>
          <a:xfrm>
            <a:off x="838200" y="1318260"/>
            <a:ext cx="10515600" cy="646430"/>
          </a:xfrm>
          <a:prstGeom prst="rect">
            <a:avLst/>
          </a:prstGeom>
          <a:noFill/>
          <a:ln>
            <a:noFill/>
          </a:ln>
          <a:effectLst/>
        </p:spPr>
        <p:txBody>
          <a:bodyPr vert="horz" wrap="square" lIns="91440" tIns="45720" rIns="91440" bIns="45720" numCol="1" spcCol="215900" anchor="t"/>
          <a:lstStyle/>
          <a:p>
            <a:pPr marL="0" indent="0">
              <a:buNone/>
              <a:defRPr lang="en-us"/>
            </a:pPr>
            <a:r>
              <a:rPr lang="en-us" cap="none">
                <a:solidFill>
                  <a:srgbClr val="7F7F7F"/>
                </a:solidFill>
              </a:rPr>
              <a:t>You may edit the shapes in your own: remove, resize, rotate, and copy to a new slide. In case on any questions please visit our </a:t>
            </a:r>
            <a:r>
              <a:rPr lang="en-us" cap="none">
                <a:solidFill>
                  <a:srgbClr val="0070C0"/>
                </a:solidFill>
                <a:hlinkClick r:id="rId5"/>
              </a:rPr>
              <a:t>Help Center</a:t>
            </a:r>
            <a:r>
              <a:rPr lang="en-us" cap="none">
                <a:solidFill>
                  <a:srgbClr val="7F7F7F"/>
                </a:solidFill>
              </a:rPr>
              <a:t>.</a:t>
            </a:r>
            <a:endParaRPr lang="en-us" cap="none">
              <a:solidFill>
                <a:srgbClr val="7F7F7F"/>
              </a:solidFill>
            </a:endParaRPr>
          </a:p>
        </p:txBody>
      </p:sp>
      <p:sp>
        <p:nvSpPr>
          <p:cNvPr id="10" name="TextBox 13"/>
          <p:cNvSpPr>
            <a:extLst>
              <a:ext uri="smNativeData">
                <pr:smNativeData xmlns:pr="smNativeData" xmlns="smNativeData" val="SMDATA_15_ceEnahMAAAAlAAAAZAAAAE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KAUAANcAAAATRQAAkwUAABAgAAAmAAAACAAAAP//////////"/>
              </a:ext>
            </a:extLst>
          </p:cNvSpPr>
          <p:nvPr/>
        </p:nvSpPr>
        <p:spPr>
          <a:xfrm>
            <a:off x="838200" y="136525"/>
            <a:ext cx="10390505" cy="769620"/>
          </a:xfrm>
          <a:prstGeom prst="rect">
            <a:avLst/>
          </a:prstGeom>
          <a:noFill/>
          <a:ln>
            <a:noFill/>
          </a:ln>
          <a:effectLst/>
        </p:spPr>
        <p:txBody>
          <a:bodyPr vert="horz" wrap="square" lIns="91440" tIns="45720" rIns="91440" bIns="45720" numCol="1" spcCol="215900" anchor="t"/>
          <a:lstStyle/>
          <a:p>
            <a:pPr>
              <a:defRPr lang="en-us"/>
            </a:pPr>
            <a:r>
              <a:rPr lang="en-us" sz="4400" cap="none">
                <a:solidFill>
                  <a:srgbClr val="7F7F7F"/>
                </a:solidFill>
                <a:latin typeface="Calibri Light (Headings)" pitchFamily="0" charset="0"/>
                <a:ea typeface="Calibri" pitchFamily="2" charset="0"/>
                <a:cs typeface="Calibri" pitchFamily="2" charset="0"/>
              </a:rPr>
              <a:t>Edit Shapes</a:t>
            </a:r>
            <a:endParaRPr lang="en-us" sz="4400" cap="none">
              <a:solidFill>
                <a:srgbClr val="7F7F7F"/>
              </a:solidFill>
              <a:latin typeface="Calibri Light (Headings)" pitchFamily="0" charset="0"/>
              <a:ea typeface="Calibri" pitchFamily="2" charset="0"/>
              <a:cs typeface="Calibri" pitchFamily="2" charset="0"/>
            </a:endParaRPr>
          </a:p>
        </p:txBody>
      </p:sp>
    </p:spTree>
  </p:cSld>
  <p:clrMapOvr>
    <a:masterClrMapping/>
  </p:clrMapOvr>
  <p:hf hdr="0" ftr="0"/>
</p:sldLayout>
</file>

<file path=ppt/slideLayouts/slideLayout7.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blank" preserve="1">
  <p:cSld name="Attribution">
    <p:spTree>
      <p:nvGrpSpPr>
        <p:cNvPr id="1" name=""/>
        <p:cNvGrpSpPr/>
        <p:nvPr/>
      </p:nvGrpSpPr>
      <p:grpSpPr>
        <a:xfrm>
          <a:off x="0" y="0"/>
          <a:ext cx="0" cy="0"/>
          <a:chOff x="0" y="0"/>
          <a:chExt cx="0" cy="0"/>
        </a:xfrm>
      </p:grpSpPr>
      <p:sp>
        <p:nvSpPr>
          <p:cNvPr id="2" name="Date Placeholder 2"/>
          <p:cNvSpPr>
            <a:spLocks noGrp="1" noChangeArrowheads="1"/>
            <a:extLst>
              <a:ext uri="smNativeData">
                <pr:smNativeData xmlns:pr="smNativeData" xmlns="smNativeData" val="SMDATA_15_ceEna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IFgAAWSkAABAAAAAmAAAACAAAAAAAAAAAAAAA"/>
              </a:ext>
            </a:extLst>
          </p:cNvSpPr>
          <p:nvPr>
            <p:ph type="dt" sz="half" idx="10"/>
          </p:nvPr>
        </p:nvSpPr>
        <p:spPr/>
        <p:txBody>
          <a:bodyPr/>
          <a:lstStyle/>
          <a:p>
            <a:pPr>
              <a:defRPr lang="en-us"/>
            </a:pPr>
            <a:fld id="{171B7182-CCFA-4E87-B4A3-3AD23FED426F}" type="datetime1">
              <a:t/>
            </a:fld>
          </a:p>
        </p:txBody>
      </p:sp>
      <p:sp>
        <p:nvSpPr>
          <p:cNvPr id="3" name="Footer Placeholder 3"/>
          <p:cNvSpPr>
            <a:spLocks noGrp="1" noChangeArrowheads="1"/>
            <a:extLst>
              <a:ext uri="smNativeData">
                <pr:smNativeData xmlns:pr="smNativeData" xmlns="smNativeData" val="SMDATA_15_ceEna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oMgAAWSkAABAAAAAmAAAACAAAAAAAAAAAAAAA"/>
              </a:ext>
            </a:extLst>
          </p:cNvSpPr>
          <p:nvPr>
            <p:ph type="ftr" sz="quarter" idx="11"/>
          </p:nvPr>
        </p:nvSpPr>
        <p:spPr/>
        <p:txBody>
          <a:bodyPr/>
          <a:lstStyle/>
          <a:p>
            <a:pPr>
              <a:defRPr lang="en-us"/>
            </a:pPr>
            <a:r>
              <a:t>Designed by PoweredTemplate</a:t>
            </a:r>
          </a:p>
        </p:txBody>
      </p:sp>
      <p:sp>
        <p:nvSpPr>
          <p:cNvPr id="4" name="Slide Number Placeholder 4"/>
          <p:cNvSpPr>
            <a:spLocks noGrp="1" noChangeArrowheads="1"/>
            <a:extLst>
              <a:ext uri="smNativeData">
                <pr:smNativeData xmlns:pr="smNativeData" xmlns="smNativeData" val="SMDATA_15_ceEna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YRQAAWSkAABAAAAAmAAAACAAAAAAAAAAAAAAA"/>
              </a:ext>
            </a:extLst>
          </p:cNvSpPr>
          <p:nvPr>
            <p:ph type="sldNum" sz="quarter" idx="12"/>
          </p:nvPr>
        </p:nvSpPr>
        <p:spPr/>
        <p:txBody>
          <a:bodyPr/>
          <a:lstStyle/>
          <a:p>
            <a:pPr>
              <a:defRPr lang="en-us"/>
            </a:pPr>
            <a:fld id="{171B556A-24FA-4EA3-B4A3-D2F61BED4287}" type="slidenum">
              <a:t/>
            </a:fld>
          </a:p>
        </p:txBody>
      </p:sp>
      <p:sp>
        <p:nvSpPr>
          <p:cNvPr id="5" name="TextBox 14"/>
          <p:cNvSpPr>
            <a:extLst>
              <a:ext uri="smNativeData">
                <pr:smNativeData xmlns:pr="smNativeData" xmlns="smNativeData" val="SMDATA_15_ceEnahMAAAAlAAAAZAAAAE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KAUAAAUKAADYRQAAKyAAABAgAAAmAAAACAAAAP//////////"/>
              </a:ext>
            </a:extLst>
          </p:cNvSpPr>
          <p:nvPr/>
        </p:nvSpPr>
        <p:spPr>
          <a:xfrm>
            <a:off x="838200" y="1628775"/>
            <a:ext cx="10515600" cy="3600450"/>
          </a:xfrm>
          <a:prstGeom prst="rect">
            <a:avLst/>
          </a:prstGeom>
          <a:noFill/>
          <a:ln>
            <a:noFill/>
          </a:ln>
          <a:effectLst/>
        </p:spPr>
        <p:txBody>
          <a:bodyPr vert="horz" wrap="square" lIns="91440" tIns="45720" rIns="91440" bIns="45720" numCol="1" spcCol="215900" anchor="t"/>
          <a:lstStyle/>
          <a:p>
            <a:pPr marL="285750" indent="-285750">
              <a:buFont typeface="Arial" pitchFamily="2" charset="0"/>
              <a:buChar char="•"/>
              <a:defRPr lang="en-us"/>
            </a:pPr>
            <a:r>
              <a:rPr lang="en-us" cap="none">
                <a:solidFill>
                  <a:srgbClr val="7F7F7F"/>
                </a:solidFill>
              </a:rPr>
              <a:t>Creating content takes a lot of time and effort, but all we need from you is only an attribution link. </a:t>
            </a:r>
            <a:endParaRPr lang="en-us" cap="none">
              <a:solidFill>
                <a:srgbClr val="7F7F7F"/>
              </a:solidFill>
            </a:endParaRPr>
          </a:p>
          <a:p>
            <a:pPr marL="285750" indent="-285750">
              <a:buFont typeface="Arial" pitchFamily="2" charset="0"/>
              <a:buChar char="•"/>
              <a:defRPr lang="en-us"/>
            </a:pPr>
            <a:endParaRPr lang="en-us" cap="none">
              <a:solidFill>
                <a:srgbClr val="7F7F7F"/>
              </a:solidFill>
            </a:endParaRPr>
          </a:p>
          <a:p>
            <a:pPr marL="285750" indent="-285750">
              <a:buFont typeface="Arial" pitchFamily="2" charset="0"/>
              <a:buChar char="•"/>
              <a:defRPr lang="en-us"/>
            </a:pPr>
            <a:r>
              <a:rPr lang="en-us" cap="none">
                <a:solidFill>
                  <a:srgbClr val="7F7F7F"/>
                </a:solidFill>
              </a:rPr>
              <a:t>In order to use the content or a part of it, you must attribute it to PoweredTemplate.com, so we will be able to continue creating new free graphic resources every day.</a:t>
            </a:r>
            <a:endParaRPr lang="en-us" cap="none">
              <a:solidFill>
                <a:srgbClr val="7F7F7F"/>
              </a:solidFill>
            </a:endParaRPr>
          </a:p>
          <a:p>
            <a:pPr marL="285750" indent="-285750">
              <a:buFont typeface="Arial" pitchFamily="2" charset="0"/>
              <a:buChar char="•"/>
              <a:defRPr lang="en-us"/>
            </a:pPr>
            <a:endParaRPr lang="en-us" cap="none">
              <a:solidFill>
                <a:srgbClr val="7F7F7F"/>
              </a:solidFill>
            </a:endParaRPr>
          </a:p>
          <a:p>
            <a:pPr marL="285750" indent="-285750">
              <a:buFont typeface="Arial" pitchFamily="2" charset="0"/>
              <a:buChar char="•"/>
              <a:defRPr lang="en-us"/>
            </a:pPr>
            <a:r>
              <a:rPr lang="en-us" cap="none">
                <a:solidFill>
                  <a:srgbClr val="7F7F7F"/>
                </a:solidFill>
              </a:rPr>
              <a:t>Insert the attribution line in the credits section of your presentation. If it’s not possible, place it wherever it's visible on a web page, close to where you’re using the resource. </a:t>
            </a:r>
            <a:endParaRPr lang="en-us" cap="none">
              <a:solidFill>
                <a:srgbClr val="7F7F7F"/>
              </a:solidFill>
            </a:endParaRPr>
          </a:p>
          <a:p>
            <a:pPr marL="285750" indent="-285750">
              <a:buFont typeface="Arial" pitchFamily="2" charset="0"/>
              <a:buChar char="•"/>
              <a:defRPr lang="en-us"/>
            </a:pPr>
            <a:endParaRPr lang="en-us" cap="none">
              <a:solidFill>
                <a:srgbClr val="7F7F7F"/>
              </a:solidFill>
            </a:endParaRPr>
          </a:p>
          <a:p>
            <a:pPr marL="285750" indent="-285750">
              <a:buFont typeface="Arial" pitchFamily="2" charset="0"/>
              <a:buChar char="•"/>
              <a:defRPr lang="en-us"/>
            </a:pPr>
            <a:r>
              <a:rPr lang="en-us" b="1" cap="none">
                <a:solidFill>
                  <a:srgbClr val="7F7F7F"/>
                </a:solidFill>
              </a:rPr>
              <a:t>For example: </a:t>
            </a:r>
            <a:r>
              <a:rPr lang="en-us" cap="none">
                <a:solidFill>
                  <a:srgbClr val="7F7F7F"/>
                </a:solidFill>
              </a:rPr>
              <a:t>This presentation has been designed using resources from </a:t>
            </a:r>
            <a:r>
              <a:rPr lang="en-us" u="sng" cap="none">
                <a:solidFill>
                  <a:srgbClr val="0070C0"/>
                </a:solidFill>
                <a:hlinkClick r:id="rId2"/>
              </a:rPr>
              <a:t>PoweredTemplate.com</a:t>
            </a:r>
            <a:endParaRPr lang="en-us" u="sng" cap="none">
              <a:solidFill>
                <a:srgbClr val="0070C0"/>
              </a:solidFill>
            </a:endParaRPr>
          </a:p>
          <a:p>
            <a:pPr marL="285750" indent="-285750">
              <a:buFont typeface="Arial" pitchFamily="2" charset="0"/>
              <a:buChar char="•"/>
              <a:defRPr lang="en-us"/>
            </a:pPr>
            <a:endParaRPr lang="en-us" cap="none">
              <a:solidFill>
                <a:srgbClr val="7F7F7F"/>
              </a:solidFill>
            </a:endParaRPr>
          </a:p>
          <a:p>
            <a:pPr marL="285750" indent="-285750">
              <a:buFont typeface="Arial" pitchFamily="2" charset="0"/>
              <a:buChar char="•"/>
              <a:defRPr lang="en-us"/>
            </a:pPr>
            <a:r>
              <a:rPr lang="en-us" b="1" cap="none">
                <a:solidFill>
                  <a:srgbClr val="7F7F7F"/>
                </a:solidFill>
              </a:rPr>
              <a:t>Don’t want to credit the author?</a:t>
            </a:r>
            <a:r>
              <a:rPr lang="en-us" cap="none">
                <a:solidFill>
                  <a:srgbClr val="7F7F7F"/>
                </a:solidFill>
              </a:rPr>
              <a:t> </a:t>
            </a:r>
            <a:r>
              <a:rPr lang="en-us" cap="none">
                <a:solidFill>
                  <a:srgbClr val="0070C0"/>
                </a:solidFill>
                <a:hlinkClick r:id="rId3"/>
              </a:rPr>
              <a:t>Go Premium </a:t>
            </a:r>
            <a:r>
              <a:rPr lang="en-us" cap="none">
                <a:solidFill>
                  <a:srgbClr val="7F7F7F"/>
                </a:solidFill>
              </a:rPr>
              <a:t>and use over 75,000 templates with no attribution!</a:t>
            </a:r>
            <a:endParaRPr lang="en-us" cap="none">
              <a:solidFill>
                <a:srgbClr val="7F7F7F"/>
              </a:solidFill>
            </a:endParaRPr>
          </a:p>
          <a:p>
            <a:pPr marL="0" indent="0">
              <a:buNone/>
              <a:defRPr lang="en-us"/>
            </a:pPr>
            <a:endParaRPr lang="en-us" b="1" cap="none">
              <a:solidFill>
                <a:srgbClr val="7F7F7F"/>
              </a:solidFill>
            </a:endParaRPr>
          </a:p>
          <a:p>
            <a:pPr marL="0" indent="0">
              <a:buNone/>
              <a:defRPr lang="en-us"/>
            </a:pPr>
            <a:r>
              <a:rPr lang="en-us" sz="1200" cap="none">
                <a:solidFill>
                  <a:srgbClr val="7F7F7F"/>
                </a:solidFill>
              </a:rPr>
              <a:t>* This only applies if you downloaded this content as an unsubscribed (free) user.</a:t>
            </a:r>
            <a:endParaRPr lang="en-us" sz="1200" cap="none">
              <a:solidFill>
                <a:srgbClr val="7F7F7F"/>
              </a:solidFill>
            </a:endParaRPr>
          </a:p>
        </p:txBody>
      </p:sp>
      <p:sp>
        <p:nvSpPr>
          <p:cNvPr id="6" name="TextBox 15"/>
          <p:cNvSpPr>
            <a:extLst>
              <a:ext uri="smNativeData">
                <pr:smNativeData xmlns:pr="smNativeData" xmlns="smNativeData" val="SMDATA_15_ceEnahMAAAAlAAAAZAAAAE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KAUAANcAAAATRQAAkwUAABAgAAAmAAAACAAAAP//////////"/>
              </a:ext>
            </a:extLst>
          </p:cNvSpPr>
          <p:nvPr/>
        </p:nvSpPr>
        <p:spPr>
          <a:xfrm>
            <a:off x="838200" y="136525"/>
            <a:ext cx="10390505" cy="769620"/>
          </a:xfrm>
          <a:prstGeom prst="rect">
            <a:avLst/>
          </a:prstGeom>
          <a:noFill/>
          <a:ln>
            <a:noFill/>
          </a:ln>
          <a:effectLst/>
        </p:spPr>
        <p:txBody>
          <a:bodyPr vert="horz" wrap="square" lIns="91440" tIns="45720" rIns="91440" bIns="45720" numCol="1" spcCol="215900" anchor="t"/>
          <a:lstStyle/>
          <a:p>
            <a:pPr>
              <a:defRPr lang="en-us"/>
            </a:pPr>
            <a:r>
              <a:rPr lang="en-us" sz="4400" cap="none">
                <a:solidFill>
                  <a:srgbClr val="7F7F7F"/>
                </a:solidFill>
                <a:latin typeface="Calibri Light (Headings)" pitchFamily="0" charset="0"/>
                <a:ea typeface="Calibri" pitchFamily="2" charset="0"/>
                <a:cs typeface="Calibri" pitchFamily="2" charset="0"/>
              </a:rPr>
              <a:t>Remember, you must attribute!*</a:t>
            </a:r>
            <a:endParaRPr lang="en-us" sz="4400" cap="none">
              <a:solidFill>
                <a:srgbClr val="7F7F7F"/>
              </a:solidFill>
              <a:latin typeface="Calibri Light (Headings)" pitchFamily="0" charset="0"/>
              <a:ea typeface="Calibri" pitchFamily="2" charset="0"/>
              <a:cs typeface="Calibri" pitchFamily="2" charset="0"/>
            </a:endParaRPr>
          </a:p>
        </p:txBody>
      </p:sp>
    </p:spTree>
  </p:cSld>
  <p:clrMapOvr>
    <a:masterClrMapping/>
  </p:clrMapOvr>
  <p:hf hdr="0" ftr="0"/>
</p:sldLayout>
</file>

<file path=ppt/slideMasters/_rels/slideMaster1.xml.rels><?xml version="1.0" encoding="UTF-8" standalone="yes" ?>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noChangeArrowheads="1"/>
            <a:extLst>
              <a:ext uri="smNativeData">
                <pr:smNativeData xmlns:pr="smNativeData" xmlns="smNativeData" val="SMDATA_15_ceEnah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KAUAANcAAADYRQAAkAUAABAAAAAmAAAACAAAAL8vAAAAAAAA"/>
              </a:ext>
            </a:extLst>
          </p:cNvSpPr>
          <p:nvPr>
            <p:ph type="title"/>
          </p:nvPr>
        </p:nvSpPr>
        <p:spPr>
          <a:xfrm>
            <a:off x="838200" y="136525"/>
            <a:ext cx="10515600" cy="767715"/>
          </a:xfrm>
          <a:prstGeom prst="rect">
            <a:avLst/>
          </a:prstGeom>
        </p:spPr>
        <p:txBody>
          <a:bodyPr vert="horz" wrap="square" lIns="91440" tIns="45720" rIns="91440" bIns="45720" numCol="1" spcCol="215900" anchor="ctr">
            <a:prstTxWarp prst="textNoShape">
              <a:avLst/>
            </a:prstTxWarp>
          </a:bodyPr>
          <a:lstStyle/>
          <a:p>
            <a:pPr>
              <a:defRPr lang="en-us"/>
            </a:pPr>
            <a:r>
              <a:t>Click to edit Master title style</a:t>
            </a:r>
          </a:p>
        </p:txBody>
      </p:sp>
      <p:sp>
        <p:nvSpPr>
          <p:cNvPr id="3" name="Text Placeholder 2"/>
          <p:cNvSpPr>
            <a:spLocks noGrp="1" noChangeArrowheads="1"/>
            <a:extLst>
              <a:ext uri="smNativeData">
                <pr:smNativeData xmlns:pr="smNativeData" xmlns="smNativeData" val="SMDATA_15_ceEnahMAAAAlAAAAZA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KAUAAK0GAADYRQAAACYAABAAAAAmAAAACAAAAD8vAAAAAAAA"/>
              </a:ext>
            </a:extLst>
          </p:cNvSpPr>
          <p:nvPr>
            <p:ph type="body" idx="1"/>
          </p:nvPr>
        </p:nvSpPr>
        <p:spPr>
          <a:xfrm>
            <a:off x="838200" y="1085215"/>
            <a:ext cx="10515600" cy="5092065"/>
          </a:xfrm>
          <a:prstGeom prst="rect">
            <a:avLst/>
          </a:prstGeom>
        </p:spPr>
        <p:txBody>
          <a:bodyPr vert="horz" wrap="square" lIns="91440" tIns="45720" rIns="91440" bIns="45720" numCol="1" spcCol="215900" anchor="t">
            <a:prstTxWarp prst="textNoShape">
              <a:avLst/>
            </a:prstTxWarp>
          </a:bodyPr>
          <a:lstStyle/>
          <a:p>
            <a:pPr>
              <a:defRPr lang="en-us"/>
            </a:pPr>
            <a:r>
              <a:t>Click to edit Master text styles</a:t>
            </a:r>
          </a:p>
          <a:p>
            <a:pPr lvl="1">
              <a:defRPr lang="en-us"/>
            </a:pPr>
            <a:r>
              <a:t>Second level</a:t>
            </a:r>
          </a:p>
          <a:p>
            <a:pPr lvl="2">
              <a:defRPr lang="en-us"/>
            </a:pPr>
            <a:r>
              <a:t>Third level</a:t>
            </a:r>
          </a:p>
          <a:p>
            <a:pPr lvl="3">
              <a:defRPr lang="en-us"/>
            </a:pPr>
            <a:r>
              <a:t>Fourth level</a:t>
            </a:r>
          </a:p>
          <a:p>
            <a:pPr lvl="4">
              <a:defRPr lang="en-us"/>
            </a:pPr>
            <a:r>
              <a:t>Fifth level</a:t>
            </a:r>
          </a:p>
        </p:txBody>
      </p:sp>
      <p:sp>
        <p:nvSpPr>
          <p:cNvPr id="4" name="Date Placeholder 3"/>
          <p:cNvSpPr>
            <a:spLocks noGrp="1" noChangeArrowheads="1"/>
            <a:extLst>
              <a:ext uri="smNativeData">
                <pr:smNativeData xmlns:pr="smNativeData" xmlns="smNativeData" val="SMDATA_15_ceEnah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KAUAABonAAAIFgAAWSkAABAAAAAmAAAACAAAAL+PAAAAAAAA"/>
              </a:ext>
            </a:extLst>
          </p:cNvSpPr>
          <p:nvPr>
            <p:ph type="dt" sz="half" idx="2"/>
          </p:nvPr>
        </p:nvSpPr>
        <p:spPr>
          <a:xfrm>
            <a:off x="838200" y="6356350"/>
            <a:ext cx="2743200" cy="365125"/>
          </a:xfrm>
          <a:prstGeom prst="rect">
            <a:avLst/>
          </a:prstGeom>
        </p:spPr>
        <p:txBody>
          <a:bodyPr vert="horz" wrap="square" lIns="91440" tIns="45720" rIns="91440" bIns="45720" numCol="1" spcCol="215900" anchor="ctr">
            <a:prstTxWarp prst="textNoShape">
              <a:avLst/>
            </a:prstTxWarp>
          </a:bodyPr>
          <a:lstStyle>
            <a:lvl1pPr algn="l">
              <a:defRPr lang="en-us" sz="1200" cap="none">
                <a:solidFill>
                  <a:srgbClr val="8C8C8C"/>
                </a:solidFill>
              </a:defRPr>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a:defRPr lang="en-us"/>
            </a:pPr>
            <a:fld id="{171B362D-63FA-4EC0-B4A3-959578ED42C0}" type="datetime1">
              <a:t/>
            </a:fld>
          </a:p>
        </p:txBody>
      </p:sp>
      <p:sp>
        <p:nvSpPr>
          <p:cNvPr id="5" name="Footer Placeholder 4"/>
          <p:cNvSpPr>
            <a:spLocks noGrp="1" noChangeArrowheads="1"/>
            <a:extLst>
              <a:ext uri="smNativeData">
                <pr:smNativeData xmlns:pr="smNativeData" xmlns="smNativeData" val="SMDATA_15_ceEnah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2BgAABonAAAoMgAAWSkAABAAAAAmAAAACAAAAL+PAAAAAAAA"/>
              </a:ext>
            </a:extLst>
          </p:cNvSpPr>
          <p:nvPr>
            <p:ph type="ftr" sz="quarter" idx="3"/>
          </p:nvPr>
        </p:nvSpPr>
        <p:spPr>
          <a:xfrm>
            <a:off x="4038600" y="6356350"/>
            <a:ext cx="4114800" cy="365125"/>
          </a:xfrm>
          <a:prstGeom prst="rect">
            <a:avLst/>
          </a:prstGeom>
        </p:spPr>
        <p:txBody>
          <a:bodyPr vert="horz" wrap="square" lIns="91440" tIns="45720" rIns="91440" bIns="45720" numCol="1" spcCol="215900" anchor="ctr">
            <a:prstTxWarp prst="textNoShape">
              <a:avLst/>
            </a:prstTxWarp>
          </a:bodyPr>
          <a:lstStyle>
            <a:lvl1pPr algn="ctr">
              <a:defRPr lang="en-us" sz="1200" cap="none">
                <a:solidFill>
                  <a:srgbClr val="8C8C8C"/>
                </a:solidFill>
              </a:defRPr>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a:defRPr lang="en-us"/>
            </a:pPr>
            <a:r>
              <a:t>Designed by PoweredTemplate</a:t>
            </a:r>
          </a:p>
        </p:txBody>
      </p:sp>
      <p:sp>
        <p:nvSpPr>
          <p:cNvPr id="6" name="Slide Number Placeholder 5"/>
          <p:cNvSpPr>
            <a:spLocks noGrp="1" noChangeArrowheads="1"/>
            <a:extLst>
              <a:ext uri="smNativeData">
                <pr:smNativeData xmlns:pr="smNativeData" xmlns="smNativeData" val="SMDATA_15_ceEnah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DQAABonAADYRQAAWSkAABAAAAAmAAAACAAAAL+PAAAAAAAA"/>
              </a:ext>
            </a:extLst>
          </p:cNvSpPr>
          <p:nvPr>
            <p:ph type="sldNum" sz="quarter" idx="4"/>
          </p:nvPr>
        </p:nvSpPr>
        <p:spPr>
          <a:xfrm>
            <a:off x="8610600" y="6356350"/>
            <a:ext cx="2743200" cy="365125"/>
          </a:xfrm>
          <a:prstGeom prst="rect">
            <a:avLst/>
          </a:prstGeom>
        </p:spPr>
        <p:txBody>
          <a:bodyPr vert="horz" wrap="square" lIns="91440" tIns="45720" rIns="91440" bIns="45720" numCol="1" spcCol="215900" anchor="ctr">
            <a:prstTxWarp prst="textNoShape">
              <a:avLst/>
            </a:prstTxWarp>
          </a:bodyPr>
          <a:lstStyle>
            <a:lvl1pPr algn="r">
              <a:defRPr lang="en-us" sz="1200" cap="none">
                <a:solidFill>
                  <a:srgbClr val="8C8C8C"/>
                </a:solidFill>
              </a:defRPr>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a:defRPr lang="en-us"/>
            </a:pPr>
            <a:fld id="{171B015B-15FA-4EF7-B4A3-E3A24FED42B6}" type="slidenum">
              <a:t/>
            </a:fld>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61" r:id="rId4"/>
    <p:sldLayoutId id="2147483662" r:id="rId5"/>
    <p:sldLayoutId id="2147483664" r:id="rId6"/>
    <p:sldLayoutId id="2147483663" r:id="rId7"/>
  </p:sldLayoutIdLst>
  <p:hf sldNum="0" hdr="0" dt="0"/>
  <p:txStyles>
    <p:titleStyle>
      <a:lvl1pPr marL="0" marR="0" indent="0" algn="ctr" defTabSz="914400">
        <a:lnSpc>
          <a:spcPct val="90000"/>
        </a:lnSpc>
        <a:spcBef>
          <a:spcPts val="0"/>
        </a:spcBef>
        <a:spcAft>
          <a:spcPts val="0"/>
        </a:spcAft>
        <a:buNone/>
        <a:tabLst/>
        <a:defRPr lang="en-us" sz="4400" b="0" i="0" u="none" strike="noStrike" kern="1" cap="none" spc="0" baseline="0">
          <a:solidFill>
            <a:srgbClr val="7F7F7F"/>
          </a:solidFill>
          <a:effectLst/>
          <a:latin typeface="Calibri Light" pitchFamily="2" charset="0"/>
          <a:ea typeface="Calibri Light" pitchFamily="2" charset="0"/>
          <a:cs typeface="Calibri Light" pitchFamily="2" charset="0"/>
        </a:defRPr>
      </a:lvl1pPr>
      <a:lvl2pPr marL="4572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2pPr>
      <a:lvl3pPr marL="9144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3pPr>
      <a:lvl4pPr marL="13716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4pPr>
      <a:lvl5pPr marL="18288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5pPr>
      <a:lvl6pPr marL="22860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6pPr>
      <a:lvl7pPr marL="27432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7pPr>
      <a:lvl8pPr marL="32004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8pPr>
      <a:lvl9pPr marL="36576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9pPr>
    </p:titleStyle>
    <p:bodyStyle>
      <a:lvl1pPr marL="228600" marR="0" indent="-228600" algn="l" defTabSz="914400">
        <a:lnSpc>
          <a:spcPct val="90000"/>
        </a:lnSpc>
        <a:spcBef>
          <a:spcPts val="1000"/>
        </a:spcBef>
        <a:spcAft>
          <a:spcPts val="0"/>
        </a:spcAft>
        <a:buClrTx/>
        <a:buSzTx/>
        <a:buFont typeface="Arial" pitchFamily="2" charset="0"/>
        <a:buChar char="•"/>
        <a:tabLst/>
        <a:defRPr lang="en-us" sz="2800" b="0" i="0" u="none" strike="noStrike" kern="1" cap="none" spc="0" baseline="0">
          <a:solidFill>
            <a:srgbClr val="7F7F7F"/>
          </a:solidFill>
          <a:effectLst/>
          <a:latin typeface="Calibri" pitchFamily="2" charset="0"/>
          <a:ea typeface="Calibri" pitchFamily="2" charset="0"/>
          <a:cs typeface="Calibri" pitchFamily="2" charset="0"/>
        </a:defRPr>
      </a:lvl1pPr>
      <a:lvl2pPr marL="685800" marR="0" indent="-228600" algn="l" defTabSz="914400">
        <a:lnSpc>
          <a:spcPct val="90000"/>
        </a:lnSpc>
        <a:spcBef>
          <a:spcPts val="500"/>
        </a:spcBef>
        <a:spcAft>
          <a:spcPts val="0"/>
        </a:spcAft>
        <a:buClrTx/>
        <a:buSzTx/>
        <a:buFont typeface="Arial" pitchFamily="2" charset="0"/>
        <a:buChar char="•"/>
        <a:tabLst/>
        <a:defRPr lang="en-us" sz="2400" b="0" i="0" u="none" strike="noStrike" kern="1" cap="none" spc="0" baseline="0">
          <a:solidFill>
            <a:srgbClr val="7F7F7F"/>
          </a:solidFill>
          <a:effectLst/>
          <a:latin typeface="Calibri" pitchFamily="2" charset="0"/>
          <a:ea typeface="Calibri" pitchFamily="2" charset="0"/>
          <a:cs typeface="Calibri" pitchFamily="2" charset="0"/>
        </a:defRPr>
      </a:lvl2pPr>
      <a:lvl3pPr marL="1143000" marR="0" indent="-228600" algn="l" defTabSz="914400">
        <a:lnSpc>
          <a:spcPct val="90000"/>
        </a:lnSpc>
        <a:spcBef>
          <a:spcPts val="500"/>
        </a:spcBef>
        <a:spcAft>
          <a:spcPts val="0"/>
        </a:spcAft>
        <a:buClrTx/>
        <a:buSzTx/>
        <a:buFont typeface="Arial" pitchFamily="2" charset="0"/>
        <a:buChar char="•"/>
        <a:tabLst/>
        <a:defRPr lang="en-us" sz="2000" b="0" i="0" u="none" strike="noStrike" kern="1" cap="none" spc="0" baseline="0">
          <a:solidFill>
            <a:srgbClr val="7F7F7F"/>
          </a:solidFill>
          <a:effectLst/>
          <a:latin typeface="Calibri" pitchFamily="2" charset="0"/>
          <a:ea typeface="Calibri" pitchFamily="2" charset="0"/>
          <a:cs typeface="Calibri" pitchFamily="2" charset="0"/>
        </a:defRPr>
      </a:lvl3pPr>
      <a:lvl4pPr marL="1600200" marR="0" indent="-228600" algn="l" defTabSz="914400">
        <a:lnSpc>
          <a:spcPct val="90000"/>
        </a:lnSpc>
        <a:spcBef>
          <a:spcPts val="500"/>
        </a:spcBef>
        <a:spcAft>
          <a:spcPts val="0"/>
        </a:spcAft>
        <a:buClrTx/>
        <a:buSzTx/>
        <a:buFont typeface="Arial" pitchFamily="2" charset="0"/>
        <a:buChar char="•"/>
        <a:tabLst/>
        <a:defRPr lang="en-us" sz="1800" b="0" i="0" u="none" strike="noStrike" kern="1" cap="none" spc="0" baseline="0">
          <a:solidFill>
            <a:srgbClr val="7F7F7F"/>
          </a:solidFill>
          <a:effectLst/>
          <a:latin typeface="Calibri" pitchFamily="2" charset="0"/>
          <a:ea typeface="Calibri" pitchFamily="2" charset="0"/>
          <a:cs typeface="Calibri" pitchFamily="2" charset="0"/>
        </a:defRPr>
      </a:lvl4pPr>
      <a:lvl5pPr marL="2057400" marR="0" indent="-228600" algn="l" defTabSz="914400">
        <a:lnSpc>
          <a:spcPct val="90000"/>
        </a:lnSpc>
        <a:spcBef>
          <a:spcPts val="500"/>
        </a:spcBef>
        <a:spcAft>
          <a:spcPts val="0"/>
        </a:spcAft>
        <a:buClrTx/>
        <a:buSzTx/>
        <a:buFont typeface="Arial" pitchFamily="2" charset="0"/>
        <a:buChar char="•"/>
        <a:tabLst/>
        <a:defRPr lang="en-us" sz="1800" b="0" i="0" u="none" strike="noStrike" kern="1" cap="none" spc="0" baseline="0">
          <a:solidFill>
            <a:srgbClr val="7F7F7F"/>
          </a:solidFill>
          <a:effectLst/>
          <a:latin typeface="Calibri" pitchFamily="2" charset="0"/>
          <a:ea typeface="Calibri" pitchFamily="2" charset="0"/>
          <a:cs typeface="Calibri" pitchFamily="2" charset="0"/>
        </a:defRPr>
      </a:lvl5pPr>
      <a:lvl6pPr marL="2514600" marR="0" indent="-228600" algn="l" defTabSz="914400">
        <a:lnSpc>
          <a:spcPct val="90000"/>
        </a:lnSpc>
        <a:spcBef>
          <a:spcPts val="500"/>
        </a:spcBef>
        <a:spcAft>
          <a:spcPts val="0"/>
        </a:spcAft>
        <a:buClrTx/>
        <a:buSzTx/>
        <a:buFont typeface="Arial" pitchFamily="2" charset="0"/>
        <a:buChar char="•"/>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6pPr>
      <a:lvl7pPr marL="2971800" marR="0" indent="-228600" algn="l" defTabSz="914400">
        <a:lnSpc>
          <a:spcPct val="90000"/>
        </a:lnSpc>
        <a:spcBef>
          <a:spcPts val="500"/>
        </a:spcBef>
        <a:spcAft>
          <a:spcPts val="0"/>
        </a:spcAft>
        <a:buClrTx/>
        <a:buSzTx/>
        <a:buFont typeface="Arial" pitchFamily="2" charset="0"/>
        <a:buChar char="•"/>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7pPr>
      <a:lvl8pPr marL="3429000" marR="0" indent="-228600" algn="l" defTabSz="914400">
        <a:lnSpc>
          <a:spcPct val="90000"/>
        </a:lnSpc>
        <a:spcBef>
          <a:spcPts val="500"/>
        </a:spcBef>
        <a:spcAft>
          <a:spcPts val="0"/>
        </a:spcAft>
        <a:buClrTx/>
        <a:buSzTx/>
        <a:buFont typeface="Arial" pitchFamily="2" charset="0"/>
        <a:buChar char="•"/>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8pPr>
      <a:lvl9pPr marL="3886200" marR="0" indent="-228600" algn="l" defTabSz="914400">
        <a:lnSpc>
          <a:spcPct val="90000"/>
        </a:lnSpc>
        <a:spcBef>
          <a:spcPts val="500"/>
        </a:spcBef>
        <a:spcAft>
          <a:spcPts val="0"/>
        </a:spcAft>
        <a:buClrTx/>
        <a:buSzTx/>
        <a:buFont typeface="Arial" pitchFamily="2" charset="0"/>
        <a:buChar char="•"/>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9pPr>
    </p:bodyStyle>
    <p:otherStyle>
      <a:lvl1pPr marL="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1pPr>
      <a:lvl2pPr marL="4572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2pPr>
      <a:lvl3pPr marL="9144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3pPr>
      <a:lvl4pPr marL="13716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4pPr>
      <a:lvl5pPr marL="18288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5pPr>
      <a:lvl6pPr marL="22860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6pPr>
      <a:lvl7pPr marL="27432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7pPr>
      <a:lvl8pPr marL="32004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8pPr>
      <a:lvl9pPr marL="36576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9pPr>
    </p:otherStyle>
  </p:txStyles>
</p:sldMaster>
</file>

<file path=ppt/slides/_rels/slide1.xml.rels><?xml version="1.0" encoding="UTF-8" standalone="yes" ?>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Rectangle 1"/>
          <p:cNvSpPr>
            <a:extLst>
              <a:ext uri="smNativeData">
                <pr:smNativeData xmlns:pr="smNativeData" xmlns="smNativeData" val="SMDATA_15_ceEnahMAAAAlAAAAZAAAAA0AAAAAkAAAAEgAAACQAAAASAAAAAAAAAABAAAAAAAAAAEAAABQAAAAAAAAAAAA4D8AAAAAAADgPwAAAAAAAOA/AAAAAAAA4D8AAAAAAADgPwAAAAAAAOA/AAAAAAAA4D8AAAAAAADgPwAAAAAAAOA/AAAAAAAA4D8CAAAAjAAAAAEAAAAAAAAADxcqACxn1gAAAAAAAAAAAAAAAAAAAAAAAAAAAAAAAAAAAAAAZAAAAAEAAABAAAAAAAAAAJz///9aAAAAAAAAAAEAAABQAAAAMGjPAAAAAAAAAAAAAAAAAAAAAAAAAAAAAAAAAAAAAAAAAAAAAAAAAAAAAAAAAAAAAAAAAAAAAAAAAAAAFAAAADwAAAAAAAAAAAAAAEBtxAAP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Ibblwg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DxcqACxn1gAwaM8AAAAAAAAAAAAAAAAAAAAAAAAAAAAAAAAAAAAAAEBtxAB/f38A5+bmA8zMzADAwP8Af39/AAAAAAAAAAAAAAAAAAAAAAAAAAAAIQAAABgAAAAUAAAAAAAAAAAAAAAASwAAMCoAABAAAAAmAAAACAAAAP//////////"/>
              </a:ext>
            </a:extLst>
          </p:cNvSpPr>
          <p:nvPr/>
        </p:nvSpPr>
        <p:spPr>
          <a:xfrm>
            <a:off x="0" y="0"/>
            <a:ext cx="12192000" cy="6858000"/>
          </a:xfrm>
          <a:prstGeom prst="rect">
            <a:avLst/>
          </a:prstGeom>
          <a:solidFill>
            <a:srgbClr val="0F172A"/>
          </a:solidFill>
          <a:ln>
            <a:noFill/>
          </a:ln>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p>
        </p:txBody>
      </p:sp>
      <p:sp>
        <p:nvSpPr>
          <p:cNvPr id="3" name="Oval 2"/>
          <p:cNvSpPr>
            <a:extLst>
              <a:ext uri="smNativeData">
                <pr:smNativeData xmlns:pr="smNativeData" xmlns="smNativeData" val="SMDATA_15_ceEnahMAAAAlAAAAZgAAAA0AAAAAkAAAAEgAAACQAAAASAAAAAAAAAABAAAAAAAAAAEAAABQAAAAAAAAAAAA8D8AAAAAAADwPwAAAAAAAOA/AAAAAAAA4D8AAAAAAADgPwAAAAAAAOA/AAAAAAAA4D8AAAAAAADgPwAAAAAAAOA/AAAAAAAA4D8CAAAAjAAAAAEAAAAAAAAACm5XACxn1gAAAAAAAAAAAAAAAAAAAAAAAAAAAAAAAAAAAAAAZAAAAAEAAABAAAAAAAAAAJz///9aAAAAAAAAAAEAAABQAAAAMGjPAAAAAAAAAAAAAAAAAAAAAAAAAAAAAAAAAAAAAAAAAAAAAAAAAAAAAAAAAAAAAAAAAAAAAAAAAAAAFAAAADwAAAAAAAAAAAAAAEBtxAAP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Cm5XACxn1gAwaM8AAAAAAAAAAAAAAAAAAAAAAAAAAAAAAAAAAAAAAEBtxAB/f38A5+bmA8zMzADAwP8Af39/AAAAAAAAAAAAAAAAAAAAAAAAAAAAIQAAABgAAAAUAAAAoDIAAMD0//+gXwAAwCEAABAAAAAmAAAACAAAAP//////////"/>
              </a:ext>
            </a:extLst>
          </p:cNvSpPr>
          <p:nvPr/>
        </p:nvSpPr>
        <p:spPr>
          <a:xfrm>
            <a:off x="8229600" y="-1828800"/>
            <a:ext cx="7315200" cy="7315200"/>
          </a:xfrm>
          <a:prstGeom prst="ellipse">
            <a:avLst/>
          </a:prstGeom>
          <a:solidFill>
            <a:srgbClr val="0A6E57"/>
          </a:solidFill>
          <a:ln>
            <a:noFill/>
          </a:ln>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p>
        </p:txBody>
      </p:sp>
      <p:sp>
        <p:nvSpPr>
          <p:cNvPr id="4" name="TextBox 3"/>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gAQAAEALAACQEgAAgA0AABAgAAAmAAAACAAAAP//////////"/>
              </a:ext>
            </a:extLst>
          </p:cNvSpPr>
          <p:nvPr/>
        </p:nvSpPr>
        <p:spPr>
          <a:xfrm>
            <a:off x="731520" y="1828800"/>
            <a:ext cx="2286000" cy="365760"/>
          </a:xfrm>
          <a:prstGeom prst="rect">
            <a:avLst/>
          </a:prstGeom>
          <a:noFill/>
          <a:ln>
            <a:noFill/>
          </a:ln>
          <a:effectLst/>
        </p:spPr>
        <p:txBody>
          <a:bodyPr vert="horz" wrap="square" lIns="0" tIns="0" rIns="0" bIns="0" numCol="1" spcCol="215900" anchor="t"/>
          <a:lstStyle/>
          <a:p>
            <a:pPr algn="l">
              <a:defRPr lang="en-us"/>
            </a:pPr>
            <a:r>
              <a:rPr lang="en-us" sz="1200" b="1" cap="none">
                <a:solidFill>
                  <a:srgbClr val="0D9373"/>
                </a:solidFill>
              </a:rPr>
              <a:t>MAS · ENSAM 2026</a:t>
            </a:r>
            <a:endParaRPr lang="en-us" sz="1200" b="1" cap="none">
              <a:solidFill>
                <a:srgbClr val="0D9373"/>
              </a:solidFill>
            </a:endParaRPr>
          </a:p>
        </p:txBody>
      </p:sp>
      <p:sp>
        <p:nvSpPr>
          <p:cNvPr id="5" name="TextBox 4"/>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gAQAABAOAABgQgAAEBcAABAgAAAmAAAACAAAAP//////////"/>
              </a:ext>
            </a:extLst>
          </p:cNvSpPr>
          <p:nvPr/>
        </p:nvSpPr>
        <p:spPr>
          <a:xfrm>
            <a:off x="731520" y="2286000"/>
            <a:ext cx="10058400" cy="1463040"/>
          </a:xfrm>
          <a:prstGeom prst="rect">
            <a:avLst/>
          </a:prstGeom>
          <a:noFill/>
          <a:ln>
            <a:noFill/>
          </a:ln>
          <a:effectLst/>
        </p:spPr>
        <p:txBody>
          <a:bodyPr vert="horz" wrap="square" lIns="0" tIns="0" rIns="0" bIns="0" numCol="1" spcCol="215900" anchor="t"/>
          <a:lstStyle/>
          <a:p>
            <a:pPr algn="l">
              <a:defRPr lang="en-us"/>
            </a:pPr>
            <a:r>
              <a:rPr lang="en-us" sz="5400" b="1" cap="none">
                <a:solidFill>
                  <a:srgbClr val="FFFFFF"/>
                </a:solidFill>
              </a:rPr>
              <a:t>Multi-Agent Security</a:t>
            </a:r>
            <a:endParaRPr lang="en-us" sz="5400" b="1" cap="none">
              <a:solidFill>
                <a:srgbClr val="FFFFFF"/>
              </a:solidFill>
            </a:endParaRPr>
          </a:p>
          <a:p>
            <a:pPr algn="l">
              <a:defRPr lang="en-us"/>
            </a:pPr>
            <a:r>
              <a:rPr lang="en-us" sz="5400" b="1" cap="none">
                <a:solidFill>
                  <a:srgbClr val="FFFFFF"/>
                </a:solidFill>
              </a:rPr>
              <a:t>Scanner</a:t>
            </a:r>
            <a:endParaRPr lang="en-us" sz="5400" b="1" cap="none">
              <a:solidFill>
                <a:srgbClr val="FFFFFF"/>
              </a:solidFill>
            </a:endParaRPr>
          </a:p>
        </p:txBody>
      </p:sp>
      <p:sp>
        <p:nvSpPr>
          <p:cNvPr id="6" name="TextBox 5"/>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gAQAAOAZAADAPAAAgB8AABAgAAAmAAAACAAAAP//////////"/>
              </a:ext>
            </a:extLst>
          </p:cNvSpPr>
          <p:nvPr/>
        </p:nvSpPr>
        <p:spPr>
          <a:xfrm>
            <a:off x="731520" y="4206240"/>
            <a:ext cx="9144000" cy="914400"/>
          </a:xfrm>
          <a:prstGeom prst="rect">
            <a:avLst/>
          </a:prstGeom>
          <a:noFill/>
          <a:ln>
            <a:noFill/>
          </a:ln>
          <a:effectLst/>
        </p:spPr>
        <p:txBody>
          <a:bodyPr vert="horz" wrap="square" lIns="0" tIns="0" rIns="0" bIns="0" numCol="1" spcCol="215900" anchor="t"/>
          <a:lstStyle/>
          <a:p>
            <a:pPr algn="l">
              <a:defRPr lang="en-us"/>
            </a:pPr>
            <a:r>
              <a:rPr lang="en-us" sz="1600" cap="none">
                <a:solidFill>
                  <a:srgbClr val="CBD5E1"/>
                </a:solidFill>
              </a:rPr>
              <a:t>Analyse de sécurité de code orchestrée par 8 agents IA spécialisés —</a:t>
            </a:r>
            <a:endParaRPr lang="en-us" sz="1600" cap="none">
              <a:solidFill>
                <a:srgbClr val="CBD5E1"/>
              </a:solidFill>
            </a:endParaRPr>
          </a:p>
          <a:p>
            <a:pPr algn="l">
              <a:defRPr lang="en-us"/>
            </a:pPr>
            <a:r>
              <a:rPr lang="en-us" sz="1600" cap="none">
                <a:solidFill>
                  <a:srgbClr val="CBD5E1"/>
                </a:solidFill>
              </a:rPr>
              <a:t>analyse statique, raisonnement LLM, patches auto, mémoire persistante.</a:t>
            </a:r>
            <a:endParaRPr lang="en-us" sz="1600" cap="none">
              <a:solidFill>
                <a:srgbClr val="CBD5E1"/>
              </a:solidFill>
            </a:endParaRPr>
          </a:p>
        </p:txBody>
      </p:sp>
      <p:sp>
        <p:nvSpPr>
          <p:cNvPr id="7" name="Rounded Rectangle 6"/>
          <p:cNvSpPr>
            <a:extLst>
              <a:ext uri="smNativeData">
                <pr:smNativeData xmlns:pr="smNativeData" xmlns="smNativeData" val="SMDATA_15_ceEnahMAAAAlAAAAZQAAAA0AAAAAkAAAAEgAAACQAAAASAAAAAAAAAABAAAAAAAAAAEAAABQAAAAhbacS3FV1T8AAAAAAADwvwAAAAAAAOA/AAAAAAAA4D8AAAAAAADgPwAAAAAAAOA/AAAAAAAA4D8AAAAAAADgPwAAAAAAAOA/AAAAAAAA4D8CAAAAjAAAAAEAAAAAAAAAHik7ACxn1gAAAAAAAAAAAAAAAAAAAAAAAAAAAAAAAAAAAAAAZAAAAAEAAABAAAAAAAAAAJz///9aAAAAAAAAAAEAAABQAAAAMGjPAAAAAAAAAAAAAAAAAAAAAAAAAAAAAAAAAAAAAAAAAAAAAAAAAAAAAAAAAAAAAAAAAAAAAAAAAAAAFAAAADwAAAAAAAAAAAAAAEBtxAAP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Hik7ACxn1gAwaM8AAAAAAAAAAAAAAAAAAAAAAAAAAAAAAAAAAAAAAEBtxAB/f38A5+bmA8zMzADAwP8Af39/AAAAAAAAAAAAAAAAAAAAAAAAAAAAIQAAABgAAAAUAAAAgAQAAOAiAAD2DgAAICUAABAAAAAmAAAACAAAAP//////////"/>
              </a:ext>
            </a:extLst>
          </p:cNvSpPr>
          <p:nvPr/>
        </p:nvSpPr>
        <p:spPr>
          <a:xfrm>
            <a:off x="731520" y="5669280"/>
            <a:ext cx="1700530" cy="365760"/>
          </a:xfrm>
          <a:prstGeom prst="roundRect">
            <a:avLst>
              <a:gd name="adj" fmla="val 16667"/>
            </a:avLst>
          </a:prstGeom>
          <a:solidFill>
            <a:srgbClr val="1E293B"/>
          </a:solidFill>
          <a:ln>
            <a:noFill/>
          </a:ln>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p>
        </p:txBody>
      </p:sp>
      <p:sp>
        <p:nvSpPr>
          <p:cNvPr id="8" name="TextBox 7"/>
          <p:cNvSpPr>
            <a:extLst>
              <a:ext uri="smNativeData">
                <pr:smNativeData xmlns:pr="smNativeData" xmlns="smNativeData" val="SMDATA_15_ceEnahMAAAAlAAAAZAAAAE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MjWoQ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gAQAAP0iAAD2DgAAAyUAABAgAAAmAAAACAAAAP//////////"/>
              </a:ext>
            </a:extLst>
          </p:cNvSpPr>
          <p:nvPr/>
        </p:nvSpPr>
        <p:spPr>
          <a:xfrm>
            <a:off x="731520" y="5687695"/>
            <a:ext cx="1700530" cy="328930"/>
          </a:xfrm>
          <a:prstGeom prst="rect">
            <a:avLst/>
          </a:prstGeom>
          <a:noFill/>
          <a:ln>
            <a:noFill/>
          </a:ln>
          <a:effectLst/>
        </p:spPr>
        <p:txBody>
          <a:bodyPr vert="horz" wrap="square" lIns="0" tIns="0" rIns="0" bIns="0" numCol="1" spcCol="215900" anchor="ctr"/>
          <a:lstStyle/>
          <a:p>
            <a:pPr algn="ctr">
              <a:defRPr lang="en-us"/>
            </a:pPr>
            <a:r>
              <a:rPr lang="en-us" sz="1100" b="1" cap="none">
                <a:solidFill>
                  <a:srgbClr val="FFFFFF"/>
                </a:solidFill>
              </a:rPr>
              <a:t>FastAPI</a:t>
            </a:r>
            <a:endParaRPr lang="en-us" sz="1100" b="1" cap="none">
              <a:solidFill>
                <a:srgbClr val="FFFFFF"/>
              </a:solidFill>
            </a:endParaRPr>
          </a:p>
        </p:txBody>
      </p:sp>
      <p:sp>
        <p:nvSpPr>
          <p:cNvPr id="9" name="Rounded Rectangle 8"/>
          <p:cNvSpPr>
            <a:extLst>
              <a:ext uri="smNativeData">
                <pr:smNativeData xmlns:pr="smNativeData" xmlns="smNativeData" val="SMDATA_15_ceEnahMAAAAlAAAAZQAAAA0AAAAAkAAAAEgAAACQAAAASAAAAAAAAAABAAAAAAAAAAEAAABQAAAAhbacS3FV1T8AAAAAAADwvwAAAAAAAOA/AAAAAAAA4D8AAAAAAADgPwAAAAAAAOA/AAAAAAAA4D8AAAAAAADgPwAAAAAAAOA/AAAAAAAA4D8CAAAAjAAAAAEAAAAAAAAAHik7ACxn1gAAAAAAAAAAAAAAAAAAAAAAAAAAAAAAAAAAAAAAZAAAAAEAAABAAAAAAAAAAJz///9aAAAAAAAAAAEAAABQAAAAMGjPAAAAAAAAAAAAAAAAAAAAAAAAAAAAAAAAAAAAAAAAAAAAAAAAAAAAAAAAAAAAAAAAAAAAAAAAAAAAFAAAADwAAAAAAAAAAAAAAEBtxAAP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Hik7ACxn1gAwaM8AAAAAAAAAAAAAAAAAAAAAAAAAAAAAAAAAAAAAAEBtxAB/f38A5+bmA8zMzADAwP8Af39/AAAAAAAAAAAAAAAAAAAAAAAAAAAAIQAAABgAAAAUAAAAow8AAOAiAAAgHAAAICUAABAAAAAmAAAACAAAAP//////////"/>
              </a:ext>
            </a:extLst>
          </p:cNvSpPr>
          <p:nvPr/>
        </p:nvSpPr>
        <p:spPr>
          <a:xfrm>
            <a:off x="2541905" y="5669280"/>
            <a:ext cx="2030095" cy="365760"/>
          </a:xfrm>
          <a:prstGeom prst="roundRect">
            <a:avLst>
              <a:gd name="adj" fmla="val 16667"/>
            </a:avLst>
          </a:prstGeom>
          <a:solidFill>
            <a:srgbClr val="1E293B"/>
          </a:solidFill>
          <a:ln>
            <a:noFill/>
          </a:ln>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p>
        </p:txBody>
      </p:sp>
      <p:sp>
        <p:nvSpPr>
          <p:cNvPr id="10" name="TextBox 9"/>
          <p:cNvSpPr>
            <a:extLst>
              <a:ext uri="smNativeData">
                <pr:smNativeData xmlns:pr="smNativeData" xmlns="smNativeData" val="SMDATA_15_ceEnahMAAAAlAAAAZAAAAE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ow8AAP0iAAAgHAAAAyUAABAgAAAmAAAACAAAAP//////////"/>
              </a:ext>
            </a:extLst>
          </p:cNvSpPr>
          <p:nvPr/>
        </p:nvSpPr>
        <p:spPr>
          <a:xfrm>
            <a:off x="2541905" y="5687695"/>
            <a:ext cx="2030095" cy="328930"/>
          </a:xfrm>
          <a:prstGeom prst="rect">
            <a:avLst/>
          </a:prstGeom>
          <a:noFill/>
          <a:ln>
            <a:noFill/>
          </a:ln>
          <a:effectLst/>
        </p:spPr>
        <p:txBody>
          <a:bodyPr vert="horz" wrap="square" lIns="0" tIns="0" rIns="0" bIns="0" numCol="1" spcCol="215900" anchor="ctr"/>
          <a:lstStyle/>
          <a:p>
            <a:pPr algn="ctr">
              <a:defRPr lang="en-us"/>
            </a:pPr>
            <a:r>
              <a:rPr lang="en-us" sz="1100" b="1" cap="none">
                <a:solidFill>
                  <a:srgbClr val="FFFFFF"/>
                </a:solidFill>
              </a:rPr>
              <a:t>LangGraph</a:t>
            </a:r>
            <a:endParaRPr lang="en-us" sz="1100" b="1" cap="none">
              <a:solidFill>
                <a:srgbClr val="FFFFFF"/>
              </a:solidFill>
            </a:endParaRPr>
          </a:p>
        </p:txBody>
      </p:sp>
      <p:sp>
        <p:nvSpPr>
          <p:cNvPr id="11" name="Rounded Rectangle 10"/>
          <p:cNvSpPr>
            <a:extLst>
              <a:ext uri="smNativeData">
                <pr:smNativeData xmlns:pr="smNativeData" xmlns="smNativeData" val="SMDATA_15_ceEnahMAAAAlAAAAZQAAAA0AAAAAkAAAAEgAAACQAAAASAAAAAAAAAABAAAAAAAAAAEAAABQAAAAhbacS3FV1T8AAAAAAADwvwAAAAAAAOA/AAAAAAAA4D8AAAAAAADgPwAAAAAAAOA/AAAAAAAA4D8AAAAAAADgPwAAAAAAAOA/AAAAAAAA4D8CAAAAjAAAAAEAAAAAAAAAHik7ACxn1gAAAAAAAAAAAAAAAAAAAAAAAAAAAAAAAAAAAAAAZAAAAAEAAABAAAAAAAAAAJz///9aAAAAAAAAAAEAAABQAAAAMGjPAAAAAAAAAAAAAAAAAAAAAAAAAAAAAAAAAAAAAAAAAAAAAAAAAAAAAAAAAAAAAAAAAAAAAAAAAAAAFAAAADwAAAAAAAAAAAAAAEBtxAAP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Hik7ACxn1gAwaM8AAAAAAAAAAAAAAAAAAAAAAAAAAAAAAAAAAAAAAEBtxAB/f38A5+bmA8zMzADAwP8Af39/AAAAAAAAAAAAAAAAAAAAAAAAAAAAIQAAABgAAAAUAAAAzRwAAOAiAABWLQAAICUAABAAAAAmAAAACAAAAP//////////"/>
              </a:ext>
            </a:extLst>
          </p:cNvSpPr>
          <p:nvPr/>
        </p:nvSpPr>
        <p:spPr>
          <a:xfrm>
            <a:off x="4681855" y="5669280"/>
            <a:ext cx="2687955" cy="365760"/>
          </a:xfrm>
          <a:prstGeom prst="roundRect">
            <a:avLst>
              <a:gd name="adj" fmla="val 16667"/>
            </a:avLst>
          </a:prstGeom>
          <a:solidFill>
            <a:srgbClr val="1E293B"/>
          </a:solidFill>
          <a:ln>
            <a:noFill/>
          </a:ln>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p>
        </p:txBody>
      </p:sp>
      <p:sp>
        <p:nvSpPr>
          <p:cNvPr id="12" name="TextBox 11"/>
          <p:cNvSpPr>
            <a:extLst>
              <a:ext uri="smNativeData">
                <pr:smNativeData xmlns:pr="smNativeData" xmlns="smNativeData" val="SMDATA_15_ceEnahMAAAAlAAAAZAAAAE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zRwAAP0iAABWLQAAAyUAABAgAAAmAAAACAAAAP//////////"/>
              </a:ext>
            </a:extLst>
          </p:cNvSpPr>
          <p:nvPr/>
        </p:nvSpPr>
        <p:spPr>
          <a:xfrm>
            <a:off x="4681855" y="5687695"/>
            <a:ext cx="2687955" cy="328930"/>
          </a:xfrm>
          <a:prstGeom prst="rect">
            <a:avLst/>
          </a:prstGeom>
          <a:noFill/>
          <a:ln>
            <a:noFill/>
          </a:ln>
          <a:effectLst/>
        </p:spPr>
        <p:txBody>
          <a:bodyPr vert="horz" wrap="square" lIns="0" tIns="0" rIns="0" bIns="0" numCol="1" spcCol="215900" anchor="ctr"/>
          <a:lstStyle/>
          <a:p>
            <a:pPr algn="ctr">
              <a:defRPr lang="en-us"/>
            </a:pPr>
            <a:r>
              <a:rPr lang="en-us" sz="1100" b="1" cap="none">
                <a:solidFill>
                  <a:srgbClr val="FFFFFF"/>
                </a:solidFill>
              </a:rPr>
              <a:t>Groq · NVIDIA</a:t>
            </a:r>
            <a:endParaRPr lang="en-us" sz="1100" b="1" cap="none">
              <a:solidFill>
                <a:srgbClr val="FFFFFF"/>
              </a:solidFill>
            </a:endParaRPr>
          </a:p>
        </p:txBody>
      </p:sp>
      <p:sp>
        <p:nvSpPr>
          <p:cNvPr id="13" name="Rounded Rectangle 12"/>
          <p:cNvSpPr>
            <a:extLst>
              <a:ext uri="smNativeData">
                <pr:smNativeData xmlns:pr="smNativeData" xmlns="smNativeData" val="SMDATA_15_ceEnahMAAAAlAAAAZQAAAA0AAAAAkAAAAEgAAACQAAAASAAAAAAAAAABAAAAAAAAAAEAAABQAAAAhbacS3FV1T8AAAAAAADwvwAAAAAAAOA/AAAAAAAA4D8AAAAAAADgPwAAAAAAAOA/AAAAAAAA4D8AAAAAAADgPwAAAAAAAOA/AAAAAAAA4D8CAAAAjAAAAAEAAAAAAAAAHik7ACxn1gAAAAAAAAAAAAAAAAAAAAAAAAAAAAAAAAAAAAAAZAAAAAEAAABAAAAAAAAAAJz///9aAAAAAAAAAAEAAABQAAAAMGjPAAAAAAAAAAAAAAAAAAAAAAAAAAAAAAAAAAAAAAAAAAAAAAAAAAAAAAAAAAAAAAAAAAAAAAAAAAAAFAAAADwAAAAAAAAAAAAAAEBtxAAP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MOuqAc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Hik7ACxn1gAwaM8AAAAAAAAAAAAAAAAAAAAAAAAAAAAAAAAAAAAAAEBtxAB/f38A5+bmA8zMzADAwP8Af39/AAAAAAAAAAAAAAAAAAAAAAAAAAAAIQAAABgAAAAUAAAAAy4AAOAiAAB6OAAAICUAABAAAAAmAAAACAAAAP//////////"/>
              </a:ext>
            </a:extLst>
          </p:cNvSpPr>
          <p:nvPr/>
        </p:nvSpPr>
        <p:spPr>
          <a:xfrm>
            <a:off x="7479665" y="5669280"/>
            <a:ext cx="1701165" cy="365760"/>
          </a:xfrm>
          <a:prstGeom prst="roundRect">
            <a:avLst>
              <a:gd name="adj" fmla="val 16667"/>
            </a:avLst>
          </a:prstGeom>
          <a:solidFill>
            <a:srgbClr val="1E293B"/>
          </a:solidFill>
          <a:ln>
            <a:noFill/>
          </a:ln>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p>
        </p:txBody>
      </p:sp>
      <p:sp>
        <p:nvSpPr>
          <p:cNvPr id="14" name="TextBox 13"/>
          <p:cNvSpPr>
            <a:extLst>
              <a:ext uri="smNativeData">
                <pr:smNativeData xmlns:pr="smNativeData" xmlns="smNativeData" val="SMDATA_15_ceEnahMAAAAlAAAAZAAAAE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CTQNQY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Ay4AAP0iAAB6OAAAAyUAABAgAAAmAAAACAAAAP//////////"/>
              </a:ext>
            </a:extLst>
          </p:cNvSpPr>
          <p:nvPr/>
        </p:nvSpPr>
        <p:spPr>
          <a:xfrm>
            <a:off x="7479665" y="5687695"/>
            <a:ext cx="1701165" cy="328930"/>
          </a:xfrm>
          <a:prstGeom prst="rect">
            <a:avLst/>
          </a:prstGeom>
          <a:noFill/>
          <a:ln>
            <a:noFill/>
          </a:ln>
          <a:effectLst/>
        </p:spPr>
        <p:txBody>
          <a:bodyPr vert="horz" wrap="square" lIns="0" tIns="0" rIns="0" bIns="0" numCol="1" spcCol="215900" anchor="ctr"/>
          <a:lstStyle/>
          <a:p>
            <a:pPr algn="ctr">
              <a:defRPr lang="en-us"/>
            </a:pPr>
            <a:r>
              <a:rPr lang="en-us" sz="1100" b="1" cap="none">
                <a:solidFill>
                  <a:srgbClr val="FFFFFF"/>
                </a:solidFill>
              </a:rPr>
              <a:t>Semgrep</a:t>
            </a:r>
            <a:endParaRPr lang="en-us" sz="1100" b="1" cap="none">
              <a:solidFill>
                <a:srgbClr val="FFFFFF"/>
              </a:solidFill>
            </a:endParaRPr>
          </a:p>
        </p:txBody>
      </p:sp>
      <p:sp>
        <p:nvSpPr>
          <p:cNvPr id="15" name="Rounded Rectangle 14"/>
          <p:cNvSpPr>
            <a:extLst>
              <a:ext uri="smNativeData">
                <pr:smNativeData xmlns:pr="smNativeData" xmlns="smNativeData" val="SMDATA_15_ceEnahMAAAAlAAAAZQAAAA0AAAAAkAAAAEgAAACQAAAASAAAAAAAAAABAAAAAAAAAAEAAABQAAAAhbacS3FV1T8AAAAAAADwvwAAAAAAAOA/AAAAAAAA4D8AAAAAAADgPwAAAAAAAOA/AAAAAAAA4D8AAAAAAADgPwAAAAAAAOA/AAAAAAAA4D8CAAAAjAAAAAEAAAAAAAAAHik7ACxn1gAAAAAAAAAAAAAAAAAAAAAAAAAAAAAAAAAAAAAAZAAAAAEAAABAAAAAAAAAAJz///9aAAAAAAAAAAEAAABQAAAAMGjPAAAAAAAAAAAAAAAAAAAAAAAAAAAAAAAAAAAAAAAAAAAAAAAAAAAAAAAAAAAAAAAAAAAAAAAAAAAAFAAAADwAAAAAAAAAAAAAAEBtxAAP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Hik7ACxn1gAwaM8AAAAAAAAAAAAAAAAAAAAAAAAAAAAAAAAAAAAAAEBtxAB/f38A5+bmA8zMzADAwP8Af39/AAAAAAAAAAAAAAAAAAAAAAAAAAAAIQAAABgAAAAUAAAAJjkAAOAiAACaQgAAICUAABAAAAAmAAAACAAAAP//////////"/>
              </a:ext>
            </a:extLst>
          </p:cNvSpPr>
          <p:nvPr/>
        </p:nvSpPr>
        <p:spPr>
          <a:xfrm>
            <a:off x="9290050" y="5669280"/>
            <a:ext cx="1536700" cy="365760"/>
          </a:xfrm>
          <a:prstGeom prst="roundRect">
            <a:avLst>
              <a:gd name="adj" fmla="val 16667"/>
            </a:avLst>
          </a:prstGeom>
          <a:solidFill>
            <a:srgbClr val="1E293B"/>
          </a:solidFill>
          <a:ln>
            <a:noFill/>
          </a:ln>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p>
        </p:txBody>
      </p:sp>
      <p:sp>
        <p:nvSpPr>
          <p:cNvPr id="16" name="TextBox 15"/>
          <p:cNvSpPr>
            <a:extLst>
              <a:ext uri="smNativeData">
                <pr:smNativeData xmlns:pr="smNativeData" xmlns="smNativeData" val="SMDATA_15_ceEnahMAAAAlAAAAZAAAAE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JjkAAP0iAACaQgAAAyUAABAgAAAmAAAACAAAAP//////////"/>
              </a:ext>
            </a:extLst>
          </p:cNvSpPr>
          <p:nvPr/>
        </p:nvSpPr>
        <p:spPr>
          <a:xfrm>
            <a:off x="9290050" y="5687695"/>
            <a:ext cx="1536700" cy="328930"/>
          </a:xfrm>
          <a:prstGeom prst="rect">
            <a:avLst/>
          </a:prstGeom>
          <a:noFill/>
          <a:ln>
            <a:noFill/>
          </a:ln>
          <a:effectLst/>
        </p:spPr>
        <p:txBody>
          <a:bodyPr vert="horz" wrap="square" lIns="0" tIns="0" rIns="0" bIns="0" numCol="1" spcCol="215900" anchor="ctr"/>
          <a:lstStyle/>
          <a:p>
            <a:pPr algn="ctr">
              <a:defRPr lang="en-us"/>
            </a:pPr>
            <a:r>
              <a:rPr lang="en-us" sz="1100" b="1" cap="none">
                <a:solidFill>
                  <a:srgbClr val="FFFFFF"/>
                </a:solidFill>
              </a:rPr>
              <a:t>Qdrant</a:t>
            </a:r>
            <a:endParaRPr lang="en-us" sz="1100" b="1" cap="none">
              <a:solidFill>
                <a:srgbClr val="FFFFFF"/>
              </a:solidFill>
            </a:endParaRPr>
          </a:p>
        </p:txBody>
      </p:sp>
      <p:sp>
        <p:nvSpPr>
          <p:cNvPr id="17" name="Rounded Rectangle 16"/>
          <p:cNvSpPr>
            <a:extLst>
              <a:ext uri="smNativeData">
                <pr:smNativeData xmlns:pr="smNativeData" xmlns="smNativeData" val="SMDATA_15_ceEnahMAAAAlAAAAZQAAAA0AAAAAkAAAAEgAAACQAAAASAAAAAAAAAABAAAAAAAAAAEAAABQAAAAhbacS3FV1T8AAAAAAADwvwAAAAAAAOA/AAAAAAAA4D8AAAAAAADgPwAAAAAAAOA/AAAAAAAA4D8AAAAAAADgPwAAAAAAAOA/AAAAAAAA4D8CAAAAjAAAAAEAAAAAAAAAHik7ACxn1gAAAAAAAAAAAAAAAAAAAAAAAAAAAAAAAAAAAAAAZAAAAAEAAABAAAAAAAAAAJz///9aAAAAAAAAAAEAAABQAAAAMGjPAAAAAAAAAAAAAAAAAAAAAAAAAAAAAAAAAAAAAAAAAAAAAAAAAAAAAAAAAAAAAAAAAAAAAAAAAAAAFAAAADwAAAAAAAAAAAAAAEBtxAAP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JnTng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Hik7ACxn1gAwaM8AAAAAAAAAAAAAAAAAAAAAAAAAAAAAAAAAAAAAAEBtxAB/f38A5+bmA8zMzADAwP8Af39/AAAAAAAAAAAAAAAAAAAAAAAAAAAAIQAAABgAAAAUAAAARkMAAOAiAACzSgAAICUAABAAAAAmAAAACAAAAP//////////"/>
              </a:ext>
            </a:extLst>
          </p:cNvSpPr>
          <p:nvPr/>
        </p:nvSpPr>
        <p:spPr>
          <a:xfrm>
            <a:off x="10935970" y="5669280"/>
            <a:ext cx="1207135" cy="365760"/>
          </a:xfrm>
          <a:prstGeom prst="roundRect">
            <a:avLst>
              <a:gd name="adj" fmla="val 16667"/>
            </a:avLst>
          </a:prstGeom>
          <a:solidFill>
            <a:srgbClr val="1E293B"/>
          </a:solidFill>
          <a:ln>
            <a:noFill/>
          </a:ln>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p>
        </p:txBody>
      </p:sp>
      <p:sp>
        <p:nvSpPr>
          <p:cNvPr id="18" name="TextBox 17"/>
          <p:cNvSpPr>
            <a:extLst>
              <a:ext uri="smNativeData">
                <pr:smNativeData xmlns:pr="smNativeData" xmlns="smNativeData" val="SMDATA_15_ceEnahMAAAAlAAAAZAAAAE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BQGQ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RkMAAP0iAACzSgAAAyUAABAgAAAmAAAACAAAAP//////////"/>
              </a:ext>
            </a:extLst>
          </p:cNvSpPr>
          <p:nvPr/>
        </p:nvSpPr>
        <p:spPr>
          <a:xfrm>
            <a:off x="10935970" y="5687695"/>
            <a:ext cx="1207135" cy="328930"/>
          </a:xfrm>
          <a:prstGeom prst="rect">
            <a:avLst/>
          </a:prstGeom>
          <a:noFill/>
          <a:ln>
            <a:noFill/>
          </a:ln>
          <a:effectLst/>
        </p:spPr>
        <p:txBody>
          <a:bodyPr vert="horz" wrap="square" lIns="0" tIns="0" rIns="0" bIns="0" numCol="1" spcCol="215900" anchor="ctr"/>
          <a:lstStyle/>
          <a:p>
            <a:pPr algn="ctr">
              <a:defRPr lang="en-us"/>
            </a:pPr>
            <a:r>
              <a:rPr lang="en-us" sz="1100" b="1" cap="none">
                <a:solidFill>
                  <a:srgbClr val="FFFFFF"/>
                </a:solidFill>
              </a:rPr>
              <a:t>Rust</a:t>
            </a:r>
            <a:endParaRPr lang="en-us" sz="1100" b="1" cap="none">
              <a:solidFill>
                <a:srgbClr val="FFFFFF"/>
              </a:solidFill>
            </a:endParaRPr>
          </a:p>
        </p:txBody>
      </p:sp>
    </p:spTree>
  </p:cSld>
  <p:clrMapOvr>
    <a:masterClrMapping/>
  </p:clrMapOvr>
  <p:timing>
    <p:tnLst>
      <p:par>
        <p:cTn id="1" dur="indefinite" restart="never" nodeType="tmRoot"/>
      </p:par>
    </p:tnLst>
  </p:timing>
</p:sld>
</file>

<file path=ppt/slides/slide2.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Rectangle 1"/>
          <p:cNvSpPr>
            <a:extLst>
              <a:ext uri="smNativeData">
                <pr:smNativeData xmlns:pr="smNativeData" xmlns="smNativeData" val="SMDATA_15_ceEnahMAAAAlAAAAZAAAAA0AAAAAkAAAAEgAAACQAAAASAAAAAAAAAABAAAAAAAAAAEAAABQAAAAAAAAAAAA4D8AAAAAAADgPwAAAAAAAOA/AAAAAAAA4D8AAAAAAADgPwAAAAAAAOA/AAAAAAAA4D8AAAAAAADgPwAAAAAAAOA/AAAAAAAA4D8CAAAAjAAAAAEAAAAAAAAA+Pr8ACxn1gAAAAAAAAAAAAAAAAAAAAAAAAAAAAAAAAAAAAAAZAAAAAEAAABAAAAAAAAAAJz///9aAAAAAAAAAAEAAABQAAAAMGjPAAAAAAAAAAAAAAAAAAAAAAAAAAAAAAAAAAAAAAAAAAAAAAAAAAAAAAAAAAAAAAAAAAAAAAAAAAAAFAAAADwAAAAAAAAAAAAAAEBtxAAP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Pr8ACxn1gAwaM8AAAAAAAAAAAAAAAAAAAAAAAAAAAAAAAAAAAAAAEBtxAB/f38A5+bmA8zMzADAwP8Af39/AAAAAAAAAAAAAAAAAAAAAAAAAAAAIQAAABgAAAAUAAAAAAAAAAAAAAAASwAAMCoAABAAAAAmAAAACAAAAP//////////"/>
              </a:ext>
            </a:extLst>
          </p:cNvSpPr>
          <p:nvPr/>
        </p:nvSpPr>
        <p:spPr>
          <a:xfrm>
            <a:off x="0" y="0"/>
            <a:ext cx="12192000" cy="6858000"/>
          </a:xfrm>
          <a:prstGeom prst="rect">
            <a:avLst/>
          </a:prstGeom>
          <a:solidFill>
            <a:srgbClr val="F8FAFC"/>
          </a:solidFill>
          <a:ln>
            <a:noFill/>
          </a:ln>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p>
        </p:txBody>
      </p:sp>
      <p:sp>
        <p:nvSpPr>
          <p:cNvPr id="3" name="Rectangle 2"/>
          <p:cNvSpPr>
            <a:extLst>
              <a:ext uri="smNativeData">
                <pr:smNativeData xmlns:pr="smNativeData" xmlns="smNativeData" val="SMDATA_15_ceEnahMAAAAlAAAAZAAAAA0AAAAAkAAAAEgAAACQAAAASAAAAAAAAAABAAAAAAAAAAEAAABQAAAAAAAAAAAA4D8AAAAAAADgPwAAAAAAAOA/AAAAAAAA4D8AAAAAAADgPwAAAAAAAOA/AAAAAAAA4D8AAAAAAADgPwAAAAAAAOA/AAAAAAAA4D8CAAAAjAAAAAEAAAAAAAAADZNzACxn1gAAAAAAAAAAAAAAAAAAAAAAAAAAAAAAAAAAAAAAZAAAAAEAAABAAAAAAAAAAJz///9aAAAAAAAAAAEAAABQAAAAMGjPAAAAAAAAAAAAAAAAAAAAAAAAAAAAAAAAAAAAAAAAAAAAAAAAAAAAAAAAAAAAAAAAAAAAAAAAAAAAFAAAADwAAAAAAAAAAAAAAEBtxAAP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DZNzACxn1gAwaM8AAAAAAAAAAAAAAAAAAAAAAAAAAAAAAAAAAAAAAEBtxAB/f38A5+bmA8zMzADAwP8Af39/AAAAAAAAAAAAAAAAAAAAAAAAAAAAIQAAABgAAAAUAAAAYAMAAIgCAAAwBgAA3gIAABAAAAAmAAAACAAAAP//////////"/>
              </a:ext>
            </a:extLst>
          </p:cNvSpPr>
          <p:nvPr/>
        </p:nvSpPr>
        <p:spPr>
          <a:xfrm>
            <a:off x="548640" y="411480"/>
            <a:ext cx="457200" cy="54610"/>
          </a:xfrm>
          <a:prstGeom prst="rect">
            <a:avLst/>
          </a:prstGeom>
          <a:solidFill>
            <a:srgbClr val="0D9373"/>
          </a:solidFill>
          <a:ln>
            <a:noFill/>
          </a:ln>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p>
        </p:txBody>
      </p:sp>
      <p:sp>
        <p:nvSpPr>
          <p:cNvPr id="4" name="TextBox 3"/>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sAdKQ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YAMAABgDAABgMAAAEAUAABAgAAAmAAAACAAAAP//////////"/>
              </a:ext>
            </a:extLst>
          </p:cNvSpPr>
          <p:nvPr/>
        </p:nvSpPr>
        <p:spPr>
          <a:xfrm>
            <a:off x="548640" y="502920"/>
            <a:ext cx="7315200" cy="320040"/>
          </a:xfrm>
          <a:prstGeom prst="rect">
            <a:avLst/>
          </a:prstGeom>
          <a:noFill/>
          <a:ln>
            <a:noFill/>
          </a:ln>
          <a:effectLst/>
        </p:spPr>
        <p:txBody>
          <a:bodyPr vert="horz" wrap="square" lIns="0" tIns="0" rIns="0" bIns="0" numCol="1" spcCol="215900" anchor="t"/>
          <a:lstStyle/>
          <a:p>
            <a:pPr algn="l">
              <a:defRPr lang="en-us"/>
            </a:pPr>
            <a:r>
              <a:rPr lang="en-us" sz="1100" b="1" cap="none">
                <a:solidFill>
                  <a:srgbClr val="0D9373"/>
                </a:solidFill>
              </a:rPr>
              <a:t>01 · CONTEXTE</a:t>
            </a:r>
            <a:endParaRPr lang="en-us" sz="1100" b="1" cap="none">
              <a:solidFill>
                <a:srgbClr val="0D9373"/>
              </a:solidFill>
            </a:endParaRPr>
          </a:p>
        </p:txBody>
      </p:sp>
      <p:sp>
        <p:nvSpPr>
          <p:cNvPr id="5" name="TextBox 4"/>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L2CYQ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YAMAAMgEAADgRgAASAkAABAgAAAmAAAACAAAAP//////////"/>
              </a:ext>
            </a:extLst>
          </p:cNvSpPr>
          <p:nvPr/>
        </p:nvSpPr>
        <p:spPr>
          <a:xfrm>
            <a:off x="548640" y="777240"/>
            <a:ext cx="10972800" cy="731520"/>
          </a:xfrm>
          <a:prstGeom prst="rect">
            <a:avLst/>
          </a:prstGeom>
          <a:noFill/>
          <a:ln>
            <a:noFill/>
          </a:ln>
          <a:effectLst/>
        </p:spPr>
        <p:txBody>
          <a:bodyPr vert="horz" wrap="square" lIns="0" tIns="0" rIns="0" bIns="0" numCol="1" spcCol="215900" anchor="t"/>
          <a:lstStyle/>
          <a:p>
            <a:pPr algn="l">
              <a:defRPr lang="en-us"/>
            </a:pPr>
            <a:r>
              <a:rPr lang="en-us" sz="3200" b="1" cap="none">
                <a:solidFill>
                  <a:srgbClr val="0F172A"/>
                </a:solidFill>
              </a:rPr>
              <a:t>Problème &amp; approche</a:t>
            </a:r>
            <a:endParaRPr lang="en-us" sz="3200" b="1" cap="none">
              <a:solidFill>
                <a:srgbClr val="0F172A"/>
              </a:solidFill>
            </a:endParaRPr>
          </a:p>
        </p:txBody>
      </p:sp>
      <p:sp>
        <p:nvSpPr>
          <p:cNvPr id="6" name="TextBox 5"/>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YAMAALgIAADgRgAAiAsAABAgAAAmAAAACAAAAP//////////"/>
              </a:ext>
            </a:extLst>
          </p:cNvSpPr>
          <p:nvPr/>
        </p:nvSpPr>
        <p:spPr>
          <a:xfrm>
            <a:off x="548640" y="1417320"/>
            <a:ext cx="10972800" cy="457200"/>
          </a:xfrm>
          <a:prstGeom prst="rect">
            <a:avLst/>
          </a:prstGeom>
          <a:noFill/>
          <a:ln>
            <a:noFill/>
          </a:ln>
          <a:effectLst/>
        </p:spPr>
        <p:txBody>
          <a:bodyPr vert="horz" wrap="square" lIns="0" tIns="0" rIns="0" bIns="0" numCol="1" spcCol="215900" anchor="t"/>
          <a:lstStyle/>
          <a:p>
            <a:pPr algn="l">
              <a:defRPr lang="en-us"/>
            </a:pPr>
            <a:r>
              <a:rPr lang="en-us" sz="1400" cap="none">
                <a:solidFill>
                  <a:srgbClr val="475569"/>
                </a:solidFill>
              </a:rPr>
              <a:t>Pourquoi un pipeline multi-agents pour la sécurité du code.</a:t>
            </a:r>
            <a:endParaRPr lang="en-us" sz="1400" cap="none">
              <a:solidFill>
                <a:srgbClr val="475569"/>
              </a:solidFill>
            </a:endParaRPr>
          </a:p>
        </p:txBody>
      </p:sp>
      <p:sp>
        <p:nvSpPr>
          <p:cNvPr id="7" name="Rounded Rectangle 6"/>
          <p:cNvSpPr>
            <a:extLst>
              <a:ext uri="smNativeData">
                <pr:smNativeData xmlns:pr="smNativeData" xmlns="smNativeData" val="SMDATA_15_ceEnahMAAAAlAAAAZQAAAA0AAAAAkAAAAEgAAACQAAAASAAAAAAAAAABAAAAAAAAAAEAAABQAAAAhbacS3FV1T8AAAAAAADwvwAAAAAAAOA/AAAAAAAA4D8AAAAAAADgPwAAAAAAAOA/AAAAAAAA4D8AAAAAAADgPwAAAAAAAOA/AAAAAAAA4D8CAAAAjAAAAAEAAAAAAAAA////ACxn1gAAAAAAAAAAAAAAAAAAAAAAAAAAAAAAAAAAAAAAZAAAAAEAAABAAAAAAAAAAJz///9aAAAAAAAAAAEAAABQAAAAMGjPAAAAAAAAAAAAAAAAAAAAAAAAAAAAAAAAAAAAAAAAAAAAAAAAAAAAAAAAAAAAAAAAAAAAAAAAAAAAFAAAADwAAAABAAAAAAAAAOLo8AAP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Cxn1gAwaM8AAAAAAAAAAAAAAAAAAAAAAAAAAAAAAAAAAAAAAOLo8AB/f38A5+bmA8zMzADAwP8Af39/AAAAAAAAAAAAAAAAAAAAAAAAAAAAIQAAABgAAAAUAAAAYAMAAPAMAACQJAAAkCQAABAAAAAmAAAACAAAAP//////////"/>
              </a:ext>
            </a:extLst>
          </p:cNvSpPr>
          <p:nvPr/>
        </p:nvSpPr>
        <p:spPr>
          <a:xfrm>
            <a:off x="548640" y="2103120"/>
            <a:ext cx="5394960" cy="3840480"/>
          </a:xfrm>
          <a:prstGeom prst="roundRect">
            <a:avLst>
              <a:gd name="adj" fmla="val 16667"/>
            </a:avLst>
          </a:prstGeom>
          <a:solidFill>
            <a:srgbClr val="FFFFFF"/>
          </a:solidFill>
          <a:ln w="9525" cap="flat" cmpd="sng" algn="ctr">
            <a:solidFill>
              <a:srgbClr val="E2E8F0"/>
            </a:solidFill>
            <a:prstDash val="solid"/>
            <a:headEnd type="none"/>
            <a:tailEnd type="none"/>
          </a:ln>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p>
        </p:txBody>
      </p:sp>
      <p:sp>
        <p:nvSpPr>
          <p:cNvPr id="8" name="TextBox 7"/>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oAUAAKAOAABwIwAA4BAAABAgAAAmAAAACAAAAP//////////"/>
              </a:ext>
            </a:extLst>
          </p:cNvSpPr>
          <p:nvPr/>
        </p:nvSpPr>
        <p:spPr>
          <a:xfrm>
            <a:off x="914400" y="2377440"/>
            <a:ext cx="4846320" cy="365760"/>
          </a:xfrm>
          <a:prstGeom prst="rect">
            <a:avLst/>
          </a:prstGeom>
          <a:noFill/>
          <a:ln>
            <a:noFill/>
          </a:ln>
          <a:effectLst/>
        </p:spPr>
        <p:txBody>
          <a:bodyPr vert="horz" wrap="square" lIns="0" tIns="0" rIns="0" bIns="0" numCol="1" spcCol="215900" anchor="t"/>
          <a:lstStyle/>
          <a:p>
            <a:pPr algn="l">
              <a:defRPr lang="en-us"/>
            </a:pPr>
            <a:r>
              <a:rPr lang="en-us" sz="1100" b="1" cap="none">
                <a:solidFill>
                  <a:srgbClr val="B45309"/>
                </a:solidFill>
              </a:rPr>
              <a:t>PROBLÈME</a:t>
            </a:r>
            <a:endParaRPr lang="en-us" sz="1100" b="1" cap="none">
              <a:solidFill>
                <a:srgbClr val="B45309"/>
              </a:solidFill>
            </a:endParaRPr>
          </a:p>
        </p:txBody>
      </p:sp>
      <p:sp>
        <p:nvSpPr>
          <p:cNvPr id="9" name="TextBox 8"/>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oAUAAOAQAABwIwAAQBQAABAgAAAmAAAACAAAAP//////////"/>
              </a:ext>
            </a:extLst>
          </p:cNvSpPr>
          <p:nvPr/>
        </p:nvSpPr>
        <p:spPr>
          <a:xfrm>
            <a:off x="914400" y="2743200"/>
            <a:ext cx="4846320" cy="548640"/>
          </a:xfrm>
          <a:prstGeom prst="rect">
            <a:avLst/>
          </a:prstGeom>
          <a:noFill/>
          <a:ln>
            <a:noFill/>
          </a:ln>
          <a:effectLst/>
        </p:spPr>
        <p:txBody>
          <a:bodyPr vert="horz" wrap="square" lIns="0" tIns="0" rIns="0" bIns="0" numCol="1" spcCol="215900" anchor="t"/>
          <a:lstStyle/>
          <a:p>
            <a:pPr algn="l">
              <a:defRPr lang="en-us"/>
            </a:pPr>
            <a:r>
              <a:rPr lang="en-us" sz="2000" b="1" cap="none">
                <a:solidFill>
                  <a:srgbClr val="0F172A"/>
                </a:solidFill>
              </a:rPr>
              <a:t>Outils silos, pas de raisonnement</a:t>
            </a:r>
            <a:endParaRPr lang="en-us" sz="2000" b="1" cap="none">
              <a:solidFill>
                <a:srgbClr val="0F172A"/>
              </a:solidFill>
            </a:endParaRPr>
          </a:p>
        </p:txBody>
      </p:sp>
      <p:sp>
        <p:nvSpPr>
          <p:cNvPr id="10" name="TextBox 9"/>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oAUAAGAVAADABgAAoBcAABAgAAAmAAAACAAAAP//////////"/>
              </a:ext>
            </a:extLst>
          </p:cNvSpPr>
          <p:nvPr/>
        </p:nvSpPr>
        <p:spPr>
          <a:xfrm>
            <a:off x="914400" y="3474720"/>
            <a:ext cx="182880" cy="365760"/>
          </a:xfrm>
          <a:prstGeom prst="rect">
            <a:avLst/>
          </a:prstGeom>
          <a:noFill/>
          <a:ln>
            <a:noFill/>
          </a:ln>
          <a:effectLst/>
        </p:spPr>
        <p:txBody>
          <a:bodyPr vert="horz" wrap="square" lIns="0" tIns="0" rIns="0" bIns="0" numCol="1" spcCol="215900" anchor="t"/>
          <a:lstStyle/>
          <a:p>
            <a:pPr algn="l">
              <a:defRPr lang="en-us"/>
            </a:pPr>
            <a:r>
              <a:rPr lang="en-us" sz="1400" b="1" cap="none">
                <a:solidFill>
                  <a:srgbClr val="B45309"/>
                </a:solidFill>
              </a:rPr>
              <a:t>•</a:t>
            </a:r>
            <a:endParaRPr lang="en-us" sz="1400" b="1" cap="none">
              <a:solidFill>
                <a:srgbClr val="B45309"/>
              </a:solidFill>
            </a:endParaRPr>
          </a:p>
        </p:txBody>
      </p:sp>
      <p:sp>
        <p:nvSpPr>
          <p:cNvPr id="11" name="TextBox 10"/>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CAcAAGAVAACYIgAAoBcAABAgAAAmAAAACAAAAP//////////"/>
              </a:ext>
            </a:extLst>
          </p:cNvSpPr>
          <p:nvPr/>
        </p:nvSpPr>
        <p:spPr>
          <a:xfrm>
            <a:off x="1143000" y="3474720"/>
            <a:ext cx="4480560" cy="365760"/>
          </a:xfrm>
          <a:prstGeom prst="rect">
            <a:avLst/>
          </a:prstGeom>
          <a:noFill/>
          <a:ln>
            <a:noFill/>
          </a:ln>
          <a:effectLst/>
        </p:spPr>
        <p:txBody>
          <a:bodyPr vert="horz" wrap="square" lIns="0" tIns="0" rIns="0" bIns="0" numCol="1" spcCol="215900" anchor="t"/>
          <a:lstStyle/>
          <a:p>
            <a:pPr algn="l">
              <a:defRPr lang="en-us"/>
            </a:pPr>
            <a:r>
              <a:rPr lang="en-us" sz="1300" cap="none">
                <a:solidFill>
                  <a:srgbClr val="475569"/>
                </a:solidFill>
              </a:rPr>
              <a:t>Semgrep, Bandit, Gosec… chacun isolé</a:t>
            </a:r>
            <a:endParaRPr lang="en-us" sz="1300" cap="none">
              <a:solidFill>
                <a:srgbClr val="475569"/>
              </a:solidFill>
            </a:endParaRPr>
          </a:p>
        </p:txBody>
      </p:sp>
      <p:sp>
        <p:nvSpPr>
          <p:cNvPr id="12" name="TextBox 11"/>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oAUAADAYAADABgAAcBoAABAgAAAmAAAACAAAAP//////////"/>
              </a:ext>
            </a:extLst>
          </p:cNvSpPr>
          <p:nvPr/>
        </p:nvSpPr>
        <p:spPr>
          <a:xfrm>
            <a:off x="914400" y="3931920"/>
            <a:ext cx="182880" cy="365760"/>
          </a:xfrm>
          <a:prstGeom prst="rect">
            <a:avLst/>
          </a:prstGeom>
          <a:noFill/>
          <a:ln>
            <a:noFill/>
          </a:ln>
          <a:effectLst/>
        </p:spPr>
        <p:txBody>
          <a:bodyPr vert="horz" wrap="square" lIns="0" tIns="0" rIns="0" bIns="0" numCol="1" spcCol="215900" anchor="t"/>
          <a:lstStyle/>
          <a:p>
            <a:pPr algn="l">
              <a:defRPr lang="en-us"/>
            </a:pPr>
            <a:r>
              <a:rPr lang="en-us" sz="1400" b="1" cap="none">
                <a:solidFill>
                  <a:srgbClr val="B45309"/>
                </a:solidFill>
              </a:rPr>
              <a:t>•</a:t>
            </a:r>
            <a:endParaRPr lang="en-us" sz="1400" b="1" cap="none">
              <a:solidFill>
                <a:srgbClr val="B45309"/>
              </a:solidFill>
            </a:endParaRPr>
          </a:p>
        </p:txBody>
      </p:sp>
      <p:sp>
        <p:nvSpPr>
          <p:cNvPr id="13" name="TextBox 12"/>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CAcAADAYAACYIgAAcBoAABAgAAAmAAAACAAAAP//////////"/>
              </a:ext>
            </a:extLst>
          </p:cNvSpPr>
          <p:nvPr/>
        </p:nvSpPr>
        <p:spPr>
          <a:xfrm>
            <a:off x="1143000" y="3931920"/>
            <a:ext cx="4480560" cy="365760"/>
          </a:xfrm>
          <a:prstGeom prst="rect">
            <a:avLst/>
          </a:prstGeom>
          <a:noFill/>
          <a:ln>
            <a:noFill/>
          </a:ln>
          <a:effectLst/>
        </p:spPr>
        <p:txBody>
          <a:bodyPr vert="horz" wrap="square" lIns="0" tIns="0" rIns="0" bIns="0" numCol="1" spcCol="215900" anchor="t"/>
          <a:lstStyle/>
          <a:p>
            <a:pPr algn="l">
              <a:defRPr lang="en-us"/>
            </a:pPr>
            <a:r>
              <a:rPr lang="en-us" sz="1300" cap="none">
                <a:solidFill>
                  <a:srgbClr val="475569"/>
                </a:solidFill>
              </a:rPr>
              <a:t>Pas de scoring CVSS contextuel</a:t>
            </a:r>
            <a:endParaRPr lang="en-us" sz="1300" cap="none">
              <a:solidFill>
                <a:srgbClr val="475569"/>
              </a:solidFill>
            </a:endParaRPr>
          </a:p>
        </p:txBody>
      </p:sp>
      <p:sp>
        <p:nvSpPr>
          <p:cNvPr id="14" name="TextBox 13"/>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oAUAAAAbAADABgAAQB0AABAgAAAmAAAACAAAAP//////////"/>
              </a:ext>
            </a:extLst>
          </p:cNvSpPr>
          <p:nvPr/>
        </p:nvSpPr>
        <p:spPr>
          <a:xfrm>
            <a:off x="914400" y="4389120"/>
            <a:ext cx="182880" cy="365760"/>
          </a:xfrm>
          <a:prstGeom prst="rect">
            <a:avLst/>
          </a:prstGeom>
          <a:noFill/>
          <a:ln>
            <a:noFill/>
          </a:ln>
          <a:effectLst/>
        </p:spPr>
        <p:txBody>
          <a:bodyPr vert="horz" wrap="square" lIns="0" tIns="0" rIns="0" bIns="0" numCol="1" spcCol="215900" anchor="t"/>
          <a:lstStyle/>
          <a:p>
            <a:pPr algn="l">
              <a:defRPr lang="en-us"/>
            </a:pPr>
            <a:r>
              <a:rPr lang="en-us" sz="1400" b="1" cap="none">
                <a:solidFill>
                  <a:srgbClr val="B45309"/>
                </a:solidFill>
              </a:rPr>
              <a:t>•</a:t>
            </a:r>
            <a:endParaRPr lang="en-us" sz="1400" b="1" cap="none">
              <a:solidFill>
                <a:srgbClr val="B45309"/>
              </a:solidFill>
            </a:endParaRPr>
          </a:p>
        </p:txBody>
      </p:sp>
      <p:sp>
        <p:nvSpPr>
          <p:cNvPr id="15" name="TextBox 14"/>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CAcAAAAbAACYIgAAQB0AABAgAAAmAAAACAAAAP//////////"/>
              </a:ext>
            </a:extLst>
          </p:cNvSpPr>
          <p:nvPr/>
        </p:nvSpPr>
        <p:spPr>
          <a:xfrm>
            <a:off x="1143000" y="4389120"/>
            <a:ext cx="4480560" cy="365760"/>
          </a:xfrm>
          <a:prstGeom prst="rect">
            <a:avLst/>
          </a:prstGeom>
          <a:noFill/>
          <a:ln>
            <a:noFill/>
          </a:ln>
          <a:effectLst/>
        </p:spPr>
        <p:txBody>
          <a:bodyPr vert="horz" wrap="square" lIns="0" tIns="0" rIns="0" bIns="0" numCol="1" spcCol="215900" anchor="t"/>
          <a:lstStyle/>
          <a:p>
            <a:pPr algn="l">
              <a:defRPr lang="en-us"/>
            </a:pPr>
            <a:r>
              <a:rPr lang="en-us" sz="1300" cap="none">
                <a:solidFill>
                  <a:srgbClr val="475569"/>
                </a:solidFill>
              </a:rPr>
              <a:t>Failles logiques (IDOR, auth bypass) invisibles</a:t>
            </a:r>
            <a:endParaRPr lang="en-us" sz="1300" cap="none">
              <a:solidFill>
                <a:srgbClr val="475569"/>
              </a:solidFill>
            </a:endParaRPr>
          </a:p>
        </p:txBody>
      </p:sp>
      <p:sp>
        <p:nvSpPr>
          <p:cNvPr id="16" name="TextBox 15"/>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CsfK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oAUAANAdAADABgAAECAAABAgAAAmAAAACAAAAP//////////"/>
              </a:ext>
            </a:extLst>
          </p:cNvSpPr>
          <p:nvPr/>
        </p:nvSpPr>
        <p:spPr>
          <a:xfrm>
            <a:off x="914400" y="4846320"/>
            <a:ext cx="182880" cy="365760"/>
          </a:xfrm>
          <a:prstGeom prst="rect">
            <a:avLst/>
          </a:prstGeom>
          <a:noFill/>
          <a:ln>
            <a:noFill/>
          </a:ln>
          <a:effectLst/>
        </p:spPr>
        <p:txBody>
          <a:bodyPr vert="horz" wrap="square" lIns="0" tIns="0" rIns="0" bIns="0" numCol="1" spcCol="215900" anchor="t"/>
          <a:lstStyle/>
          <a:p>
            <a:pPr algn="l">
              <a:defRPr lang="en-us"/>
            </a:pPr>
            <a:r>
              <a:rPr lang="en-us" sz="1400" b="1" cap="none">
                <a:solidFill>
                  <a:srgbClr val="B45309"/>
                </a:solidFill>
              </a:rPr>
              <a:t>•</a:t>
            </a:r>
            <a:endParaRPr lang="en-us" sz="1400" b="1" cap="none">
              <a:solidFill>
                <a:srgbClr val="B45309"/>
              </a:solidFill>
            </a:endParaRPr>
          </a:p>
        </p:txBody>
      </p:sp>
      <p:sp>
        <p:nvSpPr>
          <p:cNvPr id="17" name="TextBox 16"/>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G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CAcAANAdAACYIgAAECAAABAgAAAmAAAACAAAAP//////////"/>
              </a:ext>
            </a:extLst>
          </p:cNvSpPr>
          <p:nvPr/>
        </p:nvSpPr>
        <p:spPr>
          <a:xfrm>
            <a:off x="1143000" y="4846320"/>
            <a:ext cx="4480560" cy="365760"/>
          </a:xfrm>
          <a:prstGeom prst="rect">
            <a:avLst/>
          </a:prstGeom>
          <a:noFill/>
          <a:ln>
            <a:noFill/>
          </a:ln>
          <a:effectLst/>
        </p:spPr>
        <p:txBody>
          <a:bodyPr vert="horz" wrap="square" lIns="0" tIns="0" rIns="0" bIns="0" numCol="1" spcCol="215900" anchor="t"/>
          <a:lstStyle/>
          <a:p>
            <a:pPr algn="l">
              <a:defRPr lang="en-us"/>
            </a:pPr>
            <a:r>
              <a:rPr lang="en-us" sz="1300" cap="none">
                <a:solidFill>
                  <a:srgbClr val="475569"/>
                </a:solidFill>
              </a:rPr>
              <a:t>Aucun patch automatique validé</a:t>
            </a:r>
            <a:endParaRPr lang="en-us" sz="1300" cap="none">
              <a:solidFill>
                <a:srgbClr val="475569"/>
              </a:solidFill>
            </a:endParaRPr>
          </a:p>
        </p:txBody>
      </p:sp>
      <p:sp>
        <p:nvSpPr>
          <p:cNvPr id="18" name="Rounded Rectangle 17"/>
          <p:cNvSpPr>
            <a:extLst>
              <a:ext uri="smNativeData">
                <pr:smNativeData xmlns:pr="smNativeData" xmlns="smNativeData" val="SMDATA_15_ceEnahMAAAAlAAAAZQAAAA0AAAAAkAAAAEgAAACQAAAASAAAAAAAAAABAAAAAAAAAAEAAABQAAAAhbacS3FV1T8AAAAAAADwvwAAAAAAAOA/AAAAAAAA4D8AAAAAAADgPwAAAAAAAOA/AAAAAAAA4D8AAAAAAADgPwAAAAAAAOA/AAAAAAAA4D8CAAAAjAAAAAEAAAAAAAAADxcqACxn1gAAAAAAAAAAAAAAAAAAAAAAAAAAAAAAAAAAAAAAZAAAAAEAAABAAAAAAAAAAJz///9aAAAAAAAAAAEAAABQAAAAMGjPAAAAAAAAAAAAAAAAAAAAAAAAAAAAAAAAAAAAAAAAAAAAAAAAAAAAAAAAAAAAAAAAAAAAAAAAAAAAFAAAADwAAAAAAAAAAAAAAEBtxAAP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DxcqACxn1gAwaM8AAAAAAAAAAAAAAAAAAAAAAAAAAAAAAAAAAAAAAEBtxAB/f38A5+bmA8zMzADAwP8Af39/AAAAAAAAAAAAAAAAAAAAAAAAAAAAIQAAABgAAAAUAAAAsCUAAPAMAADgRgAAkCQAABAAAAAmAAAACAAAAP//////////"/>
              </a:ext>
            </a:extLst>
          </p:cNvSpPr>
          <p:nvPr/>
        </p:nvSpPr>
        <p:spPr>
          <a:xfrm>
            <a:off x="6126480" y="2103120"/>
            <a:ext cx="5394960" cy="3840480"/>
          </a:xfrm>
          <a:prstGeom prst="roundRect">
            <a:avLst>
              <a:gd name="adj" fmla="val 16667"/>
            </a:avLst>
          </a:prstGeom>
          <a:solidFill>
            <a:srgbClr val="0F172A"/>
          </a:solidFill>
          <a:ln>
            <a:noFill/>
          </a:ln>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p>
        </p:txBody>
      </p:sp>
      <p:sp>
        <p:nvSpPr>
          <p:cNvPr id="19" name="TextBox 18"/>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G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8CcAAKAOAADARQAA4BAAABAgAAAmAAAACAAAAP//////////"/>
              </a:ext>
            </a:extLst>
          </p:cNvSpPr>
          <p:nvPr/>
        </p:nvSpPr>
        <p:spPr>
          <a:xfrm>
            <a:off x="6492240" y="2377440"/>
            <a:ext cx="4846320" cy="365760"/>
          </a:xfrm>
          <a:prstGeom prst="rect">
            <a:avLst/>
          </a:prstGeom>
          <a:noFill/>
          <a:ln>
            <a:noFill/>
          </a:ln>
          <a:effectLst/>
        </p:spPr>
        <p:txBody>
          <a:bodyPr vert="horz" wrap="square" lIns="0" tIns="0" rIns="0" bIns="0" numCol="1" spcCol="215900" anchor="t"/>
          <a:lstStyle/>
          <a:p>
            <a:pPr algn="l">
              <a:defRPr lang="en-us"/>
            </a:pPr>
            <a:r>
              <a:rPr lang="en-us" sz="1100" b="1" cap="none">
                <a:solidFill>
                  <a:srgbClr val="0D9373"/>
                </a:solidFill>
              </a:rPr>
              <a:t>SOLUTION</a:t>
            </a:r>
            <a:endParaRPr lang="en-us" sz="1100" b="1" cap="none">
              <a:solidFill>
                <a:srgbClr val="0D9373"/>
              </a:solidFill>
            </a:endParaRPr>
          </a:p>
        </p:txBody>
      </p:sp>
      <p:sp>
        <p:nvSpPr>
          <p:cNvPr id="20" name="TextBox 19"/>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O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8CcAAOAQAADARQAAQBQAABAgAAAmAAAACAAAAP//////////"/>
              </a:ext>
            </a:extLst>
          </p:cNvSpPr>
          <p:nvPr/>
        </p:nvSpPr>
        <p:spPr>
          <a:xfrm>
            <a:off x="6492240" y="2743200"/>
            <a:ext cx="4846320" cy="548640"/>
          </a:xfrm>
          <a:prstGeom prst="rect">
            <a:avLst/>
          </a:prstGeom>
          <a:noFill/>
          <a:ln>
            <a:noFill/>
          </a:ln>
          <a:effectLst/>
        </p:spPr>
        <p:txBody>
          <a:bodyPr vert="horz" wrap="square" lIns="0" tIns="0" rIns="0" bIns="0" numCol="1" spcCol="215900" anchor="t"/>
          <a:lstStyle/>
          <a:p>
            <a:pPr algn="l">
              <a:defRPr lang="en-us"/>
            </a:pPr>
            <a:r>
              <a:rPr lang="en-us" sz="2000" b="1" cap="none">
                <a:solidFill>
                  <a:srgbClr val="FFFFFF"/>
                </a:solidFill>
              </a:rPr>
              <a:t>Pipeline orchestré, 8 agents</a:t>
            </a:r>
            <a:endParaRPr lang="en-us" sz="2000" b="1" cap="none">
              <a:solidFill>
                <a:srgbClr val="FFFFFF"/>
              </a:solidFill>
            </a:endParaRPr>
          </a:p>
        </p:txBody>
      </p:sp>
      <p:sp>
        <p:nvSpPr>
          <p:cNvPr id="21" name="TextBox 20"/>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IM+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8CcAAGAVAAAQKQAAoBcAABAgAAAmAAAACAAAAP//////////"/>
              </a:ext>
            </a:extLst>
          </p:cNvSpPr>
          <p:nvPr/>
        </p:nvSpPr>
        <p:spPr>
          <a:xfrm>
            <a:off x="6492240" y="3474720"/>
            <a:ext cx="182880" cy="365760"/>
          </a:xfrm>
          <a:prstGeom prst="rect">
            <a:avLst/>
          </a:prstGeom>
          <a:noFill/>
          <a:ln>
            <a:noFill/>
          </a:ln>
          <a:effectLst/>
        </p:spPr>
        <p:txBody>
          <a:bodyPr vert="horz" wrap="square" lIns="0" tIns="0" rIns="0" bIns="0" numCol="1" spcCol="215900" anchor="t"/>
          <a:lstStyle/>
          <a:p>
            <a:pPr algn="l">
              <a:defRPr lang="en-us"/>
            </a:pPr>
            <a:r>
              <a:rPr lang="en-us" sz="1400" b="1" cap="none">
                <a:solidFill>
                  <a:srgbClr val="0D9373"/>
                </a:solidFill>
              </a:rPr>
              <a:t>▸</a:t>
            </a:r>
            <a:endParaRPr lang="en-us" sz="1400" b="1" cap="none">
              <a:solidFill>
                <a:srgbClr val="0D9373"/>
              </a:solidFill>
            </a:endParaRPr>
          </a:p>
        </p:txBody>
      </p:sp>
      <p:sp>
        <p:nvSpPr>
          <p:cNvPr id="22" name="TextBox 21"/>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KpD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WCkAAGAVAADoRAAAoBcAABAgAAAmAAAACAAAAP//////////"/>
              </a:ext>
            </a:extLst>
          </p:cNvSpPr>
          <p:nvPr/>
        </p:nvSpPr>
        <p:spPr>
          <a:xfrm>
            <a:off x="6720840" y="3474720"/>
            <a:ext cx="4480560" cy="365760"/>
          </a:xfrm>
          <a:prstGeom prst="rect">
            <a:avLst/>
          </a:prstGeom>
          <a:noFill/>
          <a:ln>
            <a:noFill/>
          </a:ln>
          <a:effectLst/>
        </p:spPr>
        <p:txBody>
          <a:bodyPr vert="horz" wrap="square" lIns="0" tIns="0" rIns="0" bIns="0" numCol="1" spcCol="215900" anchor="t"/>
          <a:lstStyle/>
          <a:p>
            <a:pPr algn="l">
              <a:defRPr lang="en-us"/>
            </a:pPr>
            <a:r>
              <a:rPr lang="en-us" sz="1300" cap="none">
                <a:solidFill>
                  <a:srgbClr val="CBD5E1"/>
                </a:solidFill>
              </a:rPr>
              <a:t>LangGraph route, parallélise, retry</a:t>
            </a:r>
            <a:endParaRPr lang="en-us" sz="1300" cap="none">
              <a:solidFill>
                <a:srgbClr val="CBD5E1"/>
              </a:solidFill>
            </a:endParaRPr>
          </a:p>
        </p:txBody>
      </p:sp>
      <p:sp>
        <p:nvSpPr>
          <p:cNvPr id="23" name="TextBox 22"/>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K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8CcAADAYAAAQKQAAcBoAABAgAAAmAAAACAAAAP//////////"/>
              </a:ext>
            </a:extLst>
          </p:cNvSpPr>
          <p:nvPr/>
        </p:nvSpPr>
        <p:spPr>
          <a:xfrm>
            <a:off x="6492240" y="3931920"/>
            <a:ext cx="182880" cy="365760"/>
          </a:xfrm>
          <a:prstGeom prst="rect">
            <a:avLst/>
          </a:prstGeom>
          <a:noFill/>
          <a:ln>
            <a:noFill/>
          </a:ln>
          <a:effectLst/>
        </p:spPr>
        <p:txBody>
          <a:bodyPr vert="horz" wrap="square" lIns="0" tIns="0" rIns="0" bIns="0" numCol="1" spcCol="215900" anchor="t"/>
          <a:lstStyle/>
          <a:p>
            <a:pPr algn="l">
              <a:defRPr lang="en-us"/>
            </a:pPr>
            <a:r>
              <a:rPr lang="en-us" sz="1400" b="1" cap="none">
                <a:solidFill>
                  <a:srgbClr val="0D9373"/>
                </a:solidFill>
              </a:rPr>
              <a:t>▸</a:t>
            </a:r>
            <a:endParaRPr lang="en-us" sz="1400" b="1" cap="none">
              <a:solidFill>
                <a:srgbClr val="0D9373"/>
              </a:solidFill>
            </a:endParaRPr>
          </a:p>
        </p:txBody>
      </p:sp>
      <p:sp>
        <p:nvSpPr>
          <p:cNvPr id="24" name="TextBox 23"/>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HhI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WCkAADAYAADoRAAAcBoAABAgAAAmAAAACAAAAP//////////"/>
              </a:ext>
            </a:extLst>
          </p:cNvSpPr>
          <p:nvPr/>
        </p:nvSpPr>
        <p:spPr>
          <a:xfrm>
            <a:off x="6720840" y="3931920"/>
            <a:ext cx="4480560" cy="365760"/>
          </a:xfrm>
          <a:prstGeom prst="rect">
            <a:avLst/>
          </a:prstGeom>
          <a:noFill/>
          <a:ln>
            <a:noFill/>
          </a:ln>
          <a:effectLst/>
        </p:spPr>
        <p:txBody>
          <a:bodyPr vert="horz" wrap="square" lIns="0" tIns="0" rIns="0" bIns="0" numCol="1" spcCol="215900" anchor="t"/>
          <a:lstStyle/>
          <a:p>
            <a:pPr algn="l">
              <a:defRPr lang="en-us"/>
            </a:pPr>
            <a:r>
              <a:rPr lang="en-us" sz="1300" cap="none">
                <a:solidFill>
                  <a:srgbClr val="CBD5E1"/>
                </a:solidFill>
              </a:rPr>
              <a:t>LLM 70B pour le raisonnement sémantique</a:t>
            </a:r>
            <a:endParaRPr lang="en-us" sz="1300" cap="none">
              <a:solidFill>
                <a:srgbClr val="CBD5E1"/>
              </a:solidFill>
            </a:endParaRPr>
          </a:p>
        </p:txBody>
      </p:sp>
      <p:sp>
        <p:nvSpPr>
          <p:cNvPr id="25" name="TextBox 24"/>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FpN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8CcAAAAbAAAQKQAAQB0AABAgAAAmAAAACAAAAP//////////"/>
              </a:ext>
            </a:extLst>
          </p:cNvSpPr>
          <p:nvPr/>
        </p:nvSpPr>
        <p:spPr>
          <a:xfrm>
            <a:off x="6492240" y="4389120"/>
            <a:ext cx="182880" cy="365760"/>
          </a:xfrm>
          <a:prstGeom prst="rect">
            <a:avLst/>
          </a:prstGeom>
          <a:noFill/>
          <a:ln>
            <a:noFill/>
          </a:ln>
          <a:effectLst/>
        </p:spPr>
        <p:txBody>
          <a:bodyPr vert="horz" wrap="square" lIns="0" tIns="0" rIns="0" bIns="0" numCol="1" spcCol="215900" anchor="t"/>
          <a:lstStyle/>
          <a:p>
            <a:pPr algn="l">
              <a:defRPr lang="en-us"/>
            </a:pPr>
            <a:r>
              <a:rPr lang="en-us" sz="1400" b="1" cap="none">
                <a:solidFill>
                  <a:srgbClr val="0D9373"/>
                </a:solidFill>
              </a:rPr>
              <a:t>▸</a:t>
            </a:r>
            <a:endParaRPr lang="en-us" sz="1400" b="1" cap="none">
              <a:solidFill>
                <a:srgbClr val="0D9373"/>
              </a:solidFill>
            </a:endParaRPr>
          </a:p>
        </p:txBody>
      </p:sp>
      <p:sp>
        <p:nvSpPr>
          <p:cNvPr id="26" name="TextBox 25"/>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WCkAAAAbAADoRAAAQB0AABAgAAAmAAAACAAAAP//////////"/>
              </a:ext>
            </a:extLst>
          </p:cNvSpPr>
          <p:nvPr/>
        </p:nvSpPr>
        <p:spPr>
          <a:xfrm>
            <a:off x="6720840" y="4389120"/>
            <a:ext cx="4480560" cy="365760"/>
          </a:xfrm>
          <a:prstGeom prst="rect">
            <a:avLst/>
          </a:prstGeom>
          <a:noFill/>
          <a:ln>
            <a:noFill/>
          </a:ln>
          <a:effectLst/>
        </p:spPr>
        <p:txBody>
          <a:bodyPr vert="horz" wrap="square" lIns="0" tIns="0" rIns="0" bIns="0" numCol="1" spcCol="215900" anchor="t"/>
          <a:lstStyle/>
          <a:p>
            <a:pPr algn="l">
              <a:defRPr lang="en-us"/>
            </a:pPr>
            <a:r>
              <a:rPr lang="en-us" sz="1300" cap="none">
                <a:solidFill>
                  <a:srgbClr val="CBD5E1"/>
                </a:solidFill>
              </a:rPr>
              <a:t>Scoring CVSS 3.1 + exploitabilité</a:t>
            </a:r>
            <a:endParaRPr lang="en-us" sz="1300" cap="none">
              <a:solidFill>
                <a:srgbClr val="CBD5E1"/>
              </a:solidFill>
            </a:endParaRPr>
          </a:p>
        </p:txBody>
      </p:sp>
      <p:sp>
        <p:nvSpPr>
          <p:cNvPr id="27" name="TextBox 26"/>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I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8CcAANAdAAAQKQAAECAAABAgAAAmAAAACAAAAP//////////"/>
              </a:ext>
            </a:extLst>
          </p:cNvSpPr>
          <p:nvPr/>
        </p:nvSpPr>
        <p:spPr>
          <a:xfrm>
            <a:off x="6492240" y="4846320"/>
            <a:ext cx="182880" cy="365760"/>
          </a:xfrm>
          <a:prstGeom prst="rect">
            <a:avLst/>
          </a:prstGeom>
          <a:noFill/>
          <a:ln>
            <a:noFill/>
          </a:ln>
          <a:effectLst/>
        </p:spPr>
        <p:txBody>
          <a:bodyPr vert="horz" wrap="square" lIns="0" tIns="0" rIns="0" bIns="0" numCol="1" spcCol="215900" anchor="t"/>
          <a:lstStyle/>
          <a:p>
            <a:pPr algn="l">
              <a:defRPr lang="en-us"/>
            </a:pPr>
            <a:r>
              <a:rPr lang="en-us" sz="1400" b="1" cap="none">
                <a:solidFill>
                  <a:srgbClr val="0D9373"/>
                </a:solidFill>
              </a:rPr>
              <a:t>▸</a:t>
            </a:r>
            <a:endParaRPr lang="en-us" sz="1400" b="1" cap="none">
              <a:solidFill>
                <a:srgbClr val="0D9373"/>
              </a:solidFill>
            </a:endParaRPr>
          </a:p>
        </p:txBody>
      </p:sp>
      <p:sp>
        <p:nvSpPr>
          <p:cNvPr id="28" name="TextBox 27"/>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I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WCkAANAdAADoRAAAECAAABAgAAAmAAAACAAAAP//////////"/>
              </a:ext>
            </a:extLst>
          </p:cNvSpPr>
          <p:nvPr/>
        </p:nvSpPr>
        <p:spPr>
          <a:xfrm>
            <a:off x="6720840" y="4846320"/>
            <a:ext cx="4480560" cy="365760"/>
          </a:xfrm>
          <a:prstGeom prst="rect">
            <a:avLst/>
          </a:prstGeom>
          <a:noFill/>
          <a:ln>
            <a:noFill/>
          </a:ln>
          <a:effectLst/>
        </p:spPr>
        <p:txBody>
          <a:bodyPr vert="horz" wrap="square" lIns="0" tIns="0" rIns="0" bIns="0" numCol="1" spcCol="215900" anchor="t"/>
          <a:lstStyle/>
          <a:p>
            <a:pPr algn="l">
              <a:defRPr lang="en-us"/>
            </a:pPr>
            <a:r>
              <a:rPr lang="en-us" sz="1300" cap="none">
                <a:solidFill>
                  <a:srgbClr val="CBD5E1"/>
                </a:solidFill>
              </a:rPr>
              <a:t>Patches générés, appliqués, re-scannés</a:t>
            </a:r>
            <a:endParaRPr lang="en-us" sz="1300" cap="none">
              <a:solidFill>
                <a:srgbClr val="CBD5E1"/>
              </a:solidFill>
            </a:endParaRPr>
          </a:p>
        </p:txBody>
      </p:sp>
      <p:sp>
        <p:nvSpPr>
          <p:cNvPr id="29" name="TextBox 28"/>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C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YAMAAKgnAAAgJQAAWCkAABAgAAAmAAAACAAAAP//////////"/>
              </a:ext>
            </a:extLst>
          </p:cNvSpPr>
          <p:nvPr/>
        </p:nvSpPr>
        <p:spPr>
          <a:xfrm>
            <a:off x="548640" y="6446520"/>
            <a:ext cx="5486400" cy="274320"/>
          </a:xfrm>
          <a:prstGeom prst="rect">
            <a:avLst/>
          </a:prstGeom>
          <a:noFill/>
          <a:ln>
            <a:noFill/>
          </a:ln>
          <a:effectLst/>
        </p:spPr>
        <p:txBody>
          <a:bodyPr vert="horz" wrap="square" lIns="0" tIns="0" rIns="0" bIns="0" numCol="1" spcCol="215900" anchor="t"/>
          <a:lstStyle/>
          <a:p>
            <a:pPr algn="l">
              <a:defRPr lang="en-us"/>
            </a:pPr>
            <a:r>
              <a:rPr lang="en-us" sz="1000" cap="none">
                <a:solidFill>
                  <a:srgbClr val="475569"/>
                </a:solidFill>
              </a:rPr>
              <a:t>MAS — Multi-Agent Security Scanner</a:t>
            </a:r>
            <a:endParaRPr lang="en-us" sz="1000" cap="none">
              <a:solidFill>
                <a:srgbClr val="475569"/>
              </a:solidFill>
            </a:endParaRPr>
          </a:p>
        </p:txBody>
      </p:sp>
      <p:sp>
        <p:nvSpPr>
          <p:cNvPr id="30" name="TextBox 29"/>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G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sEAAAKgnAABwRwAAWCkAABAgAAAmAAAACAAAAP//////////"/>
              </a:ext>
            </a:extLst>
          </p:cNvSpPr>
          <p:nvPr/>
        </p:nvSpPr>
        <p:spPr>
          <a:xfrm>
            <a:off x="10515600" y="6446520"/>
            <a:ext cx="1097280" cy="274320"/>
          </a:xfrm>
          <a:prstGeom prst="rect">
            <a:avLst/>
          </a:prstGeom>
          <a:noFill/>
          <a:ln>
            <a:noFill/>
          </a:ln>
          <a:effectLst/>
        </p:spPr>
        <p:txBody>
          <a:bodyPr vert="horz" wrap="square" lIns="0" tIns="0" rIns="0" bIns="0" numCol="1" spcCol="215900" anchor="t"/>
          <a:lstStyle/>
          <a:p>
            <a:pPr algn="r">
              <a:defRPr lang="en-us"/>
            </a:pPr>
            <a:r>
              <a:rPr lang="en-us" sz="1000" cap="none">
                <a:solidFill>
                  <a:srgbClr val="475569"/>
                </a:solidFill>
              </a:rPr>
              <a:t>2 / 11</a:t>
            </a:r>
            <a:endParaRPr lang="en-us" sz="1000" cap="none">
              <a:solidFill>
                <a:srgbClr val="475569"/>
              </a:solidFill>
            </a:endParaRPr>
          </a:p>
        </p:txBody>
      </p:sp>
    </p:spTree>
  </p:cSld>
  <p:clrMapOvr>
    <a:masterClrMapping/>
  </p:clrMapOvr>
  <p:timing>
    <p:tnLst>
      <p:par>
        <p:cTn id="1" dur="indefinite" restart="never" nodeType="tmRoot"/>
      </p:par>
    </p:tnLst>
  </p:timing>
</p:sld>
</file>

<file path=ppt/slides/slide3.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Rectangle 1"/>
          <p:cNvSpPr>
            <a:extLst>
              <a:ext uri="smNativeData">
                <pr:smNativeData xmlns:pr="smNativeData" xmlns="smNativeData" val="SMDATA_15_ceEnahMAAAAlAAAAZAAAAA0AAAAAkAAAAEgAAACQAAAASAAAAAAAAAABAAAAAAAAAAEAAABQAAAAAAAAAAAA4D8AAAAAAADgPwAAAAAAAOA/AAAAAAAA4D8AAAAAAADgPwAAAAAAAOA/AAAAAAAA4D8AAAAAAADgPwAAAAAAAOA/AAAAAAAA4D8CAAAAjAAAAAEAAAAAAAAA+Pr8ACxn1gAAAAAAAAAAAAAAAAAAAAAAAAAAAAAAAAAAAAAAZAAAAAEAAABAAAAAAAAAAJz///9aAAAAAAAAAAEAAABQAAAAMGjPAAAAAAAAAAAAAAAAAAAAAAAAAAAAAAAAAAAAAAAAAAAAAAAAAAAAAAAAAAAAAAAAAAAAAAAAAAAAFAAAADwAAAAAAAAAAAAAAEBtxAAP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Pr8ACxn1gAwaM8AAAAAAAAAAAAAAAAAAAAAAAAAAAAAAAAAAAAAAEBtxAB/f38A5+bmA8zMzADAwP8Af39/AAAAAAAAAAAAAAAAAAAAAAAAAAAAIQAAABgAAAAUAAAAAAAAAAAAAAAASwAAMCoAABAAAAAmAAAACAAAAP//////////"/>
              </a:ext>
            </a:extLst>
          </p:cNvSpPr>
          <p:nvPr/>
        </p:nvSpPr>
        <p:spPr>
          <a:xfrm>
            <a:off x="0" y="0"/>
            <a:ext cx="12192000" cy="6858000"/>
          </a:xfrm>
          <a:prstGeom prst="rect">
            <a:avLst/>
          </a:prstGeom>
          <a:solidFill>
            <a:srgbClr val="F8FAFC"/>
          </a:solidFill>
          <a:ln>
            <a:noFill/>
          </a:ln>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p>
        </p:txBody>
      </p:sp>
      <p:sp>
        <p:nvSpPr>
          <p:cNvPr id="3" name="Rectangle 2"/>
          <p:cNvSpPr>
            <a:extLst>
              <a:ext uri="smNativeData">
                <pr:smNativeData xmlns:pr="smNativeData" xmlns="smNativeData" val="SMDATA_15_ceEnahMAAAAlAAAAZAAAAA0AAAAAkAAAAEgAAACQAAAASAAAAAAAAAABAAAAAAAAAAEAAABQAAAAAAAAAAAA4D8AAAAAAADgPwAAAAAAAOA/AAAAAAAA4D8AAAAAAADgPwAAAAAAAOA/AAAAAAAA4D8AAAAAAADgPwAAAAAAAOA/AAAAAAAA4D8CAAAAjAAAAAEAAAAAAAAADZNzACxn1gAAAAAAAAAAAAAAAAAAAAAAAAAAAAAAAAAAAAAAZAAAAAEAAABAAAAAAAAAAJz///9aAAAAAAAAAAEAAABQAAAAMGjPAAAAAAAAAAAAAAAAAAAAAAAAAAAAAAAAAAAAAAAAAAAAAAAAAAAAAAAAAAAAAAAAAAAAAAAAAAAAFAAAADwAAAAAAAAAAAAAAEBtxAAP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DZNzACxn1gAwaM8AAAAAAAAAAAAAAAAAAAAAAAAAAAAAAAAAAAAAAEBtxAB/f38A5+bmA8zMzADAwP8Af39/AAAAAAAAAAAAAAAAAAAAAAAAAAAAIQAAABgAAAAUAAAAYAMAAIgCAAAwBgAA3gIAABAAAAAmAAAACAAAAP//////////"/>
              </a:ext>
            </a:extLst>
          </p:cNvSpPr>
          <p:nvPr/>
        </p:nvSpPr>
        <p:spPr>
          <a:xfrm>
            <a:off x="548640" y="411480"/>
            <a:ext cx="457200" cy="54610"/>
          </a:xfrm>
          <a:prstGeom prst="rect">
            <a:avLst/>
          </a:prstGeom>
          <a:solidFill>
            <a:srgbClr val="0D9373"/>
          </a:solidFill>
          <a:ln>
            <a:noFill/>
          </a:ln>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p>
        </p:txBody>
      </p:sp>
      <p:sp>
        <p:nvSpPr>
          <p:cNvPr id="4" name="TextBox 3"/>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YAMAABgDAABgMAAAEAUAABAgAAAmAAAACAAAAP//////////"/>
              </a:ext>
            </a:extLst>
          </p:cNvSpPr>
          <p:nvPr/>
        </p:nvSpPr>
        <p:spPr>
          <a:xfrm>
            <a:off x="548640" y="502920"/>
            <a:ext cx="7315200" cy="320040"/>
          </a:xfrm>
          <a:prstGeom prst="rect">
            <a:avLst/>
          </a:prstGeom>
          <a:noFill/>
          <a:ln>
            <a:noFill/>
          </a:ln>
          <a:effectLst/>
        </p:spPr>
        <p:txBody>
          <a:bodyPr vert="horz" wrap="square" lIns="0" tIns="0" rIns="0" bIns="0" numCol="1" spcCol="215900" anchor="t"/>
          <a:lstStyle/>
          <a:p>
            <a:pPr algn="l">
              <a:defRPr lang="en-us"/>
            </a:pPr>
            <a:r>
              <a:rPr lang="en-us" sz="1100" b="1" cap="none">
                <a:solidFill>
                  <a:srgbClr val="0D9373"/>
                </a:solidFill>
              </a:rPr>
              <a:t>02 · VUE D'ENSEMBLE</a:t>
            </a:r>
            <a:endParaRPr lang="en-us" sz="1100" b="1" cap="none">
              <a:solidFill>
                <a:srgbClr val="0D9373"/>
              </a:solidFill>
            </a:endParaRPr>
          </a:p>
        </p:txBody>
      </p:sp>
      <p:sp>
        <p:nvSpPr>
          <p:cNvPr id="5" name="TextBox 4"/>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YAMAAMgEAADgRgAASAkAABAgAAAmAAAACAAAAP//////////"/>
              </a:ext>
            </a:extLst>
          </p:cNvSpPr>
          <p:nvPr/>
        </p:nvSpPr>
        <p:spPr>
          <a:xfrm>
            <a:off x="548640" y="777240"/>
            <a:ext cx="10972800" cy="731520"/>
          </a:xfrm>
          <a:prstGeom prst="rect">
            <a:avLst/>
          </a:prstGeom>
          <a:noFill/>
          <a:ln>
            <a:noFill/>
          </a:ln>
          <a:effectLst/>
        </p:spPr>
        <p:txBody>
          <a:bodyPr vert="horz" wrap="square" lIns="0" tIns="0" rIns="0" bIns="0" numCol="1" spcCol="215900" anchor="t"/>
          <a:lstStyle/>
          <a:p>
            <a:pPr algn="l">
              <a:defRPr lang="en-us"/>
            </a:pPr>
            <a:r>
              <a:rPr lang="en-us" sz="3200" b="1" cap="none">
                <a:solidFill>
                  <a:srgbClr val="0F172A"/>
                </a:solidFill>
              </a:rPr>
              <a:t>Du dépôt au rapport, en 4 phases</a:t>
            </a:r>
            <a:endParaRPr lang="en-us" sz="3200" b="1" cap="none">
              <a:solidFill>
                <a:srgbClr val="0F172A"/>
              </a:solidFill>
            </a:endParaRPr>
          </a:p>
        </p:txBody>
      </p:sp>
      <p:sp>
        <p:nvSpPr>
          <p:cNvPr id="6" name="TextBox 5"/>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YAMAALgIAADgRgAAiAsAABAgAAAmAAAACAAAAP//////////"/>
              </a:ext>
            </a:extLst>
          </p:cNvSpPr>
          <p:nvPr/>
        </p:nvSpPr>
        <p:spPr>
          <a:xfrm>
            <a:off x="548640" y="1417320"/>
            <a:ext cx="10972800" cy="457200"/>
          </a:xfrm>
          <a:prstGeom prst="rect">
            <a:avLst/>
          </a:prstGeom>
          <a:noFill/>
          <a:ln>
            <a:noFill/>
          </a:ln>
          <a:effectLst/>
        </p:spPr>
        <p:txBody>
          <a:bodyPr vert="horz" wrap="square" lIns="0" tIns="0" rIns="0" bIns="0" numCol="1" spcCol="215900" anchor="t"/>
          <a:lstStyle/>
          <a:p>
            <a:pPr algn="l">
              <a:defRPr lang="en-us"/>
            </a:pPr>
            <a:r>
              <a:rPr lang="en-us" sz="1400" cap="none">
                <a:solidFill>
                  <a:srgbClr val="475569"/>
                </a:solidFill>
              </a:rPr>
              <a:t>Détection → analyse → patch → rapport. Tout est automatisé.</a:t>
            </a:r>
            <a:endParaRPr lang="en-us" sz="1400" cap="none">
              <a:solidFill>
                <a:srgbClr val="475569"/>
              </a:solidFill>
            </a:endParaRPr>
          </a:p>
        </p:txBody>
      </p:sp>
      <p:sp>
        <p:nvSpPr>
          <p:cNvPr id="7" name="Rounded Rectangle 6"/>
          <p:cNvSpPr>
            <a:extLst>
              <a:ext uri="smNativeData">
                <pr:smNativeData xmlns:pr="smNativeData" xmlns="smNativeData" val="SMDATA_15_ceEnahMAAAAlAAAAZQAAAA0AAAAAkAAAAEgAAACQAAAASAAAAAAAAAABAAAAAAAAAAEAAABQAAAAhbacS3FV1T8AAAAAAADwvwAAAAAAAOA/AAAAAAAA4D8AAAAAAADgPwAAAAAAAOA/AAAAAAAA4D8AAAAAAADgPwAAAAAAAOA/AAAAAAAA4D8CAAAAjAAAAAEAAAAAAAAA////ACxn1gAAAAAAAAAAAAAAAAAAAAAAAAAAAAAAAAAAAAAAZAAAAAEAAABAAAAAAAAAAJz///9aAAAAAAAAAAEAAABQAAAAMGjPAAAAAAAAAAAAAAAAAAAAAAAAAAAAAAAAAAAAAAAAAAAAAAAAAAAAAAAAAAAAAAAAAAAAAAAAAAAAFAAAADwAAAABAAAAAAAAAOLo8AAP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sFBws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Cxn1gAwaM8AAAAAAAAAAAAAAAAAAAAAAAAAAAAAAAAAAAAAAOLo8AB/f38A5+bmA8zMzADAwP8Af39/AAAAAAAAAAAAAAAAAAAAAAAAAAAAIQAAABgAAAAUAAAADAMAAIANAACkEwAAwCEAABAAAAAmAAAACAAAAP//////////"/>
              </a:ext>
            </a:extLst>
          </p:cNvSpPr>
          <p:nvPr/>
        </p:nvSpPr>
        <p:spPr>
          <a:xfrm>
            <a:off x="495300" y="2194560"/>
            <a:ext cx="2697480" cy="3291840"/>
          </a:xfrm>
          <a:prstGeom prst="roundRect">
            <a:avLst>
              <a:gd name="adj" fmla="val 16667"/>
            </a:avLst>
          </a:prstGeom>
          <a:solidFill>
            <a:srgbClr val="FFFFFF"/>
          </a:solidFill>
          <a:ln w="9525" cap="flat" cmpd="sng" algn="ctr">
            <a:solidFill>
              <a:srgbClr val="E2E8F0"/>
            </a:solidFill>
            <a:prstDash val="solid"/>
            <a:headEnd type="none"/>
            <a:tailEnd type="none"/>
          </a:ln>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p>
        </p:txBody>
      </p:sp>
      <p:sp>
        <p:nvSpPr>
          <p:cNvPr id="8" name="Rectangle 7"/>
          <p:cNvSpPr>
            <a:extLst>
              <a:ext uri="smNativeData">
                <pr:smNativeData xmlns:pr="smNativeData" xmlns="smNativeData" val="SMDATA_15_ceEnahMAAAAlAAAAZAAAAA0AAAAAkAAAAEgAAACQAAAASAAAAAAAAAABAAAAAAAAAAEAAABQAAAAAAAAAAAA4D8AAAAAAADgPwAAAAAAAOA/AAAAAAAA4D8AAAAAAADgPwAAAAAAAOA/AAAAAAAA4D8AAAAAAADgPwAAAAAAAOA/AAAAAAAA4D8CAAAAjAAAAAEAAAAAAAAADZNzACxn1gAAAAAAAAAAAAAAAAAAAAAAAAAAAAAAAAAAAAAAZAAAAAEAAABAAAAAAAAAAJz///9aAAAAAAAAAAEAAABQAAAAMGjPAAAAAAAAAAAAAAAAAAAAAAAAAAAAAAAAAAAAAAAAAAAAAAAAAAAAAAAAAAAAAAAAAAAAAAAAAAAAFAAAADwAAAAAAAAAAAAAAEBtxAAP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kGEgw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DZNzACxn1gAwaM8AAAAAAAAAAAAAAAAAAAAAAAAAAAAAAAAAAAAAAEBtxAB/f38A5+bmA8zMzADAwP8Af39/AAAAAAAAAAAAAAAAAAAAAAAAAAAAIQAAABgAAAAUAAAADAMAAIANAACkEwAAmBAAABAAAAAmAAAACAAAAP//////////"/>
              </a:ext>
            </a:extLst>
          </p:cNvSpPr>
          <p:nvPr/>
        </p:nvSpPr>
        <p:spPr>
          <a:xfrm>
            <a:off x="495300" y="2194560"/>
            <a:ext cx="2697480" cy="502920"/>
          </a:xfrm>
          <a:prstGeom prst="rect">
            <a:avLst/>
          </a:prstGeom>
          <a:solidFill>
            <a:srgbClr val="0D9373"/>
          </a:solidFill>
          <a:ln>
            <a:noFill/>
          </a:ln>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p>
        </p:txBody>
      </p:sp>
      <p:sp>
        <p:nvSpPr>
          <p:cNvPr id="9" name="TextBox 8"/>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KNdlG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vAQAABAOAAD0EQAAUBAAABAgAAAmAAAACAAAAP//////////"/>
              </a:ext>
            </a:extLst>
          </p:cNvSpPr>
          <p:nvPr/>
        </p:nvSpPr>
        <p:spPr>
          <a:xfrm>
            <a:off x="769620" y="2286000"/>
            <a:ext cx="2148840" cy="365760"/>
          </a:xfrm>
          <a:prstGeom prst="rect">
            <a:avLst/>
          </a:prstGeom>
          <a:noFill/>
          <a:ln>
            <a:noFill/>
          </a:ln>
          <a:effectLst/>
        </p:spPr>
        <p:txBody>
          <a:bodyPr vert="horz" wrap="square" lIns="0" tIns="0" rIns="0" bIns="0" numCol="1" spcCol="215900" anchor="t"/>
          <a:lstStyle/>
          <a:p>
            <a:pPr algn="l">
              <a:defRPr lang="en-us"/>
            </a:pPr>
            <a:r>
              <a:rPr lang="en-us" sz="1400" b="1" cap="none">
                <a:solidFill>
                  <a:srgbClr val="FFFFFF"/>
                </a:solidFill>
              </a:rPr>
              <a:t>01</a:t>
            </a:r>
            <a:endParaRPr lang="en-us" sz="1400" b="1" cap="none">
              <a:solidFill>
                <a:srgbClr val="FFFFFF"/>
              </a:solidFill>
            </a:endParaRPr>
          </a:p>
        </p:txBody>
      </p:sp>
      <p:sp>
        <p:nvSpPr>
          <p:cNvPr id="10" name="TextBox 9"/>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4XGw4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vAQAAEgSAAD0EQAAGBUAABAgAAAmAAAACAAAAP//////////"/>
              </a:ext>
            </a:extLst>
          </p:cNvSpPr>
          <p:nvPr/>
        </p:nvSpPr>
        <p:spPr>
          <a:xfrm>
            <a:off x="769620" y="2971800"/>
            <a:ext cx="2148840" cy="457200"/>
          </a:xfrm>
          <a:prstGeom prst="rect">
            <a:avLst/>
          </a:prstGeom>
          <a:noFill/>
          <a:ln>
            <a:noFill/>
          </a:ln>
          <a:effectLst/>
        </p:spPr>
        <p:txBody>
          <a:bodyPr vert="horz" wrap="square" lIns="0" tIns="0" rIns="0" bIns="0" numCol="1" spcCol="215900" anchor="t"/>
          <a:lstStyle/>
          <a:p>
            <a:pPr algn="l">
              <a:defRPr lang="en-us"/>
            </a:pPr>
            <a:r>
              <a:rPr lang="en-us" b="1" cap="none">
                <a:solidFill>
                  <a:srgbClr val="0F172A"/>
                </a:solidFill>
              </a:rPr>
              <a:t>Triage &amp; Scan</a:t>
            </a:r>
            <a:endParaRPr lang="en-us" b="1" cap="none">
              <a:solidFill>
                <a:srgbClr val="0F172A"/>
              </a:solidFill>
            </a:endParaRPr>
          </a:p>
        </p:txBody>
      </p:sp>
      <p:sp>
        <p:nvSpPr>
          <p:cNvPr id="11" name="TextBox 10"/>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CgqKh0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vAQAAPAVAAD0EQAAMCEAABAgAAAmAAAACAAAAP//////////"/>
              </a:ext>
            </a:extLst>
          </p:cNvSpPr>
          <p:nvPr/>
        </p:nvSpPr>
        <p:spPr>
          <a:xfrm>
            <a:off x="769620" y="3566160"/>
            <a:ext cx="2148840" cy="1828800"/>
          </a:xfrm>
          <a:prstGeom prst="rect">
            <a:avLst/>
          </a:prstGeom>
          <a:noFill/>
          <a:ln>
            <a:noFill/>
          </a:ln>
          <a:effectLst/>
        </p:spPr>
        <p:txBody>
          <a:bodyPr vert="horz" wrap="square" lIns="0" tIns="0" rIns="0" bIns="0" numCol="1" spcCol="215900" anchor="t"/>
          <a:lstStyle/>
          <a:p>
            <a:pPr algn="l">
              <a:defRPr lang="en-us"/>
            </a:pPr>
            <a:r>
              <a:rPr lang="en-us" sz="1200" cap="none">
                <a:solidFill>
                  <a:srgbClr val="475569"/>
                </a:solidFill>
              </a:rPr>
              <a:t>Détection multi-langage, Semgrep + Bandit +</a:t>
            </a:r>
            <a:endParaRPr lang="en-us" sz="1200" cap="none">
              <a:solidFill>
                <a:srgbClr val="475569"/>
              </a:solidFill>
            </a:endParaRPr>
          </a:p>
          <a:p>
            <a:pPr algn="l">
              <a:defRPr lang="en-us"/>
            </a:pPr>
            <a:r>
              <a:rPr lang="en-us" sz="1200" cap="none">
                <a:solidFill>
                  <a:srgbClr val="475569"/>
                </a:solidFill>
              </a:rPr>
              <a:t>Gosec + SpotBugs + PHPCS en parallèle.</a:t>
            </a:r>
            <a:endParaRPr lang="en-us" sz="1200" cap="none">
              <a:solidFill>
                <a:srgbClr val="475569"/>
              </a:solidFill>
            </a:endParaRPr>
          </a:p>
        </p:txBody>
      </p:sp>
      <p:sp>
        <p:nvSpPr>
          <p:cNvPr id="12" name="Rounded Rectangle 11"/>
          <p:cNvSpPr>
            <a:extLst>
              <a:ext uri="smNativeData">
                <pr:smNativeData xmlns:pr="smNativeData" xmlns="smNativeData" val="SMDATA_15_ceEnahMAAAAlAAAAZQAAAA0AAAAAkAAAAEgAAACQAAAASAAAAAAAAAABAAAAAAAAAAEAAABQAAAAhbacS3FV1T8AAAAAAADwvwAAAAAAAOA/AAAAAAAA4D8AAAAAAADgPwAAAAAAAOA/AAAAAAAA4D8AAAAAAADgPwAAAAAAAOA/AAAAAAAA4D8CAAAAjAAAAAEAAAAAAAAA////ACxn1gAAAAAAAAAAAAAAAAAAAAAAAAAAAAAAAAAAAAAAZAAAAAEAAABAAAAAAAAAAJz///9aAAAAAAAAAAEAAABQAAAAMGjPAAAAAAAAAAAAAAAAAAAAAAAAAAAAAAAAAAAAAAAAAAAAAAAAAAAAAAAAAAAAAAAAAAAAAAAAAAAAFAAAADwAAAABAAAAAAAAAOLo8AAP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NLm1s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Cxn1gAwaM8AAAAAAAAAAAAAAAAAAAAAAAAAAAAAAAAAAAAAAOLo8AB/f38A5+bmA8zMzADAwP8Af39/AAAAAAAAAAAAAAAAAAAAAAAAAAAAIQAAABgAAAAUAAAAfBQAAIANAAAUJQAAwCEAABAAAAAmAAAACAAAAP//////////"/>
              </a:ext>
            </a:extLst>
          </p:cNvSpPr>
          <p:nvPr/>
        </p:nvSpPr>
        <p:spPr>
          <a:xfrm>
            <a:off x="3329940" y="2194560"/>
            <a:ext cx="2697480" cy="3291840"/>
          </a:xfrm>
          <a:prstGeom prst="roundRect">
            <a:avLst>
              <a:gd name="adj" fmla="val 16667"/>
            </a:avLst>
          </a:prstGeom>
          <a:solidFill>
            <a:srgbClr val="FFFFFF"/>
          </a:solidFill>
          <a:ln w="9525" cap="flat" cmpd="sng" algn="ctr">
            <a:solidFill>
              <a:srgbClr val="E2E8F0"/>
            </a:solidFill>
            <a:prstDash val="solid"/>
            <a:headEnd type="none"/>
            <a:tailEnd type="none"/>
          </a:ln>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p>
        </p:txBody>
      </p:sp>
      <p:sp>
        <p:nvSpPr>
          <p:cNvPr id="13" name="Rectangle 12"/>
          <p:cNvSpPr>
            <a:extLst>
              <a:ext uri="smNativeData">
                <pr:smNativeData xmlns:pr="smNativeData" xmlns="smNativeData" val="SMDATA_15_ceEnahMAAAAlAAAAZAAAAA0AAAAAkAAAAEgAAACQAAAASAAAAAAAAAABAAAAAAAAAAEAAABQAAAAAAAAAAAA4D8AAAAAAADgPwAAAAAAAOA/AAAAAAAA4D8AAAAAAADgPwAAAAAAAOA/AAAAAAAA4D8AAAAAAADgPwAAAAAAAOA/AAAAAAAA4D8CAAAAjAAAAAEAAAAAAAAAGmuaACxn1gAAAAAAAAAAAAAAAAAAAAAAAAAAAAAAAAAAAAAAZAAAAAEAAABAAAAAAAAAAJz///9aAAAAAAAAAAEAAABQAAAAMGjPAAAAAAAAAAAAAAAAAAAAAAAAAAAAAAAAAAAAAAAAAAAAAAAAAAAAAAAAAAAAAAAAAAAAAAAAAAAAFAAAADwAAAAAAAAAAAAAAEBtxAAP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LLCcLI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GmuaACxn1gAwaM8AAAAAAAAAAAAAAAAAAAAAAAAAAAAAAAAAAAAAAEBtxAB/f38A5+bmA8zMzADAwP8Af39/AAAAAAAAAAAAAAAAAAAAAAAAAAAAIQAAABgAAAAUAAAAfBQAAIANAAAUJQAAmBAAABAAAAAmAAAACAAAAP//////////"/>
              </a:ext>
            </a:extLst>
          </p:cNvSpPr>
          <p:nvPr/>
        </p:nvSpPr>
        <p:spPr>
          <a:xfrm>
            <a:off x="3329940" y="2194560"/>
            <a:ext cx="2697480" cy="502920"/>
          </a:xfrm>
          <a:prstGeom prst="rect">
            <a:avLst/>
          </a:prstGeom>
          <a:solidFill>
            <a:srgbClr val="1A6B9A"/>
          </a:solidFill>
          <a:ln>
            <a:noFill/>
          </a:ln>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p>
        </p:txBody>
      </p:sp>
      <p:sp>
        <p:nvSpPr>
          <p:cNvPr id="14" name="TextBox 13"/>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cKDQc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LBYAABAOAABkIwAAUBAAABAgAAAmAAAACAAAAP//////////"/>
              </a:ext>
            </a:extLst>
          </p:cNvSpPr>
          <p:nvPr/>
        </p:nvSpPr>
        <p:spPr>
          <a:xfrm>
            <a:off x="3604260" y="2286000"/>
            <a:ext cx="2148840" cy="365760"/>
          </a:xfrm>
          <a:prstGeom prst="rect">
            <a:avLst/>
          </a:prstGeom>
          <a:noFill/>
          <a:ln>
            <a:noFill/>
          </a:ln>
          <a:effectLst/>
        </p:spPr>
        <p:txBody>
          <a:bodyPr vert="horz" wrap="square" lIns="0" tIns="0" rIns="0" bIns="0" numCol="1" spcCol="215900" anchor="t"/>
          <a:lstStyle/>
          <a:p>
            <a:pPr algn="l">
              <a:defRPr lang="en-us"/>
            </a:pPr>
            <a:r>
              <a:rPr lang="en-us" sz="1400" b="1" cap="none">
                <a:solidFill>
                  <a:srgbClr val="FFFFFF"/>
                </a:solidFill>
              </a:rPr>
              <a:t>02</a:t>
            </a:r>
            <a:endParaRPr lang="en-us" sz="1400" b="1" cap="none">
              <a:solidFill>
                <a:srgbClr val="FFFFFF"/>
              </a:solidFill>
            </a:endParaRPr>
          </a:p>
        </p:txBody>
      </p:sp>
      <p:sp>
        <p:nvSpPr>
          <p:cNvPr id="15" name="TextBox 14"/>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La71Lk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LBYAAEgSAABkIwAAGBUAABAgAAAmAAAACAAAAP//////////"/>
              </a:ext>
            </a:extLst>
          </p:cNvSpPr>
          <p:nvPr/>
        </p:nvSpPr>
        <p:spPr>
          <a:xfrm>
            <a:off x="3604260" y="2971800"/>
            <a:ext cx="2148840" cy="457200"/>
          </a:xfrm>
          <a:prstGeom prst="rect">
            <a:avLst/>
          </a:prstGeom>
          <a:noFill/>
          <a:ln>
            <a:noFill/>
          </a:ln>
          <a:effectLst/>
        </p:spPr>
        <p:txBody>
          <a:bodyPr vert="horz" wrap="square" lIns="0" tIns="0" rIns="0" bIns="0" numCol="1" spcCol="215900" anchor="t"/>
          <a:lstStyle/>
          <a:p>
            <a:pPr algn="l">
              <a:defRPr lang="en-us"/>
            </a:pPr>
            <a:r>
              <a:rPr lang="en-us" b="1" cap="none">
                <a:solidFill>
                  <a:srgbClr val="0F172A"/>
                </a:solidFill>
              </a:rPr>
              <a:t>Analyse IA</a:t>
            </a:r>
            <a:endParaRPr lang="en-us" b="1" cap="none">
              <a:solidFill>
                <a:srgbClr val="0F172A"/>
              </a:solidFill>
            </a:endParaRPr>
          </a:p>
        </p:txBody>
      </p:sp>
      <p:sp>
        <p:nvSpPr>
          <p:cNvPr id="16" name="TextBox 15"/>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K9upLM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LBYAAPAVAABkIwAAMCEAABAgAAAmAAAACAAAAP//////////"/>
              </a:ext>
            </a:extLst>
          </p:cNvSpPr>
          <p:nvPr/>
        </p:nvSpPr>
        <p:spPr>
          <a:xfrm>
            <a:off x="3604260" y="3566160"/>
            <a:ext cx="2148840" cy="1828800"/>
          </a:xfrm>
          <a:prstGeom prst="rect">
            <a:avLst/>
          </a:prstGeom>
          <a:noFill/>
          <a:ln>
            <a:noFill/>
          </a:ln>
          <a:effectLst/>
        </p:spPr>
        <p:txBody>
          <a:bodyPr vert="horz" wrap="square" lIns="0" tIns="0" rIns="0" bIns="0" numCol="1" spcCol="215900" anchor="t"/>
          <a:lstStyle/>
          <a:p>
            <a:pPr algn="l">
              <a:defRPr lang="en-us"/>
            </a:pPr>
            <a:r>
              <a:rPr lang="en-us" sz="1200" cap="none">
                <a:solidFill>
                  <a:srgbClr val="475569"/>
                </a:solidFill>
              </a:rPr>
              <a:t>Memory safety (Rust) + failles logiques (LLM 70B + RAG Qdrant).</a:t>
            </a:r>
            <a:endParaRPr lang="en-us" sz="1200" cap="none">
              <a:solidFill>
                <a:srgbClr val="475569"/>
              </a:solidFill>
            </a:endParaRPr>
          </a:p>
        </p:txBody>
      </p:sp>
      <p:sp>
        <p:nvSpPr>
          <p:cNvPr id="17" name="Rounded Rectangle 16"/>
          <p:cNvSpPr>
            <a:extLst>
              <a:ext uri="smNativeData">
                <pr:smNativeData xmlns:pr="smNativeData" xmlns="smNativeData" val="SMDATA_15_ceEnahMAAAAlAAAAZQAAAA0AAAAAkAAAAEgAAACQAAAASAAAAAAAAAABAAAAAAAAAAEAAABQAAAAhbacS3FV1T8AAAAAAADwvwAAAAAAAOA/AAAAAAAA4D8AAAAAAADgPwAAAAAAAOA/AAAAAAAA4D8AAAAAAADgPwAAAAAAAOA/AAAAAAAA4D8CAAAAjAAAAAEAAAAAAAAA////ACxn1gAAAAAAAAAAAAAAAAAAAAAAAAAAAAAAAAAAAAAAZAAAAAEAAABAAAAAAAAAAJz///9aAAAAAAAAAAEAAABQAAAAMGjPAAAAAAAAAAAAAAAAAAAAAAAAAAAAAAAAAAAAAAAAAAAAAAAAAAAAAAAAAAAAAAAAAAAAAAAAAAAAFAAAADwAAAABAAAAAAAAAOLo8AAP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C0eKSo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Cxn1gAwaM8AAAAAAAAAAAAAAAAAAAAAAAAAAAAAAAAAAAAAAOLo8AB/f38A5+bmA8zMzADAwP8Af39/AAAAAAAAAAAAAAAAAAAAAAAAAAAAIQAAABgAAAAUAAAA7CUAAIANAACENgAAwCEAABAAAAAmAAAACAAAAP//////////"/>
              </a:ext>
            </a:extLst>
          </p:cNvSpPr>
          <p:nvPr/>
        </p:nvSpPr>
        <p:spPr>
          <a:xfrm>
            <a:off x="6164580" y="2194560"/>
            <a:ext cx="2697480" cy="3291840"/>
          </a:xfrm>
          <a:prstGeom prst="roundRect">
            <a:avLst>
              <a:gd name="adj" fmla="val 16667"/>
            </a:avLst>
          </a:prstGeom>
          <a:solidFill>
            <a:srgbClr val="FFFFFF"/>
          </a:solidFill>
          <a:ln w="9525" cap="flat" cmpd="sng" algn="ctr">
            <a:solidFill>
              <a:srgbClr val="E2E8F0"/>
            </a:solidFill>
            <a:prstDash val="solid"/>
            <a:headEnd type="none"/>
            <a:tailEnd type="none"/>
          </a:ln>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p>
        </p:txBody>
      </p:sp>
      <p:sp>
        <p:nvSpPr>
          <p:cNvPr id="18" name="Rectangle 17"/>
          <p:cNvSpPr>
            <a:extLst>
              <a:ext uri="smNativeData">
                <pr:smNativeData xmlns:pr="smNativeData" xmlns="smNativeData" val="SMDATA_15_ceEnahMAAAAlAAAAZAAAAA0AAAAAkAAAAEgAAACQAAAASAAAAAAAAAABAAAAAAAAAAEAAABQAAAAAAAAAAAA4D8AAAAAAADgPwAAAAAAAOA/AAAAAAAA4D8AAAAAAADgPwAAAAAAAOA/AAAAAAAA4D8AAAAAAADgPwAAAAAAAOA/AAAAAAAA4D8CAAAAjAAAAAEAAAAAAAAAfDrtACxn1gAAAAAAAAAAAAAAAAAAAAAAAAAAAAAAAAAAAAAAZAAAAAEAAABAAAAAAAAAAJz///9aAAAAAAAAAAEAAABQAAAAMGjPAAAAAAAAAAAAAAAAAAAAAAAAAAAAAAAAAAAAAAAAAAAAAAAAAAAAAAAAAAAAAAAAAAAAAAAAAAAAFAAAADwAAAAAAAAAAAAAAEBtxAAP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HSwvHY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fDrtACxn1gAwaM8AAAAAAAAAAAAAAAAAAAAAAAAAAAAAAAAAAAAAAEBtxAB/f38A5+bmA8zMzADAwP8Af39/AAAAAAAAAAAAAAAAAAAAAAAAAAAAIQAAABgAAAAUAAAA7CUAAIANAACENgAAmBAAABAAAAAmAAAACAAAAP//////////"/>
              </a:ext>
            </a:extLst>
          </p:cNvSpPr>
          <p:nvPr/>
        </p:nvSpPr>
        <p:spPr>
          <a:xfrm>
            <a:off x="6164580" y="2194560"/>
            <a:ext cx="2697480" cy="502920"/>
          </a:xfrm>
          <a:prstGeom prst="rect">
            <a:avLst/>
          </a:prstGeom>
          <a:solidFill>
            <a:srgbClr val="7C3AED"/>
          </a:solidFill>
          <a:ln>
            <a:noFill/>
          </a:ln>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p>
        </p:txBody>
      </p:sp>
      <p:sp>
        <p:nvSpPr>
          <p:cNvPr id="19" name="TextBox 18"/>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C4xIC0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nCcAABAOAADUNAAAUBAAABAgAAAmAAAACAAAAP//////////"/>
              </a:ext>
            </a:extLst>
          </p:cNvSpPr>
          <p:nvPr/>
        </p:nvSpPr>
        <p:spPr>
          <a:xfrm>
            <a:off x="6438900" y="2286000"/>
            <a:ext cx="2148840" cy="365760"/>
          </a:xfrm>
          <a:prstGeom prst="rect">
            <a:avLst/>
          </a:prstGeom>
          <a:noFill/>
          <a:ln>
            <a:noFill/>
          </a:ln>
          <a:effectLst/>
        </p:spPr>
        <p:txBody>
          <a:bodyPr vert="horz" wrap="square" lIns="0" tIns="0" rIns="0" bIns="0" numCol="1" spcCol="215900" anchor="t"/>
          <a:lstStyle/>
          <a:p>
            <a:pPr algn="l">
              <a:defRPr lang="en-us"/>
            </a:pPr>
            <a:r>
              <a:rPr lang="en-us" sz="1400" b="1" cap="none">
                <a:solidFill>
                  <a:srgbClr val="FFFFFF"/>
                </a:solidFill>
              </a:rPr>
              <a:t>03</a:t>
            </a:r>
            <a:endParaRPr lang="en-us" sz="1400" b="1" cap="none">
              <a:solidFill>
                <a:srgbClr val="FFFFFF"/>
              </a:solidFill>
            </a:endParaRPr>
          </a:p>
        </p:txBody>
      </p:sp>
      <p:sp>
        <p:nvSpPr>
          <p:cNvPr id="20" name="TextBox 19"/>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Tl3vM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nCcAAEgSAADUNAAAGBUAABAgAAAmAAAACAAAAP//////////"/>
              </a:ext>
            </a:extLst>
          </p:cNvSpPr>
          <p:nvPr/>
        </p:nvSpPr>
        <p:spPr>
          <a:xfrm>
            <a:off x="6438900" y="2971800"/>
            <a:ext cx="2148840" cy="457200"/>
          </a:xfrm>
          <a:prstGeom prst="rect">
            <a:avLst/>
          </a:prstGeom>
          <a:noFill/>
          <a:ln>
            <a:noFill/>
          </a:ln>
          <a:effectLst/>
        </p:spPr>
        <p:txBody>
          <a:bodyPr vert="horz" wrap="square" lIns="0" tIns="0" rIns="0" bIns="0" numCol="1" spcCol="215900" anchor="t"/>
          <a:lstStyle/>
          <a:p>
            <a:pPr algn="l">
              <a:defRPr lang="en-us"/>
            </a:pPr>
            <a:r>
              <a:rPr lang="en-us" b="1" cap="none">
                <a:solidFill>
                  <a:srgbClr val="0F172A"/>
                </a:solidFill>
              </a:rPr>
              <a:t>Scoring &amp; Patch</a:t>
            </a:r>
            <a:endParaRPr lang="en-us" b="1" cap="none">
              <a:solidFill>
                <a:srgbClr val="0F172A"/>
              </a:solidFill>
            </a:endParaRPr>
          </a:p>
        </p:txBody>
      </p:sp>
      <p:sp>
        <p:nvSpPr>
          <p:cNvPr id="21" name="TextBox 20"/>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sOBws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nCcAAPAVAADUNAAAMCEAABAgAAAmAAAACAAAAP//////////"/>
              </a:ext>
            </a:extLst>
          </p:cNvSpPr>
          <p:nvPr/>
        </p:nvSpPr>
        <p:spPr>
          <a:xfrm>
            <a:off x="6438900" y="3566160"/>
            <a:ext cx="2148840" cy="1828800"/>
          </a:xfrm>
          <a:prstGeom prst="rect">
            <a:avLst/>
          </a:prstGeom>
          <a:noFill/>
          <a:ln>
            <a:noFill/>
          </a:ln>
          <a:effectLst/>
        </p:spPr>
        <p:txBody>
          <a:bodyPr vert="horz" wrap="square" lIns="0" tIns="0" rIns="0" bIns="0" numCol="1" spcCol="215900" anchor="t"/>
          <a:lstStyle/>
          <a:p>
            <a:pPr algn="l">
              <a:defRPr lang="en-us"/>
            </a:pPr>
            <a:r>
              <a:rPr lang="en-us" sz="1200" cap="none">
                <a:solidFill>
                  <a:srgbClr val="475569"/>
                </a:solidFill>
              </a:rPr>
              <a:t>CVSS 3.1, exploitabilité, unified diff généré</a:t>
            </a:r>
            <a:endParaRPr lang="en-us" sz="1200" cap="none">
              <a:solidFill>
                <a:srgbClr val="475569"/>
              </a:solidFill>
            </a:endParaRPr>
          </a:p>
          <a:p>
            <a:pPr algn="l">
              <a:defRPr lang="en-us"/>
            </a:pPr>
            <a:r>
              <a:rPr lang="en-us" sz="1200" cap="none">
                <a:solidFill>
                  <a:srgbClr val="475569"/>
                </a:solidFill>
              </a:rPr>
              <a:t>par LLM si exploitable.</a:t>
            </a:r>
            <a:endParaRPr lang="en-us" sz="1200" cap="none">
              <a:solidFill>
                <a:srgbClr val="475569"/>
              </a:solidFill>
            </a:endParaRPr>
          </a:p>
        </p:txBody>
      </p:sp>
      <p:sp>
        <p:nvSpPr>
          <p:cNvPr id="22" name="Rounded Rectangle 21"/>
          <p:cNvSpPr>
            <a:extLst>
              <a:ext uri="smNativeData">
                <pr:smNativeData xmlns:pr="smNativeData" xmlns="smNativeData" val="SMDATA_15_ceEnahMAAAAlAAAAZQAAAA0AAAAAkAAAAEgAAACQAAAASAAAAAAAAAABAAAAAAAAAAEAAABQAAAAhbacS3FV1T8AAAAAAADwvwAAAAAAAOA/AAAAAAAA4D8AAAAAAADgPwAAAAAAAOA/AAAAAAAA4D8AAAAAAADgPwAAAAAAAOA/AAAAAAAA4D8CAAAAjAAAAAEAAAAAAAAA////ACxn1gAAAAAAAAAAAAAAAAAAAAAAAAAAAAAAAAAAAAAAZAAAAAEAAABAAAAAAAAAAJz///9aAAAAAAAAAAEAAABQAAAAMGjPAAAAAAAAAAAAAAAAAAAAAAAAAAAAAAAAAAAAAAAAAAAAAAAAAAAAAAAAAAAAAAAAAAAAAAAAAAAAFAAAADwAAAABAAAAAAAAAOLo8AAP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MGkcpU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Cxn1gAwaM8AAAAAAAAAAAAAAAAAAAAAAAAAAAAAAAAAAAAAAOLo8AB/f38A5+bmA8zMzADAwP8Af39/AAAAAAAAAAAAAAAAAAAAAAAAAAAAIQAAABgAAAAUAAAAXDcAAIANAAD0RwAAwCEAABAAAAAmAAAACAAAAP//////////"/>
              </a:ext>
            </a:extLst>
          </p:cNvSpPr>
          <p:nvPr/>
        </p:nvSpPr>
        <p:spPr>
          <a:xfrm>
            <a:off x="8999220" y="2194560"/>
            <a:ext cx="2697480" cy="3291840"/>
          </a:xfrm>
          <a:prstGeom prst="roundRect">
            <a:avLst>
              <a:gd name="adj" fmla="val 16667"/>
            </a:avLst>
          </a:prstGeom>
          <a:solidFill>
            <a:srgbClr val="FFFFFF"/>
          </a:solidFill>
          <a:ln w="9525" cap="flat" cmpd="sng" algn="ctr">
            <a:solidFill>
              <a:srgbClr val="E2E8F0"/>
            </a:solidFill>
            <a:prstDash val="solid"/>
            <a:headEnd type="none"/>
            <a:tailEnd type="none"/>
          </a:ln>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p>
        </p:txBody>
      </p:sp>
      <p:sp>
        <p:nvSpPr>
          <p:cNvPr id="23" name="Rectangle 22"/>
          <p:cNvSpPr>
            <a:extLst>
              <a:ext uri="smNativeData">
                <pr:smNativeData xmlns:pr="smNativeData" xmlns="smNativeData" val="SMDATA_15_ceEnahMAAAAlAAAAZAAAAA0AAAAAkAAAAEgAAACQAAAASAAAAAAAAAABAAAAAAAAAAEAAABQAAAAAAAAAAAA4D8AAAAAAADgPwAAAAAAAOA/AAAAAAAA4D8AAAAAAADgPwAAAAAAAOA/AAAAAAAA4D8AAAAAAADgPwAAAAAAAOA/AAAAAAAA4D8CAAAAjAAAAAEAAAAAAAAAtFMJACxn1gAAAAAAAAAAAAAAAAAAAAAAAAAAAAAAAAAAAAAAZAAAAAEAAABAAAAAAAAAAJz///9aAAAAAAAAAAEAAABQAAAAMGjPAAAAAAAAAAAAAAAAAAAAAAAAAAAAAAAAAAAAAAAAAAAAAAAAAAAAAAAAAAAAAAAAAAAAAAAAAAAAFAAAADwAAAAAAAAAAAAAAEBtxAAP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BYbDxc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FMJACxn1gAwaM8AAAAAAAAAAAAAAAAAAAAAAAAAAAAAAAAAAAAAAEBtxAB/f38A5+bmA8zMzADAwP8Af39/AAAAAAAAAAAAAAAAAAAAAAAAAAAAIQAAABgAAAAUAAAAXDcAAIANAAD0RwAAmBAAABAAAAAmAAAACAAAAP//////////"/>
              </a:ext>
            </a:extLst>
          </p:cNvSpPr>
          <p:nvPr/>
        </p:nvSpPr>
        <p:spPr>
          <a:xfrm>
            <a:off x="8999220" y="2194560"/>
            <a:ext cx="2697480" cy="502920"/>
          </a:xfrm>
          <a:prstGeom prst="rect">
            <a:avLst/>
          </a:prstGeom>
          <a:solidFill>
            <a:srgbClr val="B45309"/>
          </a:solidFill>
          <a:ln>
            <a:noFill/>
          </a:ln>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p>
        </p:txBody>
      </p:sp>
      <p:sp>
        <p:nvSpPr>
          <p:cNvPr id="24" name="TextBox 23"/>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GafrVQ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DDkAABAOAABERgAAUBAAABAgAAAmAAAACAAAAP//////////"/>
              </a:ext>
            </a:extLst>
          </p:cNvSpPr>
          <p:nvPr/>
        </p:nvSpPr>
        <p:spPr>
          <a:xfrm>
            <a:off x="9273540" y="2286000"/>
            <a:ext cx="2148840" cy="365760"/>
          </a:xfrm>
          <a:prstGeom prst="rect">
            <a:avLst/>
          </a:prstGeom>
          <a:noFill/>
          <a:ln>
            <a:noFill/>
          </a:ln>
          <a:effectLst/>
        </p:spPr>
        <p:txBody>
          <a:bodyPr vert="horz" wrap="square" lIns="0" tIns="0" rIns="0" bIns="0" numCol="1" spcCol="215900" anchor="t"/>
          <a:lstStyle/>
          <a:p>
            <a:pPr algn="l">
              <a:defRPr lang="en-us"/>
            </a:pPr>
            <a:r>
              <a:rPr lang="en-us" sz="1400" b="1" cap="none">
                <a:solidFill>
                  <a:srgbClr val="FFFFFF"/>
                </a:solidFill>
              </a:rPr>
              <a:t>04</a:t>
            </a:r>
            <a:endParaRPr lang="en-us" sz="1400" b="1" cap="none">
              <a:solidFill>
                <a:srgbClr val="FFFFFF"/>
              </a:solidFill>
            </a:endParaRPr>
          </a:p>
        </p:txBody>
      </p:sp>
      <p:sp>
        <p:nvSpPr>
          <p:cNvPr id="25" name="TextBox 24"/>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JBTh5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DDkAAEgSAABERgAAGBUAABAgAAAmAAAACAAAAP//////////"/>
              </a:ext>
            </a:extLst>
          </p:cNvSpPr>
          <p:nvPr/>
        </p:nvSpPr>
        <p:spPr>
          <a:xfrm>
            <a:off x="9273540" y="2971800"/>
            <a:ext cx="2148840" cy="457200"/>
          </a:xfrm>
          <a:prstGeom prst="rect">
            <a:avLst/>
          </a:prstGeom>
          <a:noFill/>
          <a:ln>
            <a:noFill/>
          </a:ln>
          <a:effectLst/>
        </p:spPr>
        <p:txBody>
          <a:bodyPr vert="horz" wrap="square" lIns="0" tIns="0" rIns="0" bIns="0" numCol="1" spcCol="215900" anchor="t"/>
          <a:lstStyle/>
          <a:p>
            <a:pPr algn="l">
              <a:defRPr lang="en-us"/>
            </a:pPr>
            <a:r>
              <a:rPr lang="en-us" b="1" cap="none">
                <a:solidFill>
                  <a:srgbClr val="0F172A"/>
                </a:solidFill>
              </a:rPr>
              <a:t>Validation</a:t>
            </a:r>
            <a:endParaRPr lang="en-us" b="1" cap="none">
              <a:solidFill>
                <a:srgbClr val="0F172A"/>
              </a:solidFill>
            </a:endParaRPr>
          </a:p>
        </p:txBody>
      </p:sp>
      <p:sp>
        <p:nvSpPr>
          <p:cNvPr id="26" name="TextBox 25"/>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NDI4N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DDkAAPAVAABERgAAMCEAABAgAAAmAAAACAAAAP//////////"/>
              </a:ext>
            </a:extLst>
          </p:cNvSpPr>
          <p:nvPr/>
        </p:nvSpPr>
        <p:spPr>
          <a:xfrm>
            <a:off x="9273540" y="3566160"/>
            <a:ext cx="2148840" cy="1828800"/>
          </a:xfrm>
          <a:prstGeom prst="rect">
            <a:avLst/>
          </a:prstGeom>
          <a:noFill/>
          <a:ln>
            <a:noFill/>
          </a:ln>
          <a:effectLst/>
        </p:spPr>
        <p:txBody>
          <a:bodyPr vert="horz" wrap="square" lIns="0" tIns="0" rIns="0" bIns="0" numCol="1" spcCol="215900" anchor="t"/>
          <a:lstStyle/>
          <a:p>
            <a:pPr algn="l">
              <a:defRPr lang="en-us"/>
            </a:pPr>
            <a:r>
              <a:rPr lang="en-us" sz="1200" cap="none">
                <a:solidFill>
                  <a:srgbClr val="475569"/>
                </a:solidFill>
              </a:rPr>
              <a:t>Application du diff, re-scan, retry × 3.</a:t>
            </a:r>
            <a:endParaRPr lang="en-us" sz="1200" cap="none">
              <a:solidFill>
                <a:srgbClr val="475569"/>
              </a:solidFill>
            </a:endParaRPr>
          </a:p>
          <a:p>
            <a:pPr algn="l">
              <a:defRPr lang="en-us"/>
            </a:pPr>
            <a:r>
              <a:rPr lang="en-us" sz="1200" cap="none">
                <a:solidFill>
                  <a:srgbClr val="475569"/>
                </a:solidFill>
              </a:rPr>
              <a:t>Rapport JSON final.</a:t>
            </a:r>
            <a:endParaRPr lang="en-us" sz="1200" cap="none">
              <a:solidFill>
                <a:srgbClr val="475569"/>
              </a:solidFill>
            </a:endParaRPr>
          </a:p>
        </p:txBody>
      </p:sp>
      <p:sp>
        <p:nvSpPr>
          <p:cNvPr id="27" name="TextBox 26"/>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La7d7Q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YAMAAKgnAAAgJQAAWCkAABAgAAAmAAAACAAAAP//////////"/>
              </a:ext>
            </a:extLst>
          </p:cNvSpPr>
          <p:nvPr/>
        </p:nvSpPr>
        <p:spPr>
          <a:xfrm>
            <a:off x="548640" y="6446520"/>
            <a:ext cx="5486400" cy="274320"/>
          </a:xfrm>
          <a:prstGeom prst="rect">
            <a:avLst/>
          </a:prstGeom>
          <a:noFill/>
          <a:ln>
            <a:noFill/>
          </a:ln>
          <a:effectLst/>
        </p:spPr>
        <p:txBody>
          <a:bodyPr vert="horz" wrap="square" lIns="0" tIns="0" rIns="0" bIns="0" numCol="1" spcCol="215900" anchor="t"/>
          <a:lstStyle/>
          <a:p>
            <a:pPr algn="l">
              <a:defRPr lang="en-us"/>
            </a:pPr>
            <a:r>
              <a:rPr lang="en-us" sz="1000" cap="none">
                <a:solidFill>
                  <a:srgbClr val="475569"/>
                </a:solidFill>
              </a:rPr>
              <a:t>MAS — Multi-Agent Security Scanner</a:t>
            </a:r>
            <a:endParaRPr lang="en-us" sz="1000" cap="none">
              <a:solidFill>
                <a:srgbClr val="475569"/>
              </a:solidFill>
            </a:endParaRPr>
          </a:p>
        </p:txBody>
      </p:sp>
      <p:sp>
        <p:nvSpPr>
          <p:cNvPr id="28" name="TextBox 27"/>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QICwQ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sEAAAKgnAABwRwAAWCkAABAgAAAmAAAACAAAAP//////////"/>
              </a:ext>
            </a:extLst>
          </p:cNvSpPr>
          <p:nvPr/>
        </p:nvSpPr>
        <p:spPr>
          <a:xfrm>
            <a:off x="10515600" y="6446520"/>
            <a:ext cx="1097280" cy="274320"/>
          </a:xfrm>
          <a:prstGeom prst="rect">
            <a:avLst/>
          </a:prstGeom>
          <a:noFill/>
          <a:ln>
            <a:noFill/>
          </a:ln>
          <a:effectLst/>
        </p:spPr>
        <p:txBody>
          <a:bodyPr vert="horz" wrap="square" lIns="0" tIns="0" rIns="0" bIns="0" numCol="1" spcCol="215900" anchor="t"/>
          <a:lstStyle/>
          <a:p>
            <a:pPr algn="r">
              <a:defRPr lang="en-us"/>
            </a:pPr>
            <a:r>
              <a:rPr lang="en-us" sz="1000" cap="none">
                <a:solidFill>
                  <a:srgbClr val="475569"/>
                </a:solidFill>
              </a:rPr>
              <a:t>3 / 11</a:t>
            </a:r>
            <a:endParaRPr lang="en-us" sz="1000" cap="none">
              <a:solidFill>
                <a:srgbClr val="475569"/>
              </a:solidFill>
            </a:endParaRPr>
          </a:p>
        </p:txBody>
      </p:sp>
    </p:spTree>
  </p:cSld>
  <p:clrMapOvr>
    <a:masterClrMapping/>
  </p:clrMapOvr>
  <p:timing>
    <p:tnLst>
      <p:par>
        <p:cTn id="1" dur="indefinite" restart="never" nodeType="tmRoot"/>
      </p:par>
    </p:tnLst>
  </p:timing>
</p:sld>
</file>

<file path=ppt/slides/slide4.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Rectangle 1"/>
          <p:cNvSpPr>
            <a:extLst>
              <a:ext uri="smNativeData">
                <pr:smNativeData xmlns:pr="smNativeData" xmlns="smNativeData" val="SMDATA_15_ceEnahMAAAAlAAAAZAAAAA0AAAAAkAAAAEgAAACQAAAASAAAAAAAAAABAAAAAAAAAAEAAABQAAAAAAAAAAAA4D8AAAAAAADgPwAAAAAAAOA/AAAAAAAA4D8AAAAAAADgPwAAAAAAAOA/AAAAAAAA4D8AAAAAAADgPwAAAAAAAOA/AAAAAAAA4D8CAAAAjAAAAAEAAAAAAAAA+Pr8ACxn1gAAAAAAAAAAAAAAAAAAAAAAAAAAAAAAAAAAAAAAZAAAAAEAAABAAAAAAAAAAJz///9aAAAAAAAAAAEAAABQAAAAMGjPAAAAAAAAAAAAAAAAAAAAAAAAAAAAAAAAAAAAAAAAAAAAAAAAAAAAAAAAAAAAAAAAAAAAAAAAAAAAFAAAADwAAAAAAAAAAAAAAEBtxAAP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Pr8ACxn1gAwaM8AAAAAAAAAAAAAAAAAAAAAAAAAAAAAAAAAAAAAAEBtxAB/f38A5+bmA8zMzADAwP8Af39/AAAAAAAAAAAAAAAAAAAAAAAAAAAAIQAAABgAAAAUAAAAAAAAAAAAAAAASwAAMCoAABAAAAAmAAAACAAAAP//////////"/>
              </a:ext>
            </a:extLst>
          </p:cNvSpPr>
          <p:nvPr/>
        </p:nvSpPr>
        <p:spPr>
          <a:xfrm>
            <a:off x="0" y="0"/>
            <a:ext cx="12192000" cy="6858000"/>
          </a:xfrm>
          <a:prstGeom prst="rect">
            <a:avLst/>
          </a:prstGeom>
          <a:solidFill>
            <a:srgbClr val="F8FAFC"/>
          </a:solidFill>
          <a:ln>
            <a:noFill/>
          </a:ln>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p>
        </p:txBody>
      </p:sp>
      <p:sp>
        <p:nvSpPr>
          <p:cNvPr id="3" name="Rectangle 2"/>
          <p:cNvSpPr>
            <a:extLst>
              <a:ext uri="smNativeData">
                <pr:smNativeData xmlns:pr="smNativeData" xmlns="smNativeData" val="SMDATA_15_ceEnahMAAAAlAAAAZAAAAA0AAAAAkAAAAEgAAACQAAAASAAAAAAAAAABAAAAAAAAAAEAAABQAAAAAAAAAAAA4D8AAAAAAADgPwAAAAAAAOA/AAAAAAAA4D8AAAAAAADgPwAAAAAAAOA/AAAAAAAA4D8AAAAAAADgPwAAAAAAAOA/AAAAAAAA4D8CAAAAjAAAAAEAAAAAAAAADZNzACxn1gAAAAAAAAAAAAAAAAAAAAAAAAAAAAAAAAAAAAAAZAAAAAEAAABAAAAAAAAAAJz///9aAAAAAAAAAAEAAABQAAAAMGjPAAAAAAAAAAAAAAAAAAAAAAAAAAAAAAAAAAAAAAAAAAAAAAAAAAAAAAAAAAAAAAAAAAAAAAAAAAAAFAAAADwAAAAAAAAAAAAAAEBtxAAP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NLo2d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DZNzACxn1gAwaM8AAAAAAAAAAAAAAAAAAAAAAAAAAAAAAAAAAAAAAEBtxAB/f38A5+bmA8zMzADAwP8Af39/AAAAAAAAAAAAAAAAAAAAAAAAAAAAIQAAABgAAAAUAAAAYAMAAIgCAAAwBgAA3gIAABAAAAAmAAAACAAAAP//////////"/>
              </a:ext>
            </a:extLst>
          </p:cNvSpPr>
          <p:nvPr/>
        </p:nvSpPr>
        <p:spPr>
          <a:xfrm>
            <a:off x="548640" y="411480"/>
            <a:ext cx="457200" cy="54610"/>
          </a:xfrm>
          <a:prstGeom prst="rect">
            <a:avLst/>
          </a:prstGeom>
          <a:solidFill>
            <a:srgbClr val="0D9373"/>
          </a:solidFill>
          <a:ln>
            <a:noFill/>
          </a:ln>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p>
        </p:txBody>
      </p:sp>
      <p:sp>
        <p:nvSpPr>
          <p:cNvPr id="4" name="TextBox 3"/>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JOqWo4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YAMAABgDAABgMAAAEAUAABAgAAAmAAAACAAAAP//////////"/>
              </a:ext>
            </a:extLst>
          </p:cNvSpPr>
          <p:nvPr/>
        </p:nvSpPr>
        <p:spPr>
          <a:xfrm>
            <a:off x="548640" y="502920"/>
            <a:ext cx="7315200" cy="320040"/>
          </a:xfrm>
          <a:prstGeom prst="rect">
            <a:avLst/>
          </a:prstGeom>
          <a:noFill/>
          <a:ln>
            <a:noFill/>
          </a:ln>
          <a:effectLst/>
        </p:spPr>
        <p:txBody>
          <a:bodyPr vert="horz" wrap="square" lIns="0" tIns="0" rIns="0" bIns="0" numCol="1" spcCol="215900" anchor="t"/>
          <a:lstStyle/>
          <a:p>
            <a:pPr algn="l">
              <a:defRPr lang="en-us"/>
            </a:pPr>
            <a:r>
              <a:rPr lang="en-us" sz="1100" b="1" cap="none">
                <a:solidFill>
                  <a:srgbClr val="0D9373"/>
                </a:solidFill>
              </a:rPr>
              <a:t>03 · ARCHITECTURE</a:t>
            </a:r>
            <a:endParaRPr lang="en-us" sz="1100" b="1" cap="none">
              <a:solidFill>
                <a:srgbClr val="0D9373"/>
              </a:solidFill>
            </a:endParaRPr>
          </a:p>
        </p:txBody>
      </p:sp>
      <p:sp>
        <p:nvSpPr>
          <p:cNvPr id="5" name="TextBox 4"/>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kMBgo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YAMAAMgEAADgRgAASAkAABAgAAAmAAAACAAAAP//////////"/>
              </a:ext>
            </a:extLst>
          </p:cNvSpPr>
          <p:nvPr/>
        </p:nvSpPr>
        <p:spPr>
          <a:xfrm>
            <a:off x="548640" y="777240"/>
            <a:ext cx="10972800" cy="731520"/>
          </a:xfrm>
          <a:prstGeom prst="rect">
            <a:avLst/>
          </a:prstGeom>
          <a:noFill/>
          <a:ln>
            <a:noFill/>
          </a:ln>
          <a:effectLst/>
        </p:spPr>
        <p:txBody>
          <a:bodyPr vert="horz" wrap="square" lIns="0" tIns="0" rIns="0" bIns="0" numCol="1" spcCol="215900" anchor="t"/>
          <a:lstStyle/>
          <a:p>
            <a:pPr algn="l">
              <a:defRPr lang="en-us"/>
            </a:pPr>
            <a:r>
              <a:rPr lang="en-us" sz="3200" b="1" cap="none">
                <a:solidFill>
                  <a:srgbClr val="0F172A"/>
                </a:solidFill>
              </a:rPr>
              <a:t>Vue technique des blocs</a:t>
            </a:r>
            <a:endParaRPr lang="en-us" sz="3200" b="1" cap="none">
              <a:solidFill>
                <a:srgbClr val="0F172A"/>
              </a:solidFill>
            </a:endParaRPr>
          </a:p>
        </p:txBody>
      </p:sp>
      <p:sp>
        <p:nvSpPr>
          <p:cNvPr id="6" name="TextBox 5"/>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OLSmms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YAMAALgIAADgRgAAiAsAABAgAAAmAAAACAAAAP//////////"/>
              </a:ext>
            </a:extLst>
          </p:cNvSpPr>
          <p:nvPr/>
        </p:nvSpPr>
        <p:spPr>
          <a:xfrm>
            <a:off x="548640" y="1417320"/>
            <a:ext cx="10972800" cy="457200"/>
          </a:xfrm>
          <a:prstGeom prst="rect">
            <a:avLst/>
          </a:prstGeom>
          <a:noFill/>
          <a:ln>
            <a:noFill/>
          </a:ln>
          <a:effectLst/>
        </p:spPr>
        <p:txBody>
          <a:bodyPr vert="horz" wrap="square" lIns="0" tIns="0" rIns="0" bIns="0" numCol="1" spcCol="215900" anchor="t"/>
          <a:lstStyle/>
          <a:p>
            <a:pPr algn="l">
              <a:defRPr lang="en-us"/>
            </a:pPr>
            <a:r>
              <a:rPr lang="en-us" sz="1400" cap="none">
                <a:solidFill>
                  <a:srgbClr val="475569"/>
                </a:solidFill>
              </a:rPr>
              <a:t>FastAPI → LangGraph → 8 agents → outils &amp; LLM &amp; mémoire.</a:t>
            </a:r>
            <a:endParaRPr lang="en-us" sz="1400" cap="none">
              <a:solidFill>
                <a:srgbClr val="475569"/>
              </a:solidFill>
            </a:endParaRPr>
          </a:p>
        </p:txBody>
      </p:sp>
      <p:sp>
        <p:nvSpPr>
          <p:cNvPr id="7" name="Rounded Rectangle 6"/>
          <p:cNvSpPr>
            <a:extLst>
              <a:ext uri="smNativeData">
                <pr:smNativeData xmlns:pr="smNativeData" xmlns="smNativeData" val="SMDATA_15_ceEnahMAAAAlAAAAZQAAAA0AAAAAkAAAAEgAAACQAAAASAAAAAAAAAABAAAAAAAAAAEAAABQAAAAhbacS3FV1T8AAAAAAADwvwAAAAAAAOA/AAAAAAAA4D8AAAAAAADgPwAAAAAAAOA/AAAAAAAA4D8AAAAAAADgPwAAAAAAAOA/AAAAAAAA4D8CAAAAjAAAAAEAAAAAAAAA////ACxn1gAAAAAAAAAAAAAAAAAAAAAAAAAAAAAAAAAAAAAAZAAAAAEAAABAAAAAAAAAAJz///9aAAAAAAAAAAEAAABQAAAAMGjPAAAAAAAAAAAAAAAAAAAAAAAAAAAAAAAAAAAAAAAAAAAAAAAAAAAAAAAAAAAAAAAAAAAAAAAAAAAAFAAAADwAAAABAAAAAAAAAOLo8AAP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B0uMh0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Cxn1gAwaM8AAAAAAAAAAAAAAAAAAAAAAAAAAAAAAAAAAAAAAOLo8AB/f38A5+bmA8zMzADAwP8Af39/AAAAAAAAAAAAAAAAAAAAAAAAAAAAIQAAABgAAAAUAAAAYAMAAPAMAACbRwAASBIAABAAAAAmAAAACAAAAP//////////"/>
              </a:ext>
            </a:extLst>
          </p:cNvSpPr>
          <p:nvPr/>
        </p:nvSpPr>
        <p:spPr>
          <a:xfrm>
            <a:off x="548640" y="2103120"/>
            <a:ext cx="11091545" cy="868680"/>
          </a:xfrm>
          <a:prstGeom prst="roundRect">
            <a:avLst>
              <a:gd name="adj" fmla="val 16667"/>
            </a:avLst>
          </a:prstGeom>
          <a:solidFill>
            <a:srgbClr val="FFFFFF"/>
          </a:solidFill>
          <a:ln w="9525" cap="flat" cmpd="sng" algn="ctr">
            <a:solidFill>
              <a:srgbClr val="E2E8F0"/>
            </a:solidFill>
            <a:prstDash val="solid"/>
            <a:headEnd type="none"/>
            <a:tailEnd type="none"/>
          </a:ln>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p>
        </p:txBody>
      </p:sp>
      <p:sp>
        <p:nvSpPr>
          <p:cNvPr id="8" name="TextBox 8"/>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KiAqg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EAUAAMgNAADrRQAACBAAABAgAAAmAAAACAAAAP//////////"/>
              </a:ext>
            </a:extLst>
          </p:cNvSpPr>
          <p:nvPr/>
        </p:nvSpPr>
        <p:spPr>
          <a:xfrm>
            <a:off x="822960" y="2240280"/>
            <a:ext cx="10542905" cy="365760"/>
          </a:xfrm>
          <a:prstGeom prst="rect">
            <a:avLst/>
          </a:prstGeom>
          <a:noFill/>
          <a:ln>
            <a:noFill/>
          </a:ln>
          <a:effectLst/>
        </p:spPr>
        <p:txBody>
          <a:bodyPr vert="horz" wrap="square" lIns="0" tIns="0" rIns="0" bIns="0" numCol="1" spcCol="215900" anchor="t"/>
          <a:lstStyle/>
          <a:p>
            <a:pPr algn="l">
              <a:defRPr lang="en-us"/>
            </a:pPr>
            <a:r>
              <a:rPr lang="en-us" sz="1300" b="1" cap="none">
                <a:solidFill>
                  <a:srgbClr val="0F172A"/>
                </a:solidFill>
              </a:rPr>
              <a:t>CLIENTS  ·  HTTP REST  +  MCP JSON-RPC 2.0</a:t>
            </a:r>
            <a:endParaRPr lang="en-us" sz="1300" b="1" cap="none">
              <a:solidFill>
                <a:srgbClr val="0F172A"/>
              </a:solidFill>
            </a:endParaRPr>
          </a:p>
        </p:txBody>
      </p:sp>
      <p:sp>
        <p:nvSpPr>
          <p:cNvPr id="9" name="TextBox 9"/>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YEi0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EAUAAAgQAADrRQAA2BIAABAgAAAmAAAACAAAAP//////////"/>
              </a:ext>
            </a:extLst>
          </p:cNvSpPr>
          <p:nvPr/>
        </p:nvSpPr>
        <p:spPr>
          <a:xfrm>
            <a:off x="822960" y="2606040"/>
            <a:ext cx="10542905" cy="457200"/>
          </a:xfrm>
          <a:prstGeom prst="rect">
            <a:avLst/>
          </a:prstGeom>
          <a:noFill/>
          <a:ln>
            <a:noFill/>
          </a:ln>
          <a:effectLst/>
        </p:spPr>
        <p:txBody>
          <a:bodyPr vert="horz" wrap="square" lIns="0" tIns="0" rIns="0" bIns="0" numCol="1" spcCol="215900" anchor="t"/>
          <a:lstStyle/>
          <a:p>
            <a:pPr algn="l">
              <a:defRPr lang="en-us"/>
            </a:pPr>
            <a:r>
              <a:rPr lang="en-us" sz="1100" cap="none">
                <a:solidFill>
                  <a:srgbClr val="475569"/>
                </a:solidFill>
              </a:rPr>
              <a:t>Entrées du système — 20+ endpoints REST · serveur MCP compatible assistants IA.</a:t>
            </a:r>
            <a:endParaRPr lang="en-us" sz="1100" cap="none">
              <a:solidFill>
                <a:srgbClr val="475569"/>
              </a:solidFill>
            </a:endParaRPr>
          </a:p>
        </p:txBody>
      </p:sp>
      <p:sp>
        <p:nvSpPr>
          <p:cNvPr id="10" name="Rounded Rectangle 10"/>
          <p:cNvSpPr>
            <a:extLst>
              <a:ext uri="smNativeData">
                <pr:smNativeData xmlns:pr="smNativeData" xmlns="smNativeData" val="SMDATA_15_ceEnahMAAAAlAAAAZQAAAA0AAAAAkAAAAEgAAACQAAAASAAAAAAAAAABAAAAAAAAAAEAAABQAAAAhbacS3FV1T8AAAAAAADwvwAAAAAAAOA/AAAAAAAA4D8AAAAAAADgPwAAAAAAAOA/AAAAAAAA4D8AAAAAAADgPwAAAAAAAOA/AAAAAAAA4D8CAAAAjAAAAAEAAAAAAAAA////ACxn1gAAAAAAAAAAAAAAAAAAAAAAAAAAAAAAAAAAAAAAZAAAAAEAAABAAAAAAAAAAJz///9aAAAAAAAAAAEAAABQAAAAMGjPAAAAAAAAAAAAAAAAAAAAAAAAAAAAAAAAAAAAAAAAAAAAAAAAAAAAAAAAAAAAAAAAAAAAAAAAAAAAFAAAADwAAAABAAAAAAAAAOLo8AAP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BKiAAM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Cxn1gAwaM8AAAAAAAAAAAAAAAAAAAAAAAAAAAAAAAAAAAAAAOLo8AB/f38A5+bmA8zMzADAwP8Af39/AAAAAAAAAAAAAAAAAAAAAAAAAAAAIQAAABgAAAAUAAAAYAMAANgSAADYJAAAMBgAABAAAAAmAAAACAAAAP//////////"/>
              </a:ext>
            </a:extLst>
          </p:cNvSpPr>
          <p:nvPr/>
        </p:nvSpPr>
        <p:spPr>
          <a:xfrm>
            <a:off x="548640" y="3063240"/>
            <a:ext cx="5440680" cy="868680"/>
          </a:xfrm>
          <a:prstGeom prst="roundRect">
            <a:avLst>
              <a:gd name="adj" fmla="val 16667"/>
            </a:avLst>
          </a:prstGeom>
          <a:solidFill>
            <a:srgbClr val="FFFFFF"/>
          </a:solidFill>
          <a:ln w="9525" cap="flat" cmpd="sng" algn="ctr">
            <a:solidFill>
              <a:srgbClr val="E2E8F0"/>
            </a:solidFill>
            <a:prstDash val="solid"/>
            <a:headEnd type="none"/>
            <a:tailEnd type="none"/>
          </a:ln>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p>
        </p:txBody>
      </p:sp>
      <p:sp>
        <p:nvSpPr>
          <p:cNvPr id="11" name="TextBox 12"/>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BRDFEs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EAUAALATAAAoIwAA8BUAABAgAAAmAAAACAAAAP//////////"/>
              </a:ext>
            </a:extLst>
          </p:cNvSpPr>
          <p:nvPr/>
        </p:nvSpPr>
        <p:spPr>
          <a:xfrm>
            <a:off x="822960" y="3200400"/>
            <a:ext cx="4892040" cy="365760"/>
          </a:xfrm>
          <a:prstGeom prst="rect">
            <a:avLst/>
          </a:prstGeom>
          <a:noFill/>
          <a:ln>
            <a:noFill/>
          </a:ln>
          <a:effectLst/>
        </p:spPr>
        <p:txBody>
          <a:bodyPr vert="horz" wrap="square" lIns="0" tIns="0" rIns="0" bIns="0" numCol="1" spcCol="215900" anchor="t"/>
          <a:lstStyle/>
          <a:p>
            <a:pPr algn="l">
              <a:defRPr lang="en-us"/>
            </a:pPr>
            <a:r>
              <a:rPr lang="en-us" sz="1300" b="1" cap="none">
                <a:solidFill>
                  <a:srgbClr val="0F172A"/>
                </a:solidFill>
              </a:rPr>
              <a:t>FastAPI  ·  src/api.py</a:t>
            </a:r>
            <a:endParaRPr lang="en-us" sz="1300" b="1" cap="none">
              <a:solidFill>
                <a:srgbClr val="0F172A"/>
              </a:solidFill>
            </a:endParaRPr>
          </a:p>
        </p:txBody>
      </p:sp>
      <p:sp>
        <p:nvSpPr>
          <p:cNvPr id="12" name="TextBox 13"/>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BDAAI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EAUAAPAVAAAoIwAAwBgAABAgAAAmAAAACAAAAP//////////"/>
              </a:ext>
            </a:extLst>
          </p:cNvSpPr>
          <p:nvPr/>
        </p:nvSpPr>
        <p:spPr>
          <a:xfrm>
            <a:off x="822960" y="3566160"/>
            <a:ext cx="4892040" cy="457200"/>
          </a:xfrm>
          <a:prstGeom prst="rect">
            <a:avLst/>
          </a:prstGeom>
          <a:noFill/>
          <a:ln>
            <a:noFill/>
          </a:ln>
          <a:effectLst/>
        </p:spPr>
        <p:txBody>
          <a:bodyPr vert="horz" wrap="square" lIns="0" tIns="0" rIns="0" bIns="0" numCol="1" spcCol="215900" anchor="t"/>
          <a:lstStyle/>
          <a:p>
            <a:pPr algn="l">
              <a:defRPr lang="en-us"/>
            </a:pPr>
            <a:r>
              <a:rPr lang="en-us" sz="1100" cap="none">
                <a:solidFill>
                  <a:srgbClr val="475569"/>
                </a:solidFill>
              </a:rPr>
              <a:t>Endpoints, background tasks, SQLite (.memory_cache.db) : users · projets · scans.</a:t>
            </a:r>
            <a:endParaRPr lang="en-us" sz="1100" cap="none">
              <a:solidFill>
                <a:srgbClr val="475569"/>
              </a:solidFill>
            </a:endParaRPr>
          </a:p>
        </p:txBody>
      </p:sp>
      <p:sp>
        <p:nvSpPr>
          <p:cNvPr id="13" name="Rounded Rectangle 14"/>
          <p:cNvSpPr>
            <a:extLst>
              <a:ext uri="smNativeData">
                <pr:smNativeData xmlns:pr="smNativeData" xmlns="smNativeData" val="SMDATA_15_ceEnahMAAAAlAAAAZQAAAA0AAAAAkAAAAEgAAACQAAAASAAAAAAAAAABAAAAAAAAAAEAAABQAAAAhbacS3FV1T8AAAAAAADwvwAAAAAAAOA/AAAAAAAA4D8AAAAAAADgPwAAAAAAAOA/AAAAAAAA4D8AAAAAAADgPwAAAAAAAOA/AAAAAAAA4D8CAAAAjAAAAAEAAAAAAAAA////ACxn1gAAAAAAAAAAAAAAAAAAAAAAAAAAAAAAAAAAAAAAZAAAAAEAAABAAAAAAAAAAJz///9aAAAAAAAAAAEAAABQAAAAMGjPAAAAAAAAAAAAAAAAAAAAAAAAAAAAAAAAAAAAAAAAAAAAAAAAAAAAAAAAAAAAAAAAAAAAAAAAAAAAFAAAADwAAAABAAAAAAAAAOLo8AAP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QaBC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Cxn1gAwaM8AAAAAAAAAAAAAAAAAAAAAAAAAAAAAAAAAAAAAAOLo8AB/f38A5+bmA8zMzADAwP8Af39/AAAAAAAAAAAAAAAAAAAAAAAAAAAAIQAAABgAAAAUAAAAIyYAANgSAACbRwAAMBgAABAAAAAmAAAACAAAAP//////////"/>
              </a:ext>
            </a:extLst>
          </p:cNvSpPr>
          <p:nvPr/>
        </p:nvSpPr>
        <p:spPr>
          <a:xfrm>
            <a:off x="6199505" y="3063240"/>
            <a:ext cx="5440680" cy="868680"/>
          </a:xfrm>
          <a:prstGeom prst="roundRect">
            <a:avLst>
              <a:gd name="adj" fmla="val 16667"/>
            </a:avLst>
          </a:prstGeom>
          <a:solidFill>
            <a:srgbClr val="FFFFFF"/>
          </a:solidFill>
          <a:ln w="9525" cap="flat" cmpd="sng" algn="ctr">
            <a:solidFill>
              <a:srgbClr val="E2E8F0"/>
            </a:solidFill>
            <a:prstDash val="solid"/>
            <a:headEnd type="none"/>
            <a:tailEnd type="none"/>
          </a:ln>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p>
        </p:txBody>
      </p:sp>
      <p:sp>
        <p:nvSpPr>
          <p:cNvPr id="14" name="TextBox 16"/>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BAAY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0ycAALATAADrRQAA8BUAABAgAAAmAAAACAAAAP//////////"/>
              </a:ext>
            </a:extLst>
          </p:cNvSpPr>
          <p:nvPr/>
        </p:nvSpPr>
        <p:spPr>
          <a:xfrm>
            <a:off x="6473825" y="3200400"/>
            <a:ext cx="4892040" cy="365760"/>
          </a:xfrm>
          <a:prstGeom prst="rect">
            <a:avLst/>
          </a:prstGeom>
          <a:noFill/>
          <a:ln>
            <a:noFill/>
          </a:ln>
          <a:effectLst/>
        </p:spPr>
        <p:txBody>
          <a:bodyPr vert="horz" wrap="square" lIns="0" tIns="0" rIns="0" bIns="0" numCol="1" spcCol="215900" anchor="t"/>
          <a:lstStyle/>
          <a:p>
            <a:pPr algn="l">
              <a:defRPr lang="en-us"/>
            </a:pPr>
            <a:r>
              <a:rPr lang="en-us" sz="1300" b="1" cap="none">
                <a:solidFill>
                  <a:srgbClr val="0F172A"/>
                </a:solidFill>
              </a:rPr>
              <a:t>LangGraph Workflow  ·  src/graph/</a:t>
            </a:r>
            <a:endParaRPr lang="en-us" sz="1300" b="1" cap="none">
              <a:solidFill>
                <a:srgbClr val="0F172A"/>
              </a:solidFill>
            </a:endParaRPr>
          </a:p>
        </p:txBody>
      </p:sp>
      <p:sp>
        <p:nvSpPr>
          <p:cNvPr id="15" name="TextBox 17"/>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BiHAAM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0ycAAPAVAADrRQAAwBgAABAgAAAmAAAACAAAAP//////////"/>
              </a:ext>
            </a:extLst>
          </p:cNvSpPr>
          <p:nvPr/>
        </p:nvSpPr>
        <p:spPr>
          <a:xfrm>
            <a:off x="6473825" y="3566160"/>
            <a:ext cx="4892040" cy="457200"/>
          </a:xfrm>
          <a:prstGeom prst="rect">
            <a:avLst/>
          </a:prstGeom>
          <a:noFill/>
          <a:ln>
            <a:noFill/>
          </a:ln>
          <a:effectLst/>
        </p:spPr>
        <p:txBody>
          <a:bodyPr vert="horz" wrap="square" lIns="0" tIns="0" rIns="0" bIns="0" numCol="1" spcCol="215900" anchor="t"/>
          <a:lstStyle/>
          <a:p>
            <a:pPr algn="l">
              <a:defRPr lang="en-us"/>
            </a:pPr>
            <a:r>
              <a:rPr lang="en-us" sz="1100" cap="none">
                <a:solidFill>
                  <a:srgbClr val="475569"/>
                </a:solidFill>
              </a:rPr>
              <a:t>AgentState partagé, routage conditionnel, parallélisation, retry loop.</a:t>
            </a:r>
            <a:endParaRPr lang="en-us" sz="1100" cap="none">
              <a:solidFill>
                <a:srgbClr val="475569"/>
              </a:solidFill>
            </a:endParaRPr>
          </a:p>
        </p:txBody>
      </p:sp>
      <p:sp>
        <p:nvSpPr>
          <p:cNvPr id="16" name="Rounded Rectangle 18"/>
          <p:cNvSpPr>
            <a:extLst>
              <a:ext uri="smNativeData">
                <pr:smNativeData xmlns:pr="smNativeData" xmlns="smNativeData" val="SMDATA_15_ceEnahMAAAAlAAAAZQAAAA0AAAAAkAAAAEgAAACQAAAASAAAAAAAAAABAAAAAAAAAAEAAABQAAAAhbacS3FV1T8AAAAAAADwvwAAAAAAAOA/AAAAAAAA4D8AAAAAAADgPwAAAAAAAOA/AAAAAAAA4D8AAAAAAADgPwAAAAAAAOA/AAAAAAAA4D8CAAAAjAAAAAEAAAAAAAAA////ACxn1gAAAAAAAAAAAAAAAAAAAAAAAAAAAAAAAAAAAAAAZAAAAAEAAABAAAAAAAAAAJz///9aAAAAAAAAAAEAAABQAAAAMGjPAAAAAAAAAAAAAAAAAAAAAAAAAAAAAAAAAAAAAAAAAAAAAAAAAAAAAAAAAAAAAAAAAAAAAAAAAAAAFAAAADwAAAABAAAAAAAAAOLo8AAP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CFR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Cxn1gAwaM8AAAAAAAAAAAAAAAAAAAAAAAAAAAAAAAAAAAAAAOLo8AB/f38A5+bmA8zMzADAwP8Af39/AAAAAAAAAAAAAAAAAAAAAAAAAAAAIQAAABgAAAAUAAAAYAMAAMAYAACbRwAAGB4AABAAAAAmAAAACAAAAP//////////"/>
              </a:ext>
            </a:extLst>
          </p:cNvSpPr>
          <p:nvPr/>
        </p:nvSpPr>
        <p:spPr>
          <a:xfrm>
            <a:off x="548640" y="4023360"/>
            <a:ext cx="11091545" cy="868680"/>
          </a:xfrm>
          <a:prstGeom prst="roundRect">
            <a:avLst>
              <a:gd name="adj" fmla="val 16667"/>
            </a:avLst>
          </a:prstGeom>
          <a:solidFill>
            <a:srgbClr val="FFFFFF"/>
          </a:solidFill>
          <a:ln w="9525" cap="flat" cmpd="sng" algn="ctr">
            <a:solidFill>
              <a:srgbClr val="E2E8F0"/>
            </a:solidFill>
            <a:prstDash val="solid"/>
            <a:headEnd type="none"/>
            <a:tailEnd type="none"/>
          </a:ln>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p>
        </p:txBody>
      </p:sp>
      <p:sp>
        <p:nvSpPr>
          <p:cNvPr id="17" name="TextBox 20"/>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BiHGI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EAUAAJgZAADrRQAA2BsAABAgAAAmAAAACAAAAP//////////"/>
              </a:ext>
            </a:extLst>
          </p:cNvSpPr>
          <p:nvPr/>
        </p:nvSpPr>
        <p:spPr>
          <a:xfrm>
            <a:off x="822960" y="4160520"/>
            <a:ext cx="10542905" cy="365760"/>
          </a:xfrm>
          <a:prstGeom prst="rect">
            <a:avLst/>
          </a:prstGeom>
          <a:noFill/>
          <a:ln>
            <a:noFill/>
          </a:ln>
          <a:effectLst/>
        </p:spPr>
        <p:txBody>
          <a:bodyPr vert="horz" wrap="square" lIns="0" tIns="0" rIns="0" bIns="0" numCol="1" spcCol="215900" anchor="t"/>
          <a:lstStyle/>
          <a:p>
            <a:pPr algn="l">
              <a:defRPr lang="en-us"/>
            </a:pPr>
            <a:r>
              <a:rPr lang="en-us" sz="1300" b="1" cap="none">
                <a:solidFill>
                  <a:srgbClr val="0F172A"/>
                </a:solidFill>
              </a:rPr>
              <a:t>8 Agents  ·  src/agents/</a:t>
            </a:r>
            <a:endParaRPr lang="en-us" sz="1300" b="1" cap="none">
              <a:solidFill>
                <a:srgbClr val="0F172A"/>
              </a:solidFill>
            </a:endParaRPr>
          </a:p>
        </p:txBody>
      </p:sp>
      <p:sp>
        <p:nvSpPr>
          <p:cNvPr id="18" name="TextBox 21"/>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BnMAlw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EAUAANgbAADrRQAAqB4AABAgAAAmAAAACAAAAP//////////"/>
              </a:ext>
            </a:extLst>
          </p:cNvSpPr>
          <p:nvPr/>
        </p:nvSpPr>
        <p:spPr>
          <a:xfrm>
            <a:off x="822960" y="4526280"/>
            <a:ext cx="10542905" cy="457200"/>
          </a:xfrm>
          <a:prstGeom prst="rect">
            <a:avLst/>
          </a:prstGeom>
          <a:noFill/>
          <a:ln>
            <a:noFill/>
          </a:ln>
          <a:effectLst/>
        </p:spPr>
        <p:txBody>
          <a:bodyPr vert="horz" wrap="square" lIns="0" tIns="0" rIns="0" bIns="0" numCol="1" spcCol="215900" anchor="t"/>
          <a:lstStyle/>
          <a:p>
            <a:pPr algn="l">
              <a:defRPr lang="en-us"/>
            </a:pPr>
            <a:r>
              <a:rPr lang="en-us" sz="1100" cap="none">
                <a:solidFill>
                  <a:srgbClr val="475569"/>
                </a:solidFill>
              </a:rPr>
              <a:t>Triage · Scanner · MemorySafety · SemanticAnalyst · ExploitScorer · Patcher · Validator · Report</a:t>
            </a:r>
            <a:endParaRPr lang="en-us" sz="1100" cap="none">
              <a:solidFill>
                <a:srgbClr val="475569"/>
              </a:solidFill>
            </a:endParaRPr>
          </a:p>
        </p:txBody>
      </p:sp>
      <p:sp>
        <p:nvSpPr>
          <p:cNvPr id="19" name="Rounded Rectangle 22"/>
          <p:cNvSpPr>
            <a:extLst>
              <a:ext uri="smNativeData">
                <pr:smNativeData xmlns:pr="smNativeData" xmlns="smNativeData" val="SMDATA_15_ceEnahMAAAAlAAAAZQAAAA0AAAAAkAAAAEgAAACQAAAASAAAAAAAAAABAAAAAAAAAAEAAABQAAAAhbacS3FV1T8AAAAAAADwvwAAAAAAAOA/AAAAAAAA4D8AAAAAAADgPwAAAAAAAOA/AAAAAAAA4D8AAAAAAADgPwAAAAAAAOA/AAAAAAAA4D8CAAAAjAAAAAEAAAAAAAAA////ACxn1gAAAAAAAAAAAAAAAAAAAAAAAAAAAAAAAAAAAAAAZAAAAAEAAABAAAAAAAAAAJz///9aAAAAAAAAAAEAAABQAAAAMGjPAAAAAAAAAAAAAAAAAAAAAAAAAAAAAAAAAAAAAAAAAAAAAAAAAAAAAAAAAAAAAAAAAAAAAAAAAAAAFAAAADwAAAABAAAAAAAAAOLo8AAP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BItEj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Cxn1gAwaM8AAAAAAAAAAAAAAAAAAAAAAAAAAAAAAAAAAAAAAOLo8AB/f38A5+bmA8zMzADAwP8Af39/AAAAAAAAAAAAAAAAAAAAAAAAAAAAIQAAABgAAAAUAAAAYAMAAKgeAAB7GQAAiCYAABAAAAAmAAAACAAAAP//////////"/>
              </a:ext>
            </a:extLst>
          </p:cNvSpPr>
          <p:nvPr/>
        </p:nvSpPr>
        <p:spPr>
          <a:xfrm>
            <a:off x="548640" y="4983480"/>
            <a:ext cx="3593465" cy="1280160"/>
          </a:xfrm>
          <a:prstGeom prst="roundRect">
            <a:avLst>
              <a:gd name="adj" fmla="val 16667"/>
            </a:avLst>
          </a:prstGeom>
          <a:solidFill>
            <a:srgbClr val="FFFFFF"/>
          </a:solidFill>
          <a:ln w="9525" cap="flat" cmpd="sng" algn="ctr">
            <a:solidFill>
              <a:srgbClr val="E2E8F0"/>
            </a:solidFill>
            <a:prstDash val="solid"/>
            <a:headEnd type="none"/>
            <a:tailEnd type="none"/>
          </a:ln>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p>
        </p:txBody>
      </p:sp>
      <p:sp>
        <p:nvSpPr>
          <p:cNvPr id="20" name="TextBox 24"/>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q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EAUAAIAfAADLFwAAwCEAABAgAAAmAAAACAAAAP//////////"/>
              </a:ext>
            </a:extLst>
          </p:cNvSpPr>
          <p:nvPr/>
        </p:nvSpPr>
        <p:spPr>
          <a:xfrm>
            <a:off x="822960" y="5120640"/>
            <a:ext cx="3044825" cy="365760"/>
          </a:xfrm>
          <a:prstGeom prst="rect">
            <a:avLst/>
          </a:prstGeom>
          <a:noFill/>
          <a:ln>
            <a:noFill/>
          </a:ln>
          <a:effectLst/>
        </p:spPr>
        <p:txBody>
          <a:bodyPr vert="horz" wrap="square" lIns="0" tIns="0" rIns="0" bIns="0" numCol="1" spcCol="215900" anchor="t"/>
          <a:lstStyle/>
          <a:p>
            <a:pPr algn="l">
              <a:defRPr lang="en-us"/>
            </a:pPr>
            <a:r>
              <a:rPr lang="en-us" sz="1300" b="1" cap="none">
                <a:solidFill>
                  <a:srgbClr val="0F172A"/>
                </a:solidFill>
              </a:rPr>
              <a:t>Outils sécurité</a:t>
            </a:r>
            <a:endParaRPr lang="en-us" sz="1300" b="1" cap="none">
              <a:solidFill>
                <a:srgbClr val="0F172A"/>
              </a:solidFill>
            </a:endParaRPr>
          </a:p>
        </p:txBody>
      </p:sp>
      <p:sp>
        <p:nvSpPr>
          <p:cNvPr id="21" name="TextBox 25"/>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Bj1GPc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EAUAAMAhAADLFwAAkCQAABAgAAAmAAAACAAAAP//////////"/>
              </a:ext>
            </a:extLst>
          </p:cNvSpPr>
          <p:nvPr/>
        </p:nvSpPr>
        <p:spPr>
          <a:xfrm>
            <a:off x="822960" y="5486400"/>
            <a:ext cx="3044825" cy="457200"/>
          </a:xfrm>
          <a:prstGeom prst="rect">
            <a:avLst/>
          </a:prstGeom>
          <a:noFill/>
          <a:ln>
            <a:noFill/>
          </a:ln>
          <a:effectLst/>
        </p:spPr>
        <p:txBody>
          <a:bodyPr vert="horz" wrap="square" lIns="0" tIns="0" rIns="0" bIns="0" numCol="1" spcCol="215900" anchor="t"/>
          <a:lstStyle/>
          <a:p>
            <a:pPr algn="l">
              <a:defRPr lang="en-us"/>
            </a:pPr>
            <a:r>
              <a:rPr lang="en-us" sz="1100" cap="none">
                <a:solidFill>
                  <a:srgbClr val="475569"/>
                </a:solidFill>
              </a:rPr>
              <a:t>Semgrep · Bandit · Gosec ·</a:t>
            </a:r>
            <a:endParaRPr lang="en-us" sz="1100" cap="none">
              <a:solidFill>
                <a:srgbClr val="475569"/>
              </a:solidFill>
            </a:endParaRPr>
          </a:p>
          <a:p>
            <a:pPr algn="l">
              <a:defRPr lang="en-us"/>
            </a:pPr>
            <a:r>
              <a:rPr lang="en-us" sz="1100" cap="none">
                <a:solidFill>
                  <a:srgbClr val="475569"/>
                </a:solidFill>
              </a:rPr>
              <a:t>SpotBugs · PHPCS</a:t>
            </a:r>
            <a:endParaRPr lang="en-us" sz="1100" cap="none">
              <a:solidFill>
                <a:srgbClr val="475569"/>
              </a:solidFill>
            </a:endParaRPr>
          </a:p>
        </p:txBody>
      </p:sp>
      <p:sp>
        <p:nvSpPr>
          <p:cNvPr id="22" name="Rounded Rectangle 26"/>
          <p:cNvSpPr>
            <a:extLst>
              <a:ext uri="smNativeData">
                <pr:smNativeData xmlns:pr="smNativeData" xmlns="smNativeData" val="SMDATA_15_ceEnahMAAAAlAAAAZQAAAA0AAAAAkAAAAEgAAACQAAAASAAAAAAAAAABAAAAAAAAAAEAAABQAAAAhbacS3FV1T8AAAAAAADwvwAAAAAAAOA/AAAAAAAA4D8AAAAAAADgPwAAAAAAAOA/AAAAAAAA4D8AAAAAAADgPwAAAAAAAOA/AAAAAAAA4D8CAAAAjAAAAAEAAAAAAAAA////ACxn1gAAAAAAAAAAAAAAAAAAAAAAAAAAAAAAAAAAAAAAZAAAAAEAAABAAAAAAAAAAJz///9aAAAAAAAAAAEAAABQAAAAMGjPAAAAAAAAAAAAAAAAAAAAAAAAAAAAAAAAAAAAAAAAAAAAAAAAAAAAAAAAAAAAAAAAAAAAAAAAAAAAFAAAADwAAAABAAAAAAAAAOLo8AAP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ClGSg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Cxn1gAwaM8AAAAAAAAAAAAAAAAAAAAAAAAAAAAAAAAAAAAAAOLo8AB/f38A5+bmA8zMzADAwP8Af39/AAAAAAAAAAAAAAAAAAAAAAAAAAAAIQAAABgAAAAUAAAAmxoAAKgeAAC2MAAAiCYAABAAAAAmAAAACAAAAP//////////"/>
              </a:ext>
            </a:extLst>
          </p:cNvSpPr>
          <p:nvPr/>
        </p:nvSpPr>
        <p:spPr>
          <a:xfrm>
            <a:off x="4324985" y="4983480"/>
            <a:ext cx="3593465" cy="1280160"/>
          </a:xfrm>
          <a:prstGeom prst="roundRect">
            <a:avLst>
              <a:gd name="adj" fmla="val 16667"/>
            </a:avLst>
          </a:prstGeom>
          <a:solidFill>
            <a:srgbClr val="FFFFFF"/>
          </a:solidFill>
          <a:ln w="9525" cap="flat" cmpd="sng" algn="ctr">
            <a:solidFill>
              <a:srgbClr val="E2E8F0"/>
            </a:solidFill>
            <a:prstDash val="solid"/>
            <a:headEnd type="none"/>
            <a:tailEnd type="none"/>
          </a:ln>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p>
        </p:txBody>
      </p:sp>
      <p:sp>
        <p:nvSpPr>
          <p:cNvPr id="23" name="TextBox 28"/>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BIGEgo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SxwAAIAfAAAGLwAAwCEAABAgAAAmAAAACAAAAP//////////"/>
              </a:ext>
            </a:extLst>
          </p:cNvSpPr>
          <p:nvPr/>
        </p:nvSpPr>
        <p:spPr>
          <a:xfrm>
            <a:off x="4599305" y="5120640"/>
            <a:ext cx="3044825" cy="365760"/>
          </a:xfrm>
          <a:prstGeom prst="rect">
            <a:avLst/>
          </a:prstGeom>
          <a:noFill/>
          <a:ln>
            <a:noFill/>
          </a:ln>
          <a:effectLst/>
        </p:spPr>
        <p:txBody>
          <a:bodyPr vert="horz" wrap="square" lIns="0" tIns="0" rIns="0" bIns="0" numCol="1" spcCol="215900" anchor="t"/>
          <a:lstStyle/>
          <a:p>
            <a:pPr algn="l">
              <a:defRPr lang="en-us"/>
            </a:pPr>
            <a:r>
              <a:rPr lang="en-us" sz="1300" b="1" cap="none">
                <a:solidFill>
                  <a:srgbClr val="0F172A"/>
                </a:solidFill>
              </a:rPr>
              <a:t>LLM Client  ·  src/llm/</a:t>
            </a:r>
            <a:endParaRPr lang="en-us" sz="1300" b="1" cap="none">
              <a:solidFill>
                <a:srgbClr val="0F172A"/>
              </a:solidFill>
            </a:endParaRPr>
          </a:p>
        </p:txBody>
      </p:sp>
      <p:sp>
        <p:nvSpPr>
          <p:cNvPr id="24" name="TextBox 29"/>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SY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SxwAAMAhAAAGLwAAkCQAABAgAAAmAAAACAAAAP//////////"/>
              </a:ext>
            </a:extLst>
          </p:cNvSpPr>
          <p:nvPr/>
        </p:nvSpPr>
        <p:spPr>
          <a:xfrm>
            <a:off x="4599305" y="5486400"/>
            <a:ext cx="3044825" cy="457200"/>
          </a:xfrm>
          <a:prstGeom prst="rect">
            <a:avLst/>
          </a:prstGeom>
          <a:noFill/>
          <a:ln>
            <a:noFill/>
          </a:ln>
          <a:effectLst/>
        </p:spPr>
        <p:txBody>
          <a:bodyPr vert="horz" wrap="square" lIns="0" tIns="0" rIns="0" bIns="0" numCol="1" spcCol="215900" anchor="t"/>
          <a:lstStyle/>
          <a:p>
            <a:pPr algn="l">
              <a:defRPr lang="en-us"/>
            </a:pPr>
            <a:r>
              <a:rPr lang="en-us" sz="1100" cap="none">
                <a:solidFill>
                  <a:srgbClr val="475569"/>
                </a:solidFill>
              </a:rPr>
              <a:t>Groq Llama-3.1-8B (fast)</a:t>
            </a:r>
            <a:endParaRPr lang="en-us" sz="1100" cap="none">
              <a:solidFill>
                <a:srgbClr val="475569"/>
              </a:solidFill>
            </a:endParaRPr>
          </a:p>
          <a:p>
            <a:pPr algn="l">
              <a:defRPr lang="en-us"/>
            </a:pPr>
            <a:r>
              <a:rPr lang="en-us" sz="1100" cap="none">
                <a:solidFill>
                  <a:srgbClr val="475569"/>
                </a:solidFill>
              </a:rPr>
              <a:t>NVIDIA Llama-3.1-70B (strong)</a:t>
            </a:r>
            <a:endParaRPr lang="en-us" sz="1100" cap="none">
              <a:solidFill>
                <a:srgbClr val="475569"/>
              </a:solidFill>
            </a:endParaRPr>
          </a:p>
        </p:txBody>
      </p:sp>
      <p:sp>
        <p:nvSpPr>
          <p:cNvPr id="25" name="Rounded Rectangle 30"/>
          <p:cNvSpPr>
            <a:extLst>
              <a:ext uri="smNativeData">
                <pr:smNativeData xmlns:pr="smNativeData" xmlns="smNativeData" val="SMDATA_15_ceEnahMAAAAlAAAAZQAAAA0AAAAAkAAAAEgAAACQAAAASAAAAAAAAAABAAAAAAAAAAEAAABQAAAAhbacS3FV1T8AAAAAAADwvwAAAAAAAOA/AAAAAAAA4D8AAAAAAADgPwAAAAAAAOA/AAAAAAAA4D8AAAAAAADgPwAAAAAAAOA/AAAAAAAA4D8CAAAAjAAAAAEAAAAAAAAA////ACxn1gAAAAAAAAAAAAAAAAAAAAAAAAAAAAAAAAAAAAAAZAAAAAEAAABAAAAAAAAAAJz///9aAAAAAAAAAAEAAABQAAAAMGjPAAAAAAAAAAAAAAAAAAAAAAAAAAAAAAAAAAAAAAAAAAAAAAAAAAAAAAAAAAAAAAAAAAAAAAAAAAAAFAAAADwAAAABAAAAAAAAAOLo8AAP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BYzFjQ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Cxn1gAwaM8AAAAAAAAAAAAAAAAAAAAAAAAAAAAAAAAAAAAAAOLo8AB/f38A5+bmA8zMzADAwP8Af39/AAAAAAAAAAAAAAAAAAAAAAAAAAAAIQAAABgAAAAUAAAA1jEAAKgeAACbRwAAiCYAABAAAAAmAAAACAAAAP//////////"/>
              </a:ext>
            </a:extLst>
          </p:cNvSpPr>
          <p:nvPr/>
        </p:nvSpPr>
        <p:spPr>
          <a:xfrm>
            <a:off x="8101330" y="4983480"/>
            <a:ext cx="3538855" cy="1280160"/>
          </a:xfrm>
          <a:prstGeom prst="roundRect">
            <a:avLst>
              <a:gd name="adj" fmla="val 16667"/>
            </a:avLst>
          </a:prstGeom>
          <a:solidFill>
            <a:srgbClr val="FFFFFF"/>
          </a:solidFill>
          <a:ln w="9525" cap="flat" cmpd="sng" algn="ctr">
            <a:solidFill>
              <a:srgbClr val="E2E8F0"/>
            </a:solidFill>
            <a:prstDash val="solid"/>
            <a:headEnd type="none"/>
            <a:tailEnd type="none"/>
          </a:ln>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p>
        </p:txBody>
      </p:sp>
      <p:sp>
        <p:nvSpPr>
          <p:cNvPr id="26" name="TextBox 32"/>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BAAI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hjMAAIAfAADrRQAAwCEAABAgAAAmAAAACAAAAP//////////"/>
              </a:ext>
            </a:extLst>
          </p:cNvSpPr>
          <p:nvPr/>
        </p:nvSpPr>
        <p:spPr>
          <a:xfrm>
            <a:off x="8375650" y="5120640"/>
            <a:ext cx="2990215" cy="365760"/>
          </a:xfrm>
          <a:prstGeom prst="rect">
            <a:avLst/>
          </a:prstGeom>
          <a:noFill/>
          <a:ln>
            <a:noFill/>
          </a:ln>
          <a:effectLst/>
        </p:spPr>
        <p:txBody>
          <a:bodyPr vert="horz" wrap="square" lIns="0" tIns="0" rIns="0" bIns="0" numCol="1" spcCol="215900" anchor="t"/>
          <a:lstStyle/>
          <a:p>
            <a:pPr algn="l">
              <a:defRPr lang="en-us"/>
            </a:pPr>
            <a:r>
              <a:rPr lang="en-us" sz="1300" b="1" cap="none">
                <a:solidFill>
                  <a:srgbClr val="0F172A"/>
                </a:solidFill>
              </a:rPr>
              <a:t>Mémoire  ·  src/memory/</a:t>
            </a:r>
            <a:endParaRPr lang="en-us" sz="1300" b="1" cap="none">
              <a:solidFill>
                <a:srgbClr val="0F172A"/>
              </a:solidFill>
            </a:endParaRPr>
          </a:p>
        </p:txBody>
      </p:sp>
      <p:sp>
        <p:nvSpPr>
          <p:cNvPr id="27" name="TextBox 33"/>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BnLGdc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hjMAAMAhAADrRQAAkCQAABAgAAAmAAAACAAAAP//////////"/>
              </a:ext>
            </a:extLst>
          </p:cNvSpPr>
          <p:nvPr/>
        </p:nvSpPr>
        <p:spPr>
          <a:xfrm>
            <a:off x="8375650" y="5486400"/>
            <a:ext cx="2990215" cy="457200"/>
          </a:xfrm>
          <a:prstGeom prst="rect">
            <a:avLst/>
          </a:prstGeom>
          <a:noFill/>
          <a:ln>
            <a:noFill/>
          </a:ln>
          <a:effectLst/>
        </p:spPr>
        <p:txBody>
          <a:bodyPr vert="horz" wrap="square" lIns="0" tIns="0" rIns="0" bIns="0" numCol="1" spcCol="215900" anchor="t"/>
          <a:lstStyle/>
          <a:p>
            <a:pPr algn="l">
              <a:defRPr lang="en-us"/>
            </a:pPr>
            <a:r>
              <a:rPr lang="en-us" sz="1100" cap="none">
                <a:solidFill>
                  <a:srgbClr val="475569"/>
                </a:solidFill>
              </a:rPr>
              <a:t>Qdrant (vuln_patterns, patches)</a:t>
            </a:r>
            <a:endParaRPr lang="en-us" sz="1100" cap="none">
              <a:solidFill>
                <a:srgbClr val="475569"/>
              </a:solidFill>
            </a:endParaRPr>
          </a:p>
          <a:p>
            <a:pPr algn="l">
              <a:defRPr lang="en-us"/>
            </a:pPr>
            <a:r>
              <a:rPr lang="en-us" sz="1100" cap="none">
                <a:solidFill>
                  <a:srgbClr val="475569"/>
                </a:solidFill>
              </a:rPr>
              <a:t>SQLite (users · scans)</a:t>
            </a:r>
            <a:endParaRPr lang="en-us" sz="1100" cap="none">
              <a:solidFill>
                <a:srgbClr val="475569"/>
              </a:solidFill>
            </a:endParaRPr>
          </a:p>
        </p:txBody>
      </p:sp>
      <p:sp>
        <p:nvSpPr>
          <p:cNvPr id="28" name="TextBox 34"/>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BKxErI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YAMAAKgnAAAgJQAAWCkAABAgAAAmAAAACAAAAP//////////"/>
              </a:ext>
            </a:extLst>
          </p:cNvSpPr>
          <p:nvPr/>
        </p:nvSpPr>
        <p:spPr>
          <a:xfrm>
            <a:off x="548640" y="6446520"/>
            <a:ext cx="5486400" cy="274320"/>
          </a:xfrm>
          <a:prstGeom prst="rect">
            <a:avLst/>
          </a:prstGeom>
          <a:noFill/>
          <a:ln>
            <a:noFill/>
          </a:ln>
          <a:effectLst/>
        </p:spPr>
        <p:txBody>
          <a:bodyPr vert="horz" wrap="square" lIns="0" tIns="0" rIns="0" bIns="0" numCol="1" spcCol="215900" anchor="t"/>
          <a:lstStyle/>
          <a:p>
            <a:pPr algn="l">
              <a:defRPr lang="en-us"/>
            </a:pPr>
            <a:r>
              <a:rPr lang="en-us" sz="1000" cap="none">
                <a:solidFill>
                  <a:srgbClr val="475569"/>
                </a:solidFill>
              </a:rPr>
              <a:t>MAS — Multi-Agent Security Scanner</a:t>
            </a:r>
            <a:endParaRPr lang="en-us" sz="1000" cap="none">
              <a:solidFill>
                <a:srgbClr val="475569"/>
              </a:solidFill>
            </a:endParaRPr>
          </a:p>
        </p:txBody>
      </p:sp>
      <p:sp>
        <p:nvSpPr>
          <p:cNvPr id="29" name="TextBox 35"/>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BBFLM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sEAAAKgnAABwRwAAWCkAABAgAAAmAAAACAAAAP//////////"/>
              </a:ext>
            </a:extLst>
          </p:cNvSpPr>
          <p:nvPr/>
        </p:nvSpPr>
        <p:spPr>
          <a:xfrm>
            <a:off x="10515600" y="6446520"/>
            <a:ext cx="1097280" cy="274320"/>
          </a:xfrm>
          <a:prstGeom prst="rect">
            <a:avLst/>
          </a:prstGeom>
          <a:noFill/>
          <a:ln>
            <a:noFill/>
          </a:ln>
          <a:effectLst/>
        </p:spPr>
        <p:txBody>
          <a:bodyPr vert="horz" wrap="square" lIns="0" tIns="0" rIns="0" bIns="0" numCol="1" spcCol="215900" anchor="t"/>
          <a:lstStyle/>
          <a:p>
            <a:pPr algn="r">
              <a:defRPr lang="en-us"/>
            </a:pPr>
            <a:r>
              <a:rPr lang="en-us" sz="1000" cap="none">
                <a:solidFill>
                  <a:srgbClr val="475569"/>
                </a:solidFill>
              </a:rPr>
              <a:t>4 / 11</a:t>
            </a:r>
            <a:endParaRPr lang="en-us" sz="1000" cap="none">
              <a:solidFill>
                <a:srgbClr val="475569"/>
              </a:solidFill>
            </a:endParaRPr>
          </a:p>
        </p:txBody>
      </p:sp>
    </p:spTree>
  </p:cSld>
  <p:clrMapOvr>
    <a:masterClrMapping/>
  </p:clrMapOvr>
  <p:timing>
    <p:tnLst>
      <p:par>
        <p:cTn id="1" dur="indefinite" restart="never" nodeType="tmRoot"/>
      </p:par>
    </p:tnLst>
  </p:timing>
</p:sld>
</file>

<file path=ppt/slides/slide5.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Rectangle 1"/>
          <p:cNvSpPr>
            <a:extLst>
              <a:ext uri="smNativeData">
                <pr:smNativeData xmlns:pr="smNativeData" xmlns="smNativeData" val="SMDATA_15_ceEnahMAAAAlAAAAZAAAAA0AAAAAkAAAAEgAAACQAAAASAAAAAAAAAABAAAAAAAAAAEAAABQAAAAAAAAAAAA4D8AAAAAAADgPwAAAAAAAOA/AAAAAAAA4D8AAAAAAADgPwAAAAAAAOA/AAAAAAAA4D8AAAAAAADgPwAAAAAAAOA/AAAAAAAA4D8CAAAAjAAAAAEAAAAAAAAA+Pr8ACxn1gAAAAAAAAAAAAAAAAAAAAAAAAAAAAAAAAAAAAAAZAAAAAEAAABAAAAAAAAAAJz///9aAAAAAAAAAAEAAABQAAAAMGjPAAAAAAAAAAAAAAAAAAAAAAAAAAAAAAAAAAAAAAAAAAAAAAAAAAAAAAAAAAAAAAAAAAAAAAAAAAAAFAAAADwAAAAAAAAAAAAAAEBtxAAP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NQC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Pr8ACxn1gAwaM8AAAAAAAAAAAAAAAAAAAAAAAAAAAAAAAAAAAAAAEBtxAB/f38A5+bmA8zMzADAwP8Af39/AAAAAAAAAAAAAAAAAAAAAAAAAAAAIQAAABgAAAAUAAAAAAAAAAAAAAAASwAAMCoAABAAAAAmAAAACAAAAP//////////"/>
              </a:ext>
            </a:extLst>
          </p:cNvSpPr>
          <p:nvPr/>
        </p:nvSpPr>
        <p:spPr>
          <a:xfrm>
            <a:off x="0" y="0"/>
            <a:ext cx="12192000" cy="6858000"/>
          </a:xfrm>
          <a:prstGeom prst="rect">
            <a:avLst/>
          </a:prstGeom>
          <a:solidFill>
            <a:srgbClr val="F8FAFC"/>
          </a:solidFill>
          <a:ln>
            <a:noFill/>
          </a:ln>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p>
        </p:txBody>
      </p:sp>
      <p:sp>
        <p:nvSpPr>
          <p:cNvPr id="3" name="Rectangle 2"/>
          <p:cNvSpPr>
            <a:extLst>
              <a:ext uri="smNativeData">
                <pr:smNativeData xmlns:pr="smNativeData" xmlns="smNativeData" val="SMDATA_15_ceEnahMAAAAlAAAAZAAAAA0AAAAAkAAAAEgAAACQAAAASAAAAAAAAAABAAAAAAAAAAEAAABQAAAAAAAAAAAA4D8AAAAAAADgPwAAAAAAAOA/AAAAAAAA4D8AAAAAAADgPwAAAAAAAOA/AAAAAAAA4D8AAAAAAADgPwAAAAAAAOA/AAAAAAAA4D8CAAAAjAAAAAEAAAAAAAAADZNzACxn1gAAAAAAAAAAAAAAAAAAAAAAAAAAAAAAAAAAAAAAZAAAAAEAAABAAAAAAAAAAJz///9aAAAAAAAAAAEAAABQAAAAMGjPAAAAAAAAAAAAAAAAAAAAAAAAAAAAAAAAAAAAAAAAAAAAAAAAAAAAAAAAAAAAAAAAAAAAAAAAAAAAFAAAADwAAAAAAAAAAAAAAEBtxAAP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DZNzACxn1gAwaM8AAAAAAAAAAAAAAAAAAAAAAAAAAAAAAAAAAAAAAEBtxAB/f38A5+bmA8zMzADAwP8Af39/AAAAAAAAAAAAAAAAAAAAAAAAAAAAIQAAABgAAAAUAAAAYAMAAIgCAAAwBgAA3gIAABAAAAAmAAAACAAAAP//////////"/>
              </a:ext>
            </a:extLst>
          </p:cNvSpPr>
          <p:nvPr/>
        </p:nvSpPr>
        <p:spPr>
          <a:xfrm>
            <a:off x="548640" y="411480"/>
            <a:ext cx="457200" cy="54610"/>
          </a:xfrm>
          <a:prstGeom prst="rect">
            <a:avLst/>
          </a:prstGeom>
          <a:solidFill>
            <a:srgbClr val="0D9373"/>
          </a:solidFill>
          <a:ln>
            <a:noFill/>
          </a:ln>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p>
        </p:txBody>
      </p:sp>
      <p:sp>
        <p:nvSpPr>
          <p:cNvPr id="4" name="TextBox 3"/>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YAMAABgDAABgMAAAEAUAABAgAAAmAAAACAAAAP//////////"/>
              </a:ext>
            </a:extLst>
          </p:cNvSpPr>
          <p:nvPr/>
        </p:nvSpPr>
        <p:spPr>
          <a:xfrm>
            <a:off x="548640" y="502920"/>
            <a:ext cx="7315200" cy="320040"/>
          </a:xfrm>
          <a:prstGeom prst="rect">
            <a:avLst/>
          </a:prstGeom>
          <a:noFill/>
          <a:ln>
            <a:noFill/>
          </a:ln>
          <a:effectLst/>
        </p:spPr>
        <p:txBody>
          <a:bodyPr vert="horz" wrap="square" lIns="0" tIns="0" rIns="0" bIns="0" numCol="1" spcCol="215900" anchor="t"/>
          <a:lstStyle/>
          <a:p>
            <a:pPr algn="l">
              <a:defRPr lang="en-us"/>
            </a:pPr>
            <a:r>
              <a:rPr lang="en-us" sz="1100" b="1" cap="none">
                <a:solidFill>
                  <a:srgbClr val="0D9373"/>
                </a:solidFill>
              </a:rPr>
              <a:t>04 · AGENTS</a:t>
            </a:r>
            <a:endParaRPr lang="en-us" sz="1100" b="1" cap="none">
              <a:solidFill>
                <a:srgbClr val="0D9373"/>
              </a:solidFill>
            </a:endParaRPr>
          </a:p>
        </p:txBody>
      </p:sp>
      <p:sp>
        <p:nvSpPr>
          <p:cNvPr id="5" name="TextBox 4"/>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YAMAAMgEAADgRgAASAkAABAgAAAmAAAACAAAAP//////////"/>
              </a:ext>
            </a:extLst>
          </p:cNvSpPr>
          <p:nvPr/>
        </p:nvSpPr>
        <p:spPr>
          <a:xfrm>
            <a:off x="548640" y="777240"/>
            <a:ext cx="10972800" cy="731520"/>
          </a:xfrm>
          <a:prstGeom prst="rect">
            <a:avLst/>
          </a:prstGeom>
          <a:noFill/>
          <a:ln>
            <a:noFill/>
          </a:ln>
          <a:effectLst/>
        </p:spPr>
        <p:txBody>
          <a:bodyPr vert="horz" wrap="square" lIns="0" tIns="0" rIns="0" bIns="0" numCol="1" spcCol="215900" anchor="t"/>
          <a:lstStyle/>
          <a:p>
            <a:pPr algn="l">
              <a:defRPr lang="en-us"/>
            </a:pPr>
            <a:r>
              <a:rPr lang="en-us" sz="3200" b="1" cap="none">
                <a:solidFill>
                  <a:srgbClr val="0F172A"/>
                </a:solidFill>
              </a:rPr>
              <a:t>Pipeline des 8 agents spécialisés</a:t>
            </a:r>
            <a:endParaRPr lang="en-us" sz="3200" b="1" cap="none">
              <a:solidFill>
                <a:srgbClr val="0F172A"/>
              </a:solidFill>
            </a:endParaRPr>
          </a:p>
        </p:txBody>
      </p:sp>
      <p:sp>
        <p:nvSpPr>
          <p:cNvPr id="6" name="TextBox 5"/>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J/J8f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YAMAALgIAADgRgAAiAsAABAgAAAmAAAACAAAAP//////////"/>
              </a:ext>
            </a:extLst>
          </p:cNvSpPr>
          <p:nvPr/>
        </p:nvSpPr>
        <p:spPr>
          <a:xfrm>
            <a:off x="548640" y="1417320"/>
            <a:ext cx="10972800" cy="457200"/>
          </a:xfrm>
          <a:prstGeom prst="rect">
            <a:avLst/>
          </a:prstGeom>
          <a:noFill/>
          <a:ln>
            <a:noFill/>
          </a:ln>
          <a:effectLst/>
        </p:spPr>
        <p:txBody>
          <a:bodyPr vert="horz" wrap="square" lIns="0" tIns="0" rIns="0" bIns="0" numCol="1" spcCol="215900" anchor="t"/>
          <a:lstStyle/>
          <a:p>
            <a:pPr algn="l">
              <a:defRPr lang="en-us"/>
            </a:pPr>
            <a:r>
              <a:rPr lang="en-us" sz="1400" cap="none">
                <a:solidFill>
                  <a:srgbClr val="475569"/>
                </a:solidFill>
              </a:rPr>
              <a:t>Chacun avec un rôle, une entrée et une sortie typées dans AgentState.</a:t>
            </a:r>
            <a:endParaRPr lang="en-us" sz="1400" cap="none">
              <a:solidFill>
                <a:srgbClr val="475569"/>
              </a:solidFill>
            </a:endParaRPr>
          </a:p>
        </p:txBody>
      </p:sp>
      <p:sp>
        <p:nvSpPr>
          <p:cNvPr id="7" name="Rounded Rectangle 6"/>
          <p:cNvSpPr>
            <a:extLst>
              <a:ext uri="smNativeData">
                <pr:smNativeData xmlns:pr="smNativeData" xmlns="smNativeData" val="SMDATA_15_ceEnahMAAAAlAAAAZQAAAA0AAAAAkAAAAEgAAACQAAAASAAAAAAAAAABAAAAAAAAAAEAAABQAAAAhbacS3FV1T8AAAAAAADwvwAAAAAAAOA/AAAAAAAA4D8AAAAAAADgPwAAAAAAAOA/AAAAAAAA4D8AAAAAAADgPwAAAAAAAOA/AAAAAAAA4D8CAAAAjAAAAAEAAAAAAAAA////ACxn1gAAAAAAAAAAAAAAAAAAAAAAAAAAAAAAAAAAAAAAZAAAAAEAAABAAAAAAAAAAJz///9aAAAAAAAAAAEAAABQAAAAMGjPAAAAAAAAAAAAAAAAAAAAAAAAAAAAAAAAAAAAAAAAAAAAAAAAAAAAAAAAAAAAAAAAAAAAAAAAAAAAFAAAADwAAAABAAAAAAAAAOLo8AAP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GTaIAI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Cxn1gAwaM8AAAAAAAAAAAAAAAAAAAAAAAAAAAAAAAAAAAAAAOLo8AB/f38A5+bmA8zMzADAwP8Af39/AAAAAAAAAAAAAAAAAAAAAAAAAAAAIQAAABgAAAAUAAAADAMAAIANAACkEwAA6BcAABAAAAAmAAAACAAAAP//////////"/>
              </a:ext>
            </a:extLst>
          </p:cNvSpPr>
          <p:nvPr/>
        </p:nvSpPr>
        <p:spPr>
          <a:xfrm>
            <a:off x="495300" y="2194560"/>
            <a:ext cx="2697480" cy="1691640"/>
          </a:xfrm>
          <a:prstGeom prst="roundRect">
            <a:avLst>
              <a:gd name="adj" fmla="val 16667"/>
            </a:avLst>
          </a:prstGeom>
          <a:solidFill>
            <a:srgbClr val="FFFFFF"/>
          </a:solidFill>
          <a:ln w="9525" cap="flat" cmpd="sng" algn="ctr">
            <a:solidFill>
              <a:srgbClr val="E2E8F0"/>
            </a:solidFill>
            <a:prstDash val="solid"/>
            <a:headEnd type="none"/>
            <a:tailEnd type="none"/>
          </a:ln>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p>
        </p:txBody>
      </p:sp>
      <p:sp>
        <p:nvSpPr>
          <p:cNvPr id="8" name="Oval 7"/>
          <p:cNvSpPr>
            <a:extLst>
              <a:ext uri="smNativeData">
                <pr:smNativeData xmlns:pr="smNativeData" xmlns="smNativeData" val="SMDATA_15_ceEnahMAAAAlAAAAZgAAAA0AAAAAkAAAAEgAAACQAAAASAAAAAAAAAABAAAAAAAAAAEAAABQAAAAAAAAAAAA8D8AAAAAAADwPwAAAAAAAOA/AAAAAAAA4D8AAAAAAADgPwAAAAAAAOA/AAAAAAAA4D8AAAAAAADgPwAAAAAAAOA/AAAAAAAA4D8CAAAAjAAAAAEAAAAAAAAADZNzACxn1gAAAAAAAAAAAAAAAAAAAAAAAAAAAAAAAAAAAAAAZAAAAAEAAABAAAAAAAAAAJz///9aAAAAAAAAAAEAAABQAAAAMGjPAAAAAAAAAAAAAAAAAAAAAAAAAAAAAAAAAAAAAAAAAAAAAAAAAAAAAAAAAAAAAAAAAAAAAAAAAAAAFAAAADwAAAAAAAAAAAAAAEBtxAAP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DZNzACxn1gAwaM8AAAAAAAAAAAAAAAAAAAAAAAAAAAAAAAAAAAAAAEBtxAB/f38A5+bmA8zMzADAwP8Af39/AAAAAAAAAAAAAAAAAAAAAAAAAAAAIQAAABgAAAAUAAAAdAQAAOgOAACMBwAAABIAABAAAAAmAAAACAAAAP//////////"/>
              </a:ext>
            </a:extLst>
          </p:cNvSpPr>
          <p:nvPr/>
        </p:nvSpPr>
        <p:spPr>
          <a:xfrm>
            <a:off x="723900" y="2423160"/>
            <a:ext cx="502920" cy="502920"/>
          </a:xfrm>
          <a:prstGeom prst="ellipse">
            <a:avLst/>
          </a:prstGeom>
          <a:solidFill>
            <a:srgbClr val="0D9373"/>
          </a:solidFill>
          <a:ln>
            <a:noFill/>
          </a:ln>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p>
        </p:txBody>
      </p:sp>
      <p:sp>
        <p:nvSpPr>
          <p:cNvPr id="9" name="TextBox 8"/>
          <p:cNvSpPr>
            <a:extLst>
              <a:ext uri="smNativeData">
                <pr:smNativeData xmlns:pr="smNativeData" xmlns="smNativeData" val="SMDATA_15_ceEnahMAAAAlAAAAZAAAAE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dAQAAAUPAACMBwAAHRIAABAgAAAmAAAACAAAAP//////////"/>
              </a:ext>
            </a:extLst>
          </p:cNvSpPr>
          <p:nvPr/>
        </p:nvSpPr>
        <p:spPr>
          <a:xfrm>
            <a:off x="723900" y="2441575"/>
            <a:ext cx="502920" cy="502920"/>
          </a:xfrm>
          <a:prstGeom prst="rect">
            <a:avLst/>
          </a:prstGeom>
          <a:noFill/>
          <a:ln>
            <a:noFill/>
          </a:ln>
          <a:effectLst/>
        </p:spPr>
        <p:txBody>
          <a:bodyPr vert="horz" wrap="square" lIns="0" tIns="0" rIns="0" bIns="0" numCol="1" spcCol="215900" anchor="ctr"/>
          <a:lstStyle/>
          <a:p>
            <a:pPr algn="ctr">
              <a:defRPr lang="en-us"/>
            </a:pPr>
            <a:r>
              <a:rPr lang="en-us" sz="1600" b="1" cap="none">
                <a:solidFill>
                  <a:srgbClr val="FFFFFF"/>
                </a:solidFill>
              </a:rPr>
              <a:t>1</a:t>
            </a:r>
            <a:endParaRPr lang="en-us" sz="1600" b="1" cap="none">
              <a:solidFill>
                <a:srgbClr val="FFFFFF"/>
              </a:solidFill>
            </a:endParaRPr>
          </a:p>
        </p:txBody>
      </p:sp>
      <p:sp>
        <p:nvSpPr>
          <p:cNvPr id="10" name="TextBox 9"/>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ZAgAADAPAADMEgAAABIAABAgAAAmAAAACAAAAP//////////"/>
              </a:ext>
            </a:extLst>
          </p:cNvSpPr>
          <p:nvPr/>
        </p:nvSpPr>
        <p:spPr>
          <a:xfrm>
            <a:off x="1363980" y="2468880"/>
            <a:ext cx="1691640" cy="457200"/>
          </a:xfrm>
          <a:prstGeom prst="rect">
            <a:avLst/>
          </a:prstGeom>
          <a:noFill/>
          <a:ln>
            <a:noFill/>
          </a:ln>
          <a:effectLst/>
        </p:spPr>
        <p:txBody>
          <a:bodyPr vert="horz" wrap="square" lIns="0" tIns="0" rIns="0" bIns="0" numCol="1" spcCol="215900" anchor="t"/>
          <a:lstStyle/>
          <a:p>
            <a:pPr algn="l">
              <a:defRPr lang="en-us"/>
            </a:pPr>
            <a:r>
              <a:rPr lang="en-us" sz="1500" b="1" cap="none">
                <a:solidFill>
                  <a:srgbClr val="0F172A"/>
                </a:solidFill>
              </a:rPr>
              <a:t>Triage</a:t>
            </a:r>
            <a:endParaRPr lang="en-us" sz="1500" b="1" cap="none">
              <a:solidFill>
                <a:srgbClr val="0F172A"/>
              </a:solidFill>
            </a:endParaRPr>
          </a:p>
        </p:txBody>
      </p:sp>
      <p:sp>
        <p:nvSpPr>
          <p:cNvPr id="11" name="TextBox 10"/>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dAQAANgSAAA8EgAA6BcAABAgAAAmAAAACAAAAP//////////"/>
              </a:ext>
            </a:extLst>
          </p:cNvSpPr>
          <p:nvPr/>
        </p:nvSpPr>
        <p:spPr>
          <a:xfrm>
            <a:off x="723900" y="3063240"/>
            <a:ext cx="2240280" cy="822960"/>
          </a:xfrm>
          <a:prstGeom prst="rect">
            <a:avLst/>
          </a:prstGeom>
          <a:noFill/>
          <a:ln>
            <a:noFill/>
          </a:ln>
          <a:effectLst/>
        </p:spPr>
        <p:txBody>
          <a:bodyPr vert="horz" wrap="square" lIns="0" tIns="0" rIns="0" bIns="0" numCol="1" spcCol="215900" anchor="t"/>
          <a:lstStyle/>
          <a:p>
            <a:pPr algn="l">
              <a:defRPr lang="en-us"/>
            </a:pPr>
            <a:r>
              <a:rPr lang="en-us" sz="1100" cap="none">
                <a:solidFill>
                  <a:srgbClr val="475569"/>
                </a:solidFill>
              </a:rPr>
              <a:t>Détection langages,</a:t>
            </a:r>
            <a:endParaRPr lang="en-us" sz="1100" cap="none">
              <a:solidFill>
                <a:srgbClr val="475569"/>
              </a:solidFill>
            </a:endParaRPr>
          </a:p>
          <a:p>
            <a:pPr algn="l">
              <a:defRPr lang="en-us"/>
            </a:pPr>
            <a:r>
              <a:rPr lang="en-us" sz="1100" cap="none">
                <a:solidFill>
                  <a:srgbClr val="475569"/>
                </a:solidFill>
              </a:rPr>
              <a:t>ScanTarget[]</a:t>
            </a:r>
            <a:endParaRPr lang="en-us" sz="1100" cap="none">
              <a:solidFill>
                <a:srgbClr val="475569"/>
              </a:solidFill>
            </a:endParaRPr>
          </a:p>
        </p:txBody>
      </p:sp>
      <p:sp>
        <p:nvSpPr>
          <p:cNvPr id="12" name="Rounded Rectangle 11"/>
          <p:cNvSpPr>
            <a:extLst>
              <a:ext uri="smNativeData">
                <pr:smNativeData xmlns:pr="smNativeData" xmlns="smNativeData" val="SMDATA_15_ceEnahMAAAAlAAAAZQAAAA0AAAAAkAAAAEgAAACQAAAASAAAAAAAAAABAAAAAAAAAAEAAABQAAAAhbacS3FV1T8AAAAAAADwvwAAAAAAAOA/AAAAAAAA4D8AAAAAAADgPwAAAAAAAOA/AAAAAAAA4D8AAAAAAADgPwAAAAAAAOA/AAAAAAAA4D8CAAAAjAAAAAEAAAAAAAAA////ACxn1gAAAAAAAAAAAAAAAAAAAAAAAAAAAAAAAAAAAAAAZAAAAAEAAABAAAAAAAAAAJz///9aAAAAAAAAAAEAAABQAAAAMGjPAAAAAAAAAAAAAAAAAAAAAAAAAAAAAAAAAAAAAAAAAAAAAAAAAAAAAAAAAAAAAAAAAAAAAAAAAAAAFAAAADwAAAABAAAAAAAAAOLo8AAP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I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Cxn1gAwaM8AAAAAAAAAAAAAAAAAAAAAAAAAAAAAAAAAAAAAAOLo8AB/f38A5+bmA8zMzADAwP8Af39/AAAAAAAAAAAAAAAAAAAAAAAAAAAAIQAAABgAAAAUAAAAfBQAAIANAAAUJQAA6BcAABAAAAAmAAAACAAAAP//////////"/>
              </a:ext>
            </a:extLst>
          </p:cNvSpPr>
          <p:nvPr/>
        </p:nvSpPr>
        <p:spPr>
          <a:xfrm>
            <a:off x="3329940" y="2194560"/>
            <a:ext cx="2697480" cy="1691640"/>
          </a:xfrm>
          <a:prstGeom prst="roundRect">
            <a:avLst>
              <a:gd name="adj" fmla="val 16667"/>
            </a:avLst>
          </a:prstGeom>
          <a:solidFill>
            <a:srgbClr val="FFFFFF"/>
          </a:solidFill>
          <a:ln w="9525" cap="flat" cmpd="sng" algn="ctr">
            <a:solidFill>
              <a:srgbClr val="E2E8F0"/>
            </a:solidFill>
            <a:prstDash val="solid"/>
            <a:headEnd type="none"/>
            <a:tailEnd type="none"/>
          </a:ln>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p>
        </p:txBody>
      </p:sp>
      <p:sp>
        <p:nvSpPr>
          <p:cNvPr id="13" name="Oval 12"/>
          <p:cNvSpPr>
            <a:extLst>
              <a:ext uri="smNativeData">
                <pr:smNativeData xmlns:pr="smNativeData" xmlns="smNativeData" val="SMDATA_15_ceEnahMAAAAlAAAAZgAAAA0AAAAAkAAAAEgAAACQAAAASAAAAAAAAAABAAAAAAAAAAEAAABQAAAAAAAAAAAA8D8AAAAAAADwPwAAAAAAAOA/AAAAAAAA4D8AAAAAAADgPwAAAAAAAOA/AAAAAAAA4D8AAAAAAADgPwAAAAAAAOA/AAAAAAAA4D8CAAAAjAAAAAEAAAAAAAAADZNzACxn1gAAAAAAAAAAAAAAAAAAAAAAAAAAAAAAAAAAAAAAZAAAAAEAAABAAAAAAAAAAJz///9aAAAAAAAAAAEAAABQAAAAMGjPAAAAAAAAAAAAAAAAAAAAAAAAAAAAAAAAAAAAAAAAAAAAAAAAAAAAAAAAAAAAAAAAAAAAAAAAAAAAFAAAADwAAAAAAAAAAAAAAEBtxAAP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DZNzACxn1gAwaM8AAAAAAAAAAAAAAAAAAAAAAAAAAAAAAAAAAAAAAEBtxAB/f38A5+bmA8zMzADAwP8Af39/AAAAAAAAAAAAAAAAAAAAAAAAAAAAIQAAABgAAAAUAAAA5BUAAOgOAAD8GAAAABIAABAAAAAmAAAACAAAAP//////////"/>
              </a:ext>
            </a:extLst>
          </p:cNvSpPr>
          <p:nvPr/>
        </p:nvSpPr>
        <p:spPr>
          <a:xfrm>
            <a:off x="3558540" y="2423160"/>
            <a:ext cx="502920" cy="502920"/>
          </a:xfrm>
          <a:prstGeom prst="ellipse">
            <a:avLst/>
          </a:prstGeom>
          <a:solidFill>
            <a:srgbClr val="0D9373"/>
          </a:solidFill>
          <a:ln>
            <a:noFill/>
          </a:ln>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p>
        </p:txBody>
      </p:sp>
      <p:sp>
        <p:nvSpPr>
          <p:cNvPr id="14" name="TextBox 13"/>
          <p:cNvSpPr>
            <a:extLst>
              <a:ext uri="smNativeData">
                <pr:smNativeData xmlns:pr="smNativeData" xmlns="smNativeData" val="SMDATA_15_ceEnahMAAAAlAAAAZAAAAE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BA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5BUAAAUPAAD8GAAAHRIAABAgAAAmAAAACAAAAP//////////"/>
              </a:ext>
            </a:extLst>
          </p:cNvSpPr>
          <p:nvPr/>
        </p:nvSpPr>
        <p:spPr>
          <a:xfrm>
            <a:off x="3558540" y="2441575"/>
            <a:ext cx="502920" cy="502920"/>
          </a:xfrm>
          <a:prstGeom prst="rect">
            <a:avLst/>
          </a:prstGeom>
          <a:noFill/>
          <a:ln>
            <a:noFill/>
          </a:ln>
          <a:effectLst/>
        </p:spPr>
        <p:txBody>
          <a:bodyPr vert="horz" wrap="square" lIns="0" tIns="0" rIns="0" bIns="0" numCol="1" spcCol="215900" anchor="ctr"/>
          <a:lstStyle/>
          <a:p>
            <a:pPr algn="ctr">
              <a:defRPr lang="en-us"/>
            </a:pPr>
            <a:r>
              <a:rPr lang="en-us" sz="1600" b="1" cap="none">
                <a:solidFill>
                  <a:srgbClr val="FFFFFF"/>
                </a:solidFill>
              </a:rPr>
              <a:t>2</a:t>
            </a:r>
            <a:endParaRPr lang="en-us" sz="1600" b="1" cap="none">
              <a:solidFill>
                <a:srgbClr val="FFFFFF"/>
              </a:solidFill>
            </a:endParaRPr>
          </a:p>
        </p:txBody>
      </p:sp>
      <p:sp>
        <p:nvSpPr>
          <p:cNvPr id="15" name="TextBox 14"/>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1BkAADAPAAA8JAAAABIAABAgAAAmAAAACAAAAP//////////"/>
              </a:ext>
            </a:extLst>
          </p:cNvSpPr>
          <p:nvPr/>
        </p:nvSpPr>
        <p:spPr>
          <a:xfrm>
            <a:off x="4198620" y="2468880"/>
            <a:ext cx="1691640" cy="457200"/>
          </a:xfrm>
          <a:prstGeom prst="rect">
            <a:avLst/>
          </a:prstGeom>
          <a:noFill/>
          <a:ln>
            <a:noFill/>
          </a:ln>
          <a:effectLst/>
        </p:spPr>
        <p:txBody>
          <a:bodyPr vert="horz" wrap="square" lIns="0" tIns="0" rIns="0" bIns="0" numCol="1" spcCol="215900" anchor="t"/>
          <a:lstStyle/>
          <a:p>
            <a:pPr algn="l">
              <a:defRPr lang="en-us"/>
            </a:pPr>
            <a:r>
              <a:rPr lang="en-us" sz="1500" b="1" cap="none">
                <a:solidFill>
                  <a:srgbClr val="0F172A"/>
                </a:solidFill>
              </a:rPr>
              <a:t>Scanner</a:t>
            </a:r>
            <a:endParaRPr lang="en-us" sz="1500" b="1" cap="none">
              <a:solidFill>
                <a:srgbClr val="0F172A"/>
              </a:solidFill>
            </a:endParaRPr>
          </a:p>
        </p:txBody>
      </p:sp>
      <p:sp>
        <p:nvSpPr>
          <p:cNvPr id="16" name="TextBox 15"/>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5BUAANgSAACsIwAA6BcAABAgAAAmAAAACAAAAP//////////"/>
              </a:ext>
            </a:extLst>
          </p:cNvSpPr>
          <p:nvPr/>
        </p:nvSpPr>
        <p:spPr>
          <a:xfrm>
            <a:off x="3558540" y="3063240"/>
            <a:ext cx="2240280" cy="822960"/>
          </a:xfrm>
          <a:prstGeom prst="rect">
            <a:avLst/>
          </a:prstGeom>
          <a:noFill/>
          <a:ln>
            <a:noFill/>
          </a:ln>
          <a:effectLst/>
        </p:spPr>
        <p:txBody>
          <a:bodyPr vert="horz" wrap="square" lIns="0" tIns="0" rIns="0" bIns="0" numCol="1" spcCol="215900" anchor="t"/>
          <a:lstStyle/>
          <a:p>
            <a:pPr algn="l">
              <a:defRPr lang="en-us"/>
            </a:pPr>
            <a:r>
              <a:rPr lang="en-us" sz="1100" cap="none">
                <a:solidFill>
                  <a:srgbClr val="475569"/>
                </a:solidFill>
              </a:rPr>
              <a:t>Analyse statique</a:t>
            </a:r>
            <a:endParaRPr lang="en-us" sz="1100" cap="none">
              <a:solidFill>
                <a:srgbClr val="475569"/>
              </a:solidFill>
            </a:endParaRPr>
          </a:p>
          <a:p>
            <a:pPr algn="l">
              <a:defRPr lang="en-us"/>
            </a:pPr>
            <a:r>
              <a:rPr lang="en-us" sz="1100" cap="none">
                <a:solidFill>
                  <a:srgbClr val="475569"/>
                </a:solidFill>
              </a:rPr>
              <a:t>multi-outil + cache</a:t>
            </a:r>
            <a:endParaRPr lang="en-us" sz="1100" cap="none">
              <a:solidFill>
                <a:srgbClr val="475569"/>
              </a:solidFill>
            </a:endParaRPr>
          </a:p>
        </p:txBody>
      </p:sp>
      <p:sp>
        <p:nvSpPr>
          <p:cNvPr id="17" name="Rounded Rectangle 16"/>
          <p:cNvSpPr>
            <a:extLst>
              <a:ext uri="smNativeData">
                <pr:smNativeData xmlns:pr="smNativeData" xmlns="smNativeData" val="SMDATA_15_ceEnahMAAAAlAAAAZQAAAA0AAAAAkAAAAEgAAACQAAAASAAAAAAAAAABAAAAAAAAAAEAAABQAAAAhbacS3FV1T8AAAAAAADwvwAAAAAAAOA/AAAAAAAA4D8AAAAAAADgPwAAAAAAAOA/AAAAAAAA4D8AAAAAAADgPwAAAAAAAOA/AAAAAAAA4D8CAAAAjAAAAAEAAAAAAAAA////ACxn1gAAAAAAAAAAAAAAAAAAAAAAAAAAAAAAAAAAAAAAZAAAAAEAAABAAAAAAAAAAJz///9aAAAAAAAAAAEAAABQAAAAMGjPAAAAAAAAAAAAAAAAAAAAAAAAAAAAAAAAAAAAAAAAAAAAAAAAAAAAAAAAAAAAAAAAAAAAAAAAAAAAFAAAADwAAAABAAAAAAAAAOLo8AAP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BA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Cxn1gAwaM8AAAAAAAAAAAAAAAAAAAAAAAAAAAAAAAAAAAAAAOLo8AB/f38A5+bmA8zMzADAwP8Af39/AAAAAAAAAAAAAAAAAAAAAAAAAAAAIQAAABgAAAAUAAAA7CUAAIANAACENgAA6BcAABAAAAAmAAAACAAAAP//////////"/>
              </a:ext>
            </a:extLst>
          </p:cNvSpPr>
          <p:nvPr/>
        </p:nvSpPr>
        <p:spPr>
          <a:xfrm>
            <a:off x="6164580" y="2194560"/>
            <a:ext cx="2697480" cy="1691640"/>
          </a:xfrm>
          <a:prstGeom prst="roundRect">
            <a:avLst>
              <a:gd name="adj" fmla="val 16667"/>
            </a:avLst>
          </a:prstGeom>
          <a:solidFill>
            <a:srgbClr val="FFFFFF"/>
          </a:solidFill>
          <a:ln w="9525" cap="flat" cmpd="sng" algn="ctr">
            <a:solidFill>
              <a:srgbClr val="E2E8F0"/>
            </a:solidFill>
            <a:prstDash val="solid"/>
            <a:headEnd type="none"/>
            <a:tailEnd type="none"/>
          </a:ln>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p>
        </p:txBody>
      </p:sp>
      <p:sp>
        <p:nvSpPr>
          <p:cNvPr id="18" name="Oval 17"/>
          <p:cNvSpPr>
            <a:extLst>
              <a:ext uri="smNativeData">
                <pr:smNativeData xmlns:pr="smNativeData" xmlns="smNativeData" val="SMDATA_15_ceEnahMAAAAlAAAAZgAAAA0AAAAAkAAAAEgAAACQAAAASAAAAAAAAAABAAAAAAAAAAEAAABQAAAAAAAAAAAA8D8AAAAAAADwPwAAAAAAAOA/AAAAAAAA4D8AAAAAAADgPwAAAAAAAOA/AAAAAAAA4D8AAAAAAADgPwAAAAAAAOA/AAAAAAAA4D8CAAAAjAAAAAEAAAAAAAAAGmuaACxn1gAAAAAAAAAAAAAAAAAAAAAAAAAAAAAAAAAAAAAAZAAAAAEAAABAAAAAAAAAAJz///9aAAAAAAAAAAEAAABQAAAAMGjPAAAAAAAAAAAAAAAAAAAAAAAAAAAAAAAAAAAAAAAAAAAAAAAAAAAAAAAAAAAAAAAAAAAAAAAAAAAAFAAAADwAAAAAAAAAAAAAAEBtxAAP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GmuaACxn1gAwaM8AAAAAAAAAAAAAAAAAAAAAAAAAAAAAAAAAAAAAAEBtxAB/f38A5+bmA8zMzADAwP8Af39/AAAAAAAAAAAAAAAAAAAAAAAAAAAAIQAAABgAAAAUAAAAVCcAAOgOAABsKgAAABIAABAAAAAmAAAACAAAAP//////////"/>
              </a:ext>
            </a:extLst>
          </p:cNvSpPr>
          <p:nvPr/>
        </p:nvSpPr>
        <p:spPr>
          <a:xfrm>
            <a:off x="6393180" y="2423160"/>
            <a:ext cx="502920" cy="502920"/>
          </a:xfrm>
          <a:prstGeom prst="ellipse">
            <a:avLst/>
          </a:prstGeom>
          <a:solidFill>
            <a:srgbClr val="1A6B9A"/>
          </a:solidFill>
          <a:ln>
            <a:noFill/>
          </a:ln>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p>
        </p:txBody>
      </p:sp>
      <p:sp>
        <p:nvSpPr>
          <p:cNvPr id="19" name="TextBox 18"/>
          <p:cNvSpPr>
            <a:extLst>
              <a:ext uri="smNativeData">
                <pr:smNativeData xmlns:pr="smNativeData" xmlns="smNativeData" val="SMDATA_15_ceEnahMAAAAlAAAAZAAAAE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BA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VCcAAAUPAABsKgAAHRIAABAgAAAmAAAACAAAAP//////////"/>
              </a:ext>
            </a:extLst>
          </p:cNvSpPr>
          <p:nvPr/>
        </p:nvSpPr>
        <p:spPr>
          <a:xfrm>
            <a:off x="6393180" y="2441575"/>
            <a:ext cx="502920" cy="502920"/>
          </a:xfrm>
          <a:prstGeom prst="rect">
            <a:avLst/>
          </a:prstGeom>
          <a:noFill/>
          <a:ln>
            <a:noFill/>
          </a:ln>
          <a:effectLst/>
        </p:spPr>
        <p:txBody>
          <a:bodyPr vert="horz" wrap="square" lIns="0" tIns="0" rIns="0" bIns="0" numCol="1" spcCol="215900" anchor="ctr"/>
          <a:lstStyle/>
          <a:p>
            <a:pPr algn="ctr">
              <a:defRPr lang="en-us"/>
            </a:pPr>
            <a:r>
              <a:rPr lang="en-us" sz="1600" b="1" cap="none">
                <a:solidFill>
                  <a:srgbClr val="FFFFFF"/>
                </a:solidFill>
              </a:rPr>
              <a:t>3</a:t>
            </a:r>
            <a:endParaRPr lang="en-us" sz="1600" b="1" cap="none">
              <a:solidFill>
                <a:srgbClr val="FFFFFF"/>
              </a:solidFill>
            </a:endParaRPr>
          </a:p>
        </p:txBody>
      </p:sp>
      <p:sp>
        <p:nvSpPr>
          <p:cNvPr id="20" name="TextBox 19"/>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RCsAADAPAACsNQAAABIAABAgAAAmAAAACAAAAP//////////"/>
              </a:ext>
            </a:extLst>
          </p:cNvSpPr>
          <p:nvPr/>
        </p:nvSpPr>
        <p:spPr>
          <a:xfrm>
            <a:off x="7033260" y="2468880"/>
            <a:ext cx="1691640" cy="457200"/>
          </a:xfrm>
          <a:prstGeom prst="rect">
            <a:avLst/>
          </a:prstGeom>
          <a:noFill/>
          <a:ln>
            <a:noFill/>
          </a:ln>
          <a:effectLst/>
        </p:spPr>
        <p:txBody>
          <a:bodyPr vert="horz" wrap="square" lIns="0" tIns="0" rIns="0" bIns="0" numCol="1" spcCol="215900" anchor="t"/>
          <a:lstStyle/>
          <a:p>
            <a:pPr algn="l">
              <a:defRPr lang="en-us"/>
            </a:pPr>
            <a:r>
              <a:rPr lang="en-us" sz="1500" b="1" cap="none">
                <a:solidFill>
                  <a:srgbClr val="0F172A"/>
                </a:solidFill>
              </a:rPr>
              <a:t>MemorySafety</a:t>
            </a:r>
            <a:endParaRPr lang="en-us" sz="1500" b="1" cap="none">
              <a:solidFill>
                <a:srgbClr val="0F172A"/>
              </a:solidFill>
            </a:endParaRPr>
          </a:p>
        </p:txBody>
      </p:sp>
      <p:sp>
        <p:nvSpPr>
          <p:cNvPr id="21" name="TextBox 20"/>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VCcAANgSAAAcNQAA6BcAABAgAAAmAAAACAAAAP//////////"/>
              </a:ext>
            </a:extLst>
          </p:cNvSpPr>
          <p:nvPr/>
        </p:nvSpPr>
        <p:spPr>
          <a:xfrm>
            <a:off x="6393180" y="3063240"/>
            <a:ext cx="2240280" cy="822960"/>
          </a:xfrm>
          <a:prstGeom prst="rect">
            <a:avLst/>
          </a:prstGeom>
          <a:noFill/>
          <a:ln>
            <a:noFill/>
          </a:ln>
          <a:effectLst/>
        </p:spPr>
        <p:txBody>
          <a:bodyPr vert="horz" wrap="square" lIns="0" tIns="0" rIns="0" bIns="0" numCol="1" spcCol="215900" anchor="t"/>
          <a:lstStyle/>
          <a:p>
            <a:pPr algn="l">
              <a:defRPr lang="en-us"/>
            </a:pPr>
            <a:r>
              <a:rPr lang="en-us" sz="1100" cap="none">
                <a:solidFill>
                  <a:srgbClr val="475569"/>
                </a:solidFill>
              </a:rPr>
              <a:t>Buffer overflow,</a:t>
            </a:r>
            <a:endParaRPr lang="en-us" sz="1100" cap="none">
              <a:solidFill>
                <a:srgbClr val="475569"/>
              </a:solidFill>
            </a:endParaRPr>
          </a:p>
          <a:p>
            <a:pPr algn="l">
              <a:defRPr lang="en-us"/>
            </a:pPr>
            <a:r>
              <a:rPr lang="en-us" sz="1100" cap="none">
                <a:solidFill>
                  <a:srgbClr val="475569"/>
                </a:solidFill>
              </a:rPr>
              <a:t>UAF — engine Rust</a:t>
            </a:r>
            <a:endParaRPr lang="en-us" sz="1100" cap="none">
              <a:solidFill>
                <a:srgbClr val="475569"/>
              </a:solidFill>
            </a:endParaRPr>
          </a:p>
        </p:txBody>
      </p:sp>
      <p:sp>
        <p:nvSpPr>
          <p:cNvPr id="22" name="Rounded Rectangle 21"/>
          <p:cNvSpPr>
            <a:extLst>
              <a:ext uri="smNativeData">
                <pr:smNativeData xmlns:pr="smNativeData" xmlns="smNativeData" val="SMDATA_15_ceEnahMAAAAlAAAAZQAAAA0AAAAAkAAAAEgAAACQAAAASAAAAAAAAAABAAAAAAAAAAEAAABQAAAAhbacS3FV1T8AAAAAAADwvwAAAAAAAOA/AAAAAAAA4D8AAAAAAADgPwAAAAAAAOA/AAAAAAAA4D8AAAAAAADgPwAAAAAAAOA/AAAAAAAA4D8CAAAAjAAAAAEAAAAAAAAA////ACxn1gAAAAAAAAAAAAAAAAAAAAAAAAAAAAAAAAAAAAAAZAAAAAEAAABAAAAAAAAAAJz///9aAAAAAAAAAAEAAABQAAAAMGjPAAAAAAAAAAAAAAAAAAAAAAAAAAAAAAAAAAAAAAAAAAAAAAAAAAAAAAAAAAAAAAAAAAAAAAAAAAAAFAAAADwAAAABAAAAAAAAAOLo8AAP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Cxn1gAwaM8AAAAAAAAAAAAAAAAAAAAAAAAAAAAAAAAAAAAAAOLo8AB/f38A5+bmA8zMzADAwP8Af39/AAAAAAAAAAAAAAAAAAAAAAAAAAAAIQAAABgAAAAUAAAAXDcAAIANAAD0RwAA6BcAABAAAAAmAAAACAAAAP//////////"/>
              </a:ext>
            </a:extLst>
          </p:cNvSpPr>
          <p:nvPr/>
        </p:nvSpPr>
        <p:spPr>
          <a:xfrm>
            <a:off x="8999220" y="2194560"/>
            <a:ext cx="2697480" cy="1691640"/>
          </a:xfrm>
          <a:prstGeom prst="roundRect">
            <a:avLst>
              <a:gd name="adj" fmla="val 16667"/>
            </a:avLst>
          </a:prstGeom>
          <a:solidFill>
            <a:srgbClr val="FFFFFF"/>
          </a:solidFill>
          <a:ln w="9525" cap="flat" cmpd="sng" algn="ctr">
            <a:solidFill>
              <a:srgbClr val="E2E8F0"/>
            </a:solidFill>
            <a:prstDash val="solid"/>
            <a:headEnd type="none"/>
            <a:tailEnd type="none"/>
          </a:ln>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p>
        </p:txBody>
      </p:sp>
      <p:sp>
        <p:nvSpPr>
          <p:cNvPr id="23" name="Oval 22"/>
          <p:cNvSpPr>
            <a:extLst>
              <a:ext uri="smNativeData">
                <pr:smNativeData xmlns:pr="smNativeData" xmlns="smNativeData" val="SMDATA_15_ceEnahMAAAAlAAAAZgAAAA0AAAAAkAAAAEgAAACQAAAASAAAAAAAAAABAAAAAAAAAAEAAABQAAAAAAAAAAAA8D8AAAAAAADwPwAAAAAAAOA/AAAAAAAA4D8AAAAAAADgPwAAAAAAAOA/AAAAAAAA4D8AAAAAAADgPwAAAAAAAOA/AAAAAAAA4D8CAAAAjAAAAAEAAAAAAAAAGmuaACxn1gAAAAAAAAAAAAAAAAAAAAAAAAAAAAAAAAAAAAAAZAAAAAEAAABAAAAAAAAAAJz///9aAAAAAAAAAAEAAABQAAAAMGjPAAAAAAAAAAAAAAAAAAAAAAAAAAAAAAAAAAAAAAAAAAAAAAAAAAAAAAAAAAAAAAAAAAAAAAAAAAAAFAAAADwAAAAAAAAAAAAAAEBtxAAP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BA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GmuaACxn1gAwaM8AAAAAAAAAAAAAAAAAAAAAAAAAAAAAAAAAAAAAAEBtxAB/f38A5+bmA8zMzADAwP8Af39/AAAAAAAAAAAAAAAAAAAAAAAAAAAAIQAAABgAAAAUAAAAxDgAAOgOAADcOwAAABIAABAAAAAmAAAACAAAAP//////////"/>
              </a:ext>
            </a:extLst>
          </p:cNvSpPr>
          <p:nvPr/>
        </p:nvSpPr>
        <p:spPr>
          <a:xfrm>
            <a:off x="9227820" y="2423160"/>
            <a:ext cx="502920" cy="502920"/>
          </a:xfrm>
          <a:prstGeom prst="ellipse">
            <a:avLst/>
          </a:prstGeom>
          <a:solidFill>
            <a:srgbClr val="1A6B9A"/>
          </a:solidFill>
          <a:ln>
            <a:noFill/>
          </a:ln>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p>
        </p:txBody>
      </p:sp>
      <p:sp>
        <p:nvSpPr>
          <p:cNvPr id="24" name="TextBox 23"/>
          <p:cNvSpPr>
            <a:extLst>
              <a:ext uri="smNativeData">
                <pr:smNativeData xmlns:pr="smNativeData" xmlns="smNativeData" val="SMDATA_15_ceEnahMAAAAlAAAAZAAAAE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xDgAAAUPAADcOwAAHRIAABAgAAAmAAAACAAAAP//////////"/>
              </a:ext>
            </a:extLst>
          </p:cNvSpPr>
          <p:nvPr/>
        </p:nvSpPr>
        <p:spPr>
          <a:xfrm>
            <a:off x="9227820" y="2441575"/>
            <a:ext cx="502920" cy="502920"/>
          </a:xfrm>
          <a:prstGeom prst="rect">
            <a:avLst/>
          </a:prstGeom>
          <a:noFill/>
          <a:ln>
            <a:noFill/>
          </a:ln>
          <a:effectLst/>
        </p:spPr>
        <p:txBody>
          <a:bodyPr vert="horz" wrap="square" lIns="0" tIns="0" rIns="0" bIns="0" numCol="1" spcCol="215900" anchor="ctr"/>
          <a:lstStyle/>
          <a:p>
            <a:pPr algn="ctr">
              <a:defRPr lang="en-us"/>
            </a:pPr>
            <a:r>
              <a:rPr lang="en-us" sz="1600" b="1" cap="none">
                <a:solidFill>
                  <a:srgbClr val="FFFFFF"/>
                </a:solidFill>
              </a:rPr>
              <a:t>4</a:t>
            </a:r>
            <a:endParaRPr lang="en-us" sz="1600" b="1" cap="none">
              <a:solidFill>
                <a:srgbClr val="FFFFFF"/>
              </a:solidFill>
            </a:endParaRPr>
          </a:p>
        </p:txBody>
      </p:sp>
      <p:sp>
        <p:nvSpPr>
          <p:cNvPr id="25" name="TextBox 24"/>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tDwAADAPAAAcRwAAABIAABAgAAAmAAAACAAAAP//////////"/>
              </a:ext>
            </a:extLst>
          </p:cNvSpPr>
          <p:nvPr/>
        </p:nvSpPr>
        <p:spPr>
          <a:xfrm>
            <a:off x="9867900" y="2468880"/>
            <a:ext cx="1691640" cy="457200"/>
          </a:xfrm>
          <a:prstGeom prst="rect">
            <a:avLst/>
          </a:prstGeom>
          <a:noFill/>
          <a:ln>
            <a:noFill/>
          </a:ln>
          <a:effectLst/>
        </p:spPr>
        <p:txBody>
          <a:bodyPr vert="horz" wrap="square" lIns="0" tIns="0" rIns="0" bIns="0" numCol="1" spcCol="215900" anchor="t"/>
          <a:lstStyle/>
          <a:p>
            <a:pPr algn="l">
              <a:defRPr lang="en-us"/>
            </a:pPr>
            <a:r>
              <a:rPr lang="en-us" sz="1500" b="1" cap="none">
                <a:solidFill>
                  <a:srgbClr val="0F172A"/>
                </a:solidFill>
              </a:rPr>
              <a:t>Semantic</a:t>
            </a:r>
            <a:endParaRPr lang="en-us" sz="1500" b="1" cap="none">
              <a:solidFill>
                <a:srgbClr val="0F172A"/>
              </a:solidFill>
            </a:endParaRPr>
          </a:p>
        </p:txBody>
      </p:sp>
      <p:sp>
        <p:nvSpPr>
          <p:cNvPr id="26" name="TextBox 25"/>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xDgAANgSAACMRgAA6BcAABAgAAAmAAAACAAAAP//////////"/>
              </a:ext>
            </a:extLst>
          </p:cNvSpPr>
          <p:nvPr/>
        </p:nvSpPr>
        <p:spPr>
          <a:xfrm>
            <a:off x="9227820" y="3063240"/>
            <a:ext cx="2240280" cy="822960"/>
          </a:xfrm>
          <a:prstGeom prst="rect">
            <a:avLst/>
          </a:prstGeom>
          <a:noFill/>
          <a:ln>
            <a:noFill/>
          </a:ln>
          <a:effectLst/>
        </p:spPr>
        <p:txBody>
          <a:bodyPr vert="horz" wrap="square" lIns="0" tIns="0" rIns="0" bIns="0" numCol="1" spcCol="215900" anchor="t"/>
          <a:lstStyle/>
          <a:p>
            <a:pPr algn="l">
              <a:defRPr lang="en-us"/>
            </a:pPr>
            <a:r>
              <a:rPr lang="en-us" sz="1100" cap="none">
                <a:solidFill>
                  <a:srgbClr val="475569"/>
                </a:solidFill>
              </a:rPr>
              <a:t>Failles logiques</a:t>
            </a:r>
            <a:endParaRPr lang="en-us" sz="1100" cap="none">
              <a:solidFill>
                <a:srgbClr val="475569"/>
              </a:solidFill>
            </a:endParaRPr>
          </a:p>
          <a:p>
            <a:pPr algn="l">
              <a:defRPr lang="en-us"/>
            </a:pPr>
            <a:r>
              <a:rPr lang="en-us" sz="1100" cap="none">
                <a:solidFill>
                  <a:srgbClr val="475569"/>
                </a:solidFill>
              </a:rPr>
              <a:t>LLM 70B + RAG</a:t>
            </a:r>
            <a:endParaRPr lang="en-us" sz="1100" cap="none">
              <a:solidFill>
                <a:srgbClr val="475569"/>
              </a:solidFill>
            </a:endParaRPr>
          </a:p>
        </p:txBody>
      </p:sp>
      <p:sp>
        <p:nvSpPr>
          <p:cNvPr id="27" name="Rounded Rectangle 26"/>
          <p:cNvSpPr>
            <a:extLst>
              <a:ext uri="smNativeData">
                <pr:smNativeData xmlns:pr="smNativeData" xmlns="smNativeData" val="SMDATA_15_ceEnahMAAAAlAAAAZQAAAA0AAAAAkAAAAEgAAACQAAAASAAAAAAAAAABAAAAAAAAAAEAAABQAAAAhbacS3FV1T8AAAAAAADwvwAAAAAAAOA/AAAAAAAA4D8AAAAAAADgPwAAAAAAAOA/AAAAAAAA4D8AAAAAAADgPwAAAAAAAOA/AAAAAAAA4D8CAAAAjAAAAAEAAAAAAAAA////ACxn1gAAAAAAAAAAAAAAAAAAAAAAAAAAAAAAAAAAAAAAZAAAAAEAAABAAAAAAAAAAJz///9aAAAAAAAAAAEAAABQAAAAMGjPAAAAAAAAAAAAAAAAAAAAAAAAAAAAAAAAAAAAAAAAAAAAAAAAAAAAAAAAAAAAAAAAAAAAAAAAAAAAFAAAADwAAAABAAAAAAAAAOLo8AAP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Cxn1gAwaM8AAAAAAAAAAAAAAAAAAAAAAAAAAAAAAAAAAAAAAOLo8AB/f38A5+bmA8zMzADAwP8Af39/AAAAAAAAAAAAAAAAAAAAAAAAAAAAIQAAABgAAAAUAAAADAMAAMAYAACkEwAAKCMAABAAAAAmAAAACAAAAP//////////"/>
              </a:ext>
            </a:extLst>
          </p:cNvSpPr>
          <p:nvPr/>
        </p:nvSpPr>
        <p:spPr>
          <a:xfrm>
            <a:off x="495300" y="4023360"/>
            <a:ext cx="2697480" cy="1691640"/>
          </a:xfrm>
          <a:prstGeom prst="roundRect">
            <a:avLst>
              <a:gd name="adj" fmla="val 16667"/>
            </a:avLst>
          </a:prstGeom>
          <a:solidFill>
            <a:srgbClr val="FFFFFF"/>
          </a:solidFill>
          <a:ln w="9525" cap="flat" cmpd="sng" algn="ctr">
            <a:solidFill>
              <a:srgbClr val="E2E8F0"/>
            </a:solidFill>
            <a:prstDash val="solid"/>
            <a:headEnd type="none"/>
            <a:tailEnd type="none"/>
          </a:ln>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p>
        </p:txBody>
      </p:sp>
      <p:sp>
        <p:nvSpPr>
          <p:cNvPr id="28" name="Oval 27"/>
          <p:cNvSpPr>
            <a:extLst>
              <a:ext uri="smNativeData">
                <pr:smNativeData xmlns:pr="smNativeData" xmlns="smNativeData" val="SMDATA_15_ceEnahMAAAAlAAAAZgAAAA0AAAAAkAAAAEgAAACQAAAASAAAAAAAAAABAAAAAAAAAAEAAABQAAAAAAAAAAAA8D8AAAAAAADwPwAAAAAAAOA/AAAAAAAA4D8AAAAAAADgPwAAAAAAAOA/AAAAAAAA4D8AAAAAAADgPwAAAAAAAOA/AAAAAAAA4D8CAAAAjAAAAAEAAAAAAAAAfDrtACxn1gAAAAAAAAAAAAAAAAAAAAAAAAAAAAAAAAAAAAAAZAAAAAEAAABAAAAAAAAAAJz///9aAAAAAAAAAAEAAABQAAAAMGjPAAAAAAAAAAAAAAAAAAAAAAAAAAAAAAAAAAAAAAAAAAAAAAAAAAAAAAAAAAAAAAAAAAAAAAAAAAAAFAAAADwAAAAAAAAAAAAAAEBtxAAP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CEh0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fDrtACxn1gAwaM8AAAAAAAAAAAAAAAAAAAAAAAAAAAAAAAAAAAAAAEBtxAB/f38A5+bmA8zMzADAwP8Af39/AAAAAAAAAAAAAAAAAAAAAAAAAAAAIQAAABgAAAAUAAAAdAQAACgaAACMBwAAQB0AABAAAAAmAAAACAAAAP//////////"/>
              </a:ext>
            </a:extLst>
          </p:cNvSpPr>
          <p:nvPr/>
        </p:nvSpPr>
        <p:spPr>
          <a:xfrm>
            <a:off x="723900" y="4251960"/>
            <a:ext cx="502920" cy="502920"/>
          </a:xfrm>
          <a:prstGeom prst="ellipse">
            <a:avLst/>
          </a:prstGeom>
          <a:solidFill>
            <a:srgbClr val="7C3AED"/>
          </a:solidFill>
          <a:ln>
            <a:noFill/>
          </a:ln>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p>
        </p:txBody>
      </p:sp>
      <p:sp>
        <p:nvSpPr>
          <p:cNvPr id="29" name="TextBox 28"/>
          <p:cNvSpPr>
            <a:extLst>
              <a:ext uri="smNativeData">
                <pr:smNativeData xmlns:pr="smNativeData" xmlns="smNativeData" val="SMDATA_15_ceEnahMAAAAlAAAAZAAAAE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0wAAI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dAQAAEUaAACMBwAAXR0AABAgAAAmAAAACAAAAP//////////"/>
              </a:ext>
            </a:extLst>
          </p:cNvSpPr>
          <p:nvPr/>
        </p:nvSpPr>
        <p:spPr>
          <a:xfrm>
            <a:off x="723900" y="4270375"/>
            <a:ext cx="502920" cy="502920"/>
          </a:xfrm>
          <a:prstGeom prst="rect">
            <a:avLst/>
          </a:prstGeom>
          <a:noFill/>
          <a:ln>
            <a:noFill/>
          </a:ln>
          <a:effectLst/>
        </p:spPr>
        <p:txBody>
          <a:bodyPr vert="horz" wrap="square" lIns="0" tIns="0" rIns="0" bIns="0" numCol="1" spcCol="215900" anchor="ctr"/>
          <a:lstStyle/>
          <a:p>
            <a:pPr algn="ctr">
              <a:defRPr lang="en-us"/>
            </a:pPr>
            <a:r>
              <a:rPr lang="en-us" sz="1600" b="1" cap="none">
                <a:solidFill>
                  <a:srgbClr val="FFFFFF"/>
                </a:solidFill>
              </a:rPr>
              <a:t>5</a:t>
            </a:r>
            <a:endParaRPr lang="en-us" sz="1600" b="1" cap="none">
              <a:solidFill>
                <a:srgbClr val="FFFFFF"/>
              </a:solidFill>
            </a:endParaRPr>
          </a:p>
        </p:txBody>
      </p:sp>
      <p:sp>
        <p:nvSpPr>
          <p:cNvPr id="30" name="TextBox 29"/>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BLARI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ZAgAAHAaAADMEgAAQB0AABAgAAAmAAAACAAAAP//////////"/>
              </a:ext>
            </a:extLst>
          </p:cNvSpPr>
          <p:nvPr/>
        </p:nvSpPr>
        <p:spPr>
          <a:xfrm>
            <a:off x="1363980" y="4297680"/>
            <a:ext cx="1691640" cy="457200"/>
          </a:xfrm>
          <a:prstGeom prst="rect">
            <a:avLst/>
          </a:prstGeom>
          <a:noFill/>
          <a:ln>
            <a:noFill/>
          </a:ln>
          <a:effectLst/>
        </p:spPr>
        <p:txBody>
          <a:bodyPr vert="horz" wrap="square" lIns="0" tIns="0" rIns="0" bIns="0" numCol="1" spcCol="215900" anchor="t"/>
          <a:lstStyle/>
          <a:p>
            <a:pPr algn="l">
              <a:defRPr lang="en-us"/>
            </a:pPr>
            <a:r>
              <a:rPr lang="en-us" sz="1500" b="1" cap="none">
                <a:solidFill>
                  <a:srgbClr val="0F172A"/>
                </a:solidFill>
              </a:rPr>
              <a:t>ExploitScorer</a:t>
            </a:r>
            <a:endParaRPr lang="en-us" sz="1500" b="1" cap="none">
              <a:solidFill>
                <a:srgbClr val="0F172A"/>
              </a:solidFill>
            </a:endParaRPr>
          </a:p>
        </p:txBody>
      </p:sp>
      <p:sp>
        <p:nvSpPr>
          <p:cNvPr id="31" name="TextBox 30"/>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O4Q74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dAQAABgeAAA8EgAAKCMAABAgAAAmAAAACAAAAP//////////"/>
              </a:ext>
            </a:extLst>
          </p:cNvSpPr>
          <p:nvPr/>
        </p:nvSpPr>
        <p:spPr>
          <a:xfrm>
            <a:off x="723900" y="4892040"/>
            <a:ext cx="2240280" cy="822960"/>
          </a:xfrm>
          <a:prstGeom prst="rect">
            <a:avLst/>
          </a:prstGeom>
          <a:noFill/>
          <a:ln>
            <a:noFill/>
          </a:ln>
          <a:effectLst/>
        </p:spPr>
        <p:txBody>
          <a:bodyPr vert="horz" wrap="square" lIns="0" tIns="0" rIns="0" bIns="0" numCol="1" spcCol="215900" anchor="t"/>
          <a:lstStyle/>
          <a:p>
            <a:pPr algn="l">
              <a:defRPr lang="en-us"/>
            </a:pPr>
            <a:r>
              <a:rPr lang="en-us" sz="1100" cap="none">
                <a:solidFill>
                  <a:srgbClr val="475569"/>
                </a:solidFill>
              </a:rPr>
              <a:t>CVSS 3.1 +</a:t>
            </a:r>
            <a:endParaRPr lang="en-us" sz="1100" cap="none">
              <a:solidFill>
                <a:srgbClr val="475569"/>
              </a:solidFill>
            </a:endParaRPr>
          </a:p>
          <a:p>
            <a:pPr algn="l">
              <a:defRPr lang="en-us"/>
            </a:pPr>
            <a:r>
              <a:rPr lang="en-us" sz="1100" cap="none">
                <a:solidFill>
                  <a:srgbClr val="475569"/>
                </a:solidFill>
              </a:rPr>
              <a:t>exploitabilité — LLM 8B</a:t>
            </a:r>
            <a:endParaRPr lang="en-us" sz="1100" cap="none">
              <a:solidFill>
                <a:srgbClr val="475569"/>
              </a:solidFill>
            </a:endParaRPr>
          </a:p>
        </p:txBody>
      </p:sp>
      <p:sp>
        <p:nvSpPr>
          <p:cNvPr id="32" name="Rounded Rectangle 31"/>
          <p:cNvSpPr>
            <a:extLst>
              <a:ext uri="smNativeData">
                <pr:smNativeData xmlns:pr="smNativeData" xmlns="smNativeData" val="SMDATA_15_ceEnahMAAAAlAAAAZQAAAA0AAAAAkAAAAEgAAACQAAAASAAAAAAAAAABAAAAAAAAAAEAAABQAAAAhbacS3FV1T8AAAAAAADwvwAAAAAAAOA/AAAAAAAA4D8AAAAAAADgPwAAAAAAAOA/AAAAAAAA4D8AAAAAAADgPwAAAAAAAOA/AAAAAAAA4D8CAAAAjAAAAAEAAAAAAAAA////ACxn1gAAAAAAAAAAAAAAAAAAAAAAAAAAAAAAAAAAAAAAZAAAAAEAAABAAAAAAAAAAJz///9aAAAAAAAAAAEAAABQAAAAMGjPAAAAAAAAAAAAAAAAAAAAAAAAAAAAAAAAAAAAAAAAAAAAAAAAAAAAAAAAAAAAAAAAAAAAAAAAAAAAFAAAADwAAAABAAAAAAAAAOLo8AAP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FIAU4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Cxn1gAwaM8AAAAAAAAAAAAAAAAAAAAAAAAAAAAAAAAAAAAAAOLo8AB/f38A5+bmA8zMzADAwP8Af39/AAAAAAAAAAAAAAAAAAAAAAAAAAAAIQAAABgAAAAUAAAAfBQAAMAYAAAUJQAAKCMAABAAAAAmAAAACAAAAP//////////"/>
              </a:ext>
            </a:extLst>
          </p:cNvSpPr>
          <p:nvPr/>
        </p:nvSpPr>
        <p:spPr>
          <a:xfrm>
            <a:off x="3329940" y="4023360"/>
            <a:ext cx="2697480" cy="1691640"/>
          </a:xfrm>
          <a:prstGeom prst="roundRect">
            <a:avLst>
              <a:gd name="adj" fmla="val 16667"/>
            </a:avLst>
          </a:prstGeom>
          <a:solidFill>
            <a:srgbClr val="FFFFFF"/>
          </a:solidFill>
          <a:ln w="9525" cap="flat" cmpd="sng" algn="ctr">
            <a:solidFill>
              <a:srgbClr val="E2E8F0"/>
            </a:solidFill>
            <a:prstDash val="solid"/>
            <a:headEnd type="none"/>
            <a:tailEnd type="none"/>
          </a:ln>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p>
        </p:txBody>
      </p:sp>
      <p:sp>
        <p:nvSpPr>
          <p:cNvPr id="33" name="Oval 32"/>
          <p:cNvSpPr>
            <a:extLst>
              <a:ext uri="smNativeData">
                <pr:smNativeData xmlns:pr="smNativeData" xmlns="smNativeData" val="SMDATA_15_ceEnahMAAAAlAAAAZgAAAA0AAAAAkAAAAEgAAACQAAAASAAAAAAAAAABAAAAAAAAAAEAAABQAAAAAAAAAAAA8D8AAAAAAADwPwAAAAAAAOA/AAAAAAAA4D8AAAAAAADgPwAAAAAAAOA/AAAAAAAA4D8AAAAAAADgPwAAAAAAAOA/AAAAAAAA4D8CAAAAjAAAAAEAAAAAAAAAtFMJACxn1gAAAAAAAAAAAAAAAAAAAAAAAAAAAAAAAAAAAAAAZAAAAAEAAABAAAAAAAAAAJz///9aAAAAAAAAAAEAAABQAAAAMGjPAAAAAAAAAAAAAAAAAAAAAAAAAAAAAAAAAAAAAAAAAAAAAAAAAAAAAAAAAAAAAAAAAAAAAAAAAAAAFAAAADwAAAAAAAAAAAAAAEBtxAAP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CFBs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FMJACxn1gAwaM8AAAAAAAAAAAAAAAAAAAAAAAAAAAAAAAAAAAAAAEBtxAB/f38A5+bmA8zMzADAwP8Af39/AAAAAAAAAAAAAAAAAAAAAAAAAAAAIQAAABgAAAAUAAAA5BUAACgaAAD8GAAAQB0AABAAAAAmAAAACAAAAP//////////"/>
              </a:ext>
            </a:extLst>
          </p:cNvSpPr>
          <p:nvPr/>
        </p:nvSpPr>
        <p:spPr>
          <a:xfrm>
            <a:off x="3558540" y="4251960"/>
            <a:ext cx="502920" cy="502920"/>
          </a:xfrm>
          <a:prstGeom prst="ellipse">
            <a:avLst/>
          </a:prstGeom>
          <a:solidFill>
            <a:srgbClr val="B45309"/>
          </a:solidFill>
          <a:ln>
            <a:noFill/>
          </a:ln>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p>
        </p:txBody>
      </p:sp>
      <p:sp>
        <p:nvSpPr>
          <p:cNvPr id="34" name="TextBox 33"/>
          <p:cNvSpPr>
            <a:extLst>
              <a:ext uri="smNativeData">
                <pr:smNativeData xmlns:pr="smNativeData" xmlns="smNativeData" val="SMDATA_15_ceEnahMAAAAlAAAAZAAAAE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CrEKso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5BUAAEUaAAD8GAAAXR0AABAgAAAmAAAACAAAAP//////////"/>
              </a:ext>
            </a:extLst>
          </p:cNvSpPr>
          <p:nvPr/>
        </p:nvSpPr>
        <p:spPr>
          <a:xfrm>
            <a:off x="3558540" y="4270375"/>
            <a:ext cx="502920" cy="502920"/>
          </a:xfrm>
          <a:prstGeom prst="rect">
            <a:avLst/>
          </a:prstGeom>
          <a:noFill/>
          <a:ln>
            <a:noFill/>
          </a:ln>
          <a:effectLst/>
        </p:spPr>
        <p:txBody>
          <a:bodyPr vert="horz" wrap="square" lIns="0" tIns="0" rIns="0" bIns="0" numCol="1" spcCol="215900" anchor="ctr"/>
          <a:lstStyle/>
          <a:p>
            <a:pPr algn="ctr">
              <a:defRPr lang="en-us"/>
            </a:pPr>
            <a:r>
              <a:rPr lang="en-us" sz="1600" b="1" cap="none">
                <a:solidFill>
                  <a:srgbClr val="FFFFFF"/>
                </a:solidFill>
              </a:rPr>
              <a:t>6</a:t>
            </a:r>
            <a:endParaRPr lang="en-us" sz="1600" b="1" cap="none">
              <a:solidFill>
                <a:srgbClr val="FFFFFF"/>
              </a:solidFill>
            </a:endParaRPr>
          </a:p>
        </p:txBody>
      </p:sp>
      <p:sp>
        <p:nvSpPr>
          <p:cNvPr id="35" name="TextBox 34"/>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DNKM1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1BkAAHAaAAA8JAAAQB0AABAgAAAmAAAACAAAAP//////////"/>
              </a:ext>
            </a:extLst>
          </p:cNvSpPr>
          <p:nvPr/>
        </p:nvSpPr>
        <p:spPr>
          <a:xfrm>
            <a:off x="4198620" y="4297680"/>
            <a:ext cx="1691640" cy="457200"/>
          </a:xfrm>
          <a:prstGeom prst="rect">
            <a:avLst/>
          </a:prstGeom>
          <a:noFill/>
          <a:ln>
            <a:noFill/>
          </a:ln>
          <a:effectLst/>
        </p:spPr>
        <p:txBody>
          <a:bodyPr vert="horz" wrap="square" lIns="0" tIns="0" rIns="0" bIns="0" numCol="1" spcCol="215900" anchor="t"/>
          <a:lstStyle/>
          <a:p>
            <a:pPr algn="l">
              <a:defRPr lang="en-us"/>
            </a:pPr>
            <a:r>
              <a:rPr lang="en-us" sz="1500" b="1" cap="none">
                <a:solidFill>
                  <a:srgbClr val="0F172A"/>
                </a:solidFill>
              </a:rPr>
              <a:t>Patcher</a:t>
            </a:r>
            <a:endParaRPr lang="en-us" sz="1500" b="1" cap="none">
              <a:solidFill>
                <a:srgbClr val="0F172A"/>
              </a:solidFill>
            </a:endParaRPr>
          </a:p>
        </p:txBody>
      </p:sp>
      <p:sp>
        <p:nvSpPr>
          <p:cNvPr id="36" name="TextBox 35"/>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BI4AAI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5BUAABgeAACsIwAAKCMAABAgAAAmAAAACAAAAP//////////"/>
              </a:ext>
            </a:extLst>
          </p:cNvSpPr>
          <p:nvPr/>
        </p:nvSpPr>
        <p:spPr>
          <a:xfrm>
            <a:off x="3558540" y="4892040"/>
            <a:ext cx="2240280" cy="822960"/>
          </a:xfrm>
          <a:prstGeom prst="rect">
            <a:avLst/>
          </a:prstGeom>
          <a:noFill/>
          <a:ln>
            <a:noFill/>
          </a:ln>
          <a:effectLst/>
        </p:spPr>
        <p:txBody>
          <a:bodyPr vert="horz" wrap="square" lIns="0" tIns="0" rIns="0" bIns="0" numCol="1" spcCol="215900" anchor="t"/>
          <a:lstStyle/>
          <a:p>
            <a:pPr algn="l">
              <a:defRPr lang="en-us"/>
            </a:pPr>
            <a:r>
              <a:rPr lang="en-us" sz="1100" cap="none">
                <a:solidFill>
                  <a:srgbClr val="475569"/>
                </a:solidFill>
              </a:rPr>
              <a:t>Unified diffs</a:t>
            </a:r>
            <a:endParaRPr lang="en-us" sz="1100" cap="none">
              <a:solidFill>
                <a:srgbClr val="475569"/>
              </a:solidFill>
            </a:endParaRPr>
          </a:p>
          <a:p>
            <a:pPr algn="l">
              <a:defRPr lang="en-us"/>
            </a:pPr>
            <a:r>
              <a:rPr lang="en-us" sz="1100" cap="none">
                <a:solidFill>
                  <a:srgbClr val="475569"/>
                </a:solidFill>
              </a:rPr>
              <a:t>LLM 70B + RAG patches</a:t>
            </a:r>
            <a:endParaRPr lang="en-us" sz="1100" cap="none">
              <a:solidFill>
                <a:srgbClr val="475569"/>
              </a:solidFill>
            </a:endParaRPr>
          </a:p>
        </p:txBody>
      </p:sp>
      <p:sp>
        <p:nvSpPr>
          <p:cNvPr id="37" name="Rounded Rectangle 36"/>
          <p:cNvSpPr>
            <a:extLst>
              <a:ext uri="smNativeData">
                <pr:smNativeData xmlns:pr="smNativeData" xmlns="smNativeData" val="SMDATA_15_ceEnahMAAAAlAAAAZQAAAA0AAAAAkAAAAEgAAACQAAAASAAAAAAAAAABAAAAAAAAAAEAAABQAAAAhbacS3FV1T8AAAAAAADwvwAAAAAAAOA/AAAAAAAA4D8AAAAAAADgPwAAAAAAAOA/AAAAAAAA4D8AAAAAAADgPwAAAAAAAOA/AAAAAAAA4D8CAAAAjAAAAAEAAAAAAAAA////ACxn1gAAAAAAAAAAAAAAAAAAAAAAAAAAAAAAAAAAAAAAZAAAAAEAAABAAAAAAAAAAJz///9aAAAAAAAAAAEAAABQAAAAMGjPAAAAAAAAAAAAAAAAAAAAAAAAAAAAAAAAAAAAAAAAAAAAAAAAAAAAAAAAAAAAAAAAAAAAAAAAAAAAFAAAADwAAAABAAAAAAAAAOLo8AAP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BgcGJ0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Cxn1gAwaM8AAAAAAAAAAAAAAAAAAAAAAAAAAAAAAAAAAAAAAOLo8AB/f38A5+bmA8zMzADAwP8Af39/AAAAAAAAAAAAAAAAAAAAAAAAAAAAIQAAABgAAAAUAAAA7CUAAMAYAACENgAAKCMAABAAAAAmAAAACAAAAP//////////"/>
              </a:ext>
            </a:extLst>
          </p:cNvSpPr>
          <p:nvPr/>
        </p:nvSpPr>
        <p:spPr>
          <a:xfrm>
            <a:off x="6164580" y="4023360"/>
            <a:ext cx="2697480" cy="1691640"/>
          </a:xfrm>
          <a:prstGeom prst="roundRect">
            <a:avLst>
              <a:gd name="adj" fmla="val 16667"/>
            </a:avLst>
          </a:prstGeom>
          <a:solidFill>
            <a:srgbClr val="FFFFFF"/>
          </a:solidFill>
          <a:ln w="9525" cap="flat" cmpd="sng" algn="ctr">
            <a:solidFill>
              <a:srgbClr val="E2E8F0"/>
            </a:solidFill>
            <a:prstDash val="solid"/>
            <a:headEnd type="none"/>
            <a:tailEnd type="none"/>
          </a:ln>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p>
        </p:txBody>
      </p:sp>
      <p:sp>
        <p:nvSpPr>
          <p:cNvPr id="38" name="Oval 37"/>
          <p:cNvSpPr>
            <a:extLst>
              <a:ext uri="smNativeData">
                <pr:smNativeData xmlns:pr="smNativeData" xmlns="smNativeData" val="SMDATA_15_ceEnahMAAAAlAAAAZgAAAA0AAAAAkAAAAEgAAACQAAAASAAAAAAAAAABAAAAAAAAAAEAAABQAAAAAAAAAAAA8D8AAAAAAADwPwAAAAAAAOA/AAAAAAAA4D8AAAAAAADgPwAAAAAAAOA/AAAAAAAA4D8AAAAAAADgPwAAAAAAAOA/AAAAAAAA4D8CAAAAjAAAAAEAAAAAAAAAtFMJACxn1gAAAAAAAAAAAAAAAAAAAAAAAAAAAAAAAAAAAAAAZAAAAAEAAABAAAAAAAAAAJz///9aAAAAAAAAAAEAAABQAAAAMGjPAAAAAAAAAAAAAAAAAAAAAAAAAAAAAAAAAAAAAAAAAAAAAAAAAAAAAAAAAAAAAAAAAAAAAAAAAAAAFAAAADwAAAAAAAAAAAAAAEBtxAAP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BeAGQ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FMJACxn1gAwaM8AAAAAAAAAAAAAAAAAAAAAAAAAAAAAAAAAAAAAAEBtxAB/f38A5+bmA8zMzADAwP8Af39/AAAAAAAAAAAAAAAAAAAAAAAAAAAAIQAAABgAAAAUAAAAVCcAACgaAABsKgAAQB0AABAAAAAmAAAACAAAAP//////////"/>
              </a:ext>
            </a:extLst>
          </p:cNvSpPr>
          <p:nvPr/>
        </p:nvSpPr>
        <p:spPr>
          <a:xfrm>
            <a:off x="6393180" y="4251960"/>
            <a:ext cx="502920" cy="502920"/>
          </a:xfrm>
          <a:prstGeom prst="ellipse">
            <a:avLst/>
          </a:prstGeom>
          <a:solidFill>
            <a:srgbClr val="B45309"/>
          </a:solidFill>
          <a:ln>
            <a:noFill/>
          </a:ln>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p>
        </p:txBody>
      </p:sp>
      <p:sp>
        <p:nvSpPr>
          <p:cNvPr id="39" name="TextBox 38"/>
          <p:cNvSpPr>
            <a:extLst>
              <a:ext uri="smNativeData">
                <pr:smNativeData xmlns:pr="smNativeData" xmlns="smNativeData" val="SMDATA_15_ceEnahMAAAAlAAAAZAAAAE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BaxFr0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VCcAAEUaAABsKgAAXR0AABAgAAAmAAAACAAAAP//////////"/>
              </a:ext>
            </a:extLst>
          </p:cNvSpPr>
          <p:nvPr/>
        </p:nvSpPr>
        <p:spPr>
          <a:xfrm>
            <a:off x="6393180" y="4270375"/>
            <a:ext cx="502920" cy="502920"/>
          </a:xfrm>
          <a:prstGeom prst="rect">
            <a:avLst/>
          </a:prstGeom>
          <a:noFill/>
          <a:ln>
            <a:noFill/>
          </a:ln>
          <a:effectLst/>
        </p:spPr>
        <p:txBody>
          <a:bodyPr vert="horz" wrap="square" lIns="0" tIns="0" rIns="0" bIns="0" numCol="1" spcCol="215900" anchor="ctr"/>
          <a:lstStyle/>
          <a:p>
            <a:pPr algn="ctr">
              <a:defRPr lang="en-us"/>
            </a:pPr>
            <a:r>
              <a:rPr lang="en-us" sz="1600" b="1" cap="none">
                <a:solidFill>
                  <a:srgbClr val="FFFFFF"/>
                </a:solidFill>
              </a:rPr>
              <a:t>7</a:t>
            </a:r>
            <a:endParaRPr lang="en-us" sz="1600" b="1" cap="none">
              <a:solidFill>
                <a:srgbClr val="FFFFFF"/>
              </a:solidFill>
            </a:endParaRPr>
          </a:p>
        </p:txBody>
      </p:sp>
      <p:sp>
        <p:nvSpPr>
          <p:cNvPr id="40" name="TextBox 39"/>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CwALY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RCsAAHAaAACsNQAAQB0AABAgAAAmAAAACAAAAP//////////"/>
              </a:ext>
            </a:extLst>
          </p:cNvSpPr>
          <p:nvPr/>
        </p:nvSpPr>
        <p:spPr>
          <a:xfrm>
            <a:off x="7033260" y="4297680"/>
            <a:ext cx="1691640" cy="457200"/>
          </a:xfrm>
          <a:prstGeom prst="rect">
            <a:avLst/>
          </a:prstGeom>
          <a:noFill/>
          <a:ln>
            <a:noFill/>
          </a:ln>
          <a:effectLst/>
        </p:spPr>
        <p:txBody>
          <a:bodyPr vert="horz" wrap="square" lIns="0" tIns="0" rIns="0" bIns="0" numCol="1" spcCol="215900" anchor="t"/>
          <a:lstStyle/>
          <a:p>
            <a:pPr algn="l">
              <a:defRPr lang="en-us"/>
            </a:pPr>
            <a:r>
              <a:rPr lang="en-us" sz="1500" b="1" cap="none">
                <a:solidFill>
                  <a:srgbClr val="0F172A"/>
                </a:solidFill>
              </a:rPr>
              <a:t>Validator</a:t>
            </a:r>
            <a:endParaRPr lang="en-us" sz="1500" b="1" cap="none">
              <a:solidFill>
                <a:srgbClr val="0F172A"/>
              </a:solidFill>
            </a:endParaRPr>
          </a:p>
        </p:txBody>
      </p:sp>
      <p:sp>
        <p:nvSpPr>
          <p:cNvPr id="41" name="TextBox 40"/>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BApDT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VCcAABgeAAAcNQAAKCMAABAgAAAmAAAACAAAAP//////////"/>
              </a:ext>
            </a:extLst>
          </p:cNvSpPr>
          <p:nvPr/>
        </p:nvSpPr>
        <p:spPr>
          <a:xfrm>
            <a:off x="6393180" y="4892040"/>
            <a:ext cx="2240280" cy="822960"/>
          </a:xfrm>
          <a:prstGeom prst="rect">
            <a:avLst/>
          </a:prstGeom>
          <a:noFill/>
          <a:ln>
            <a:noFill/>
          </a:ln>
          <a:effectLst/>
        </p:spPr>
        <p:txBody>
          <a:bodyPr vert="horz" wrap="square" lIns="0" tIns="0" rIns="0" bIns="0" numCol="1" spcCol="215900" anchor="t"/>
          <a:lstStyle/>
          <a:p>
            <a:pPr algn="l">
              <a:defRPr lang="en-us"/>
            </a:pPr>
            <a:r>
              <a:rPr lang="en-us" sz="1100" cap="none">
                <a:solidFill>
                  <a:srgbClr val="475569"/>
                </a:solidFill>
              </a:rPr>
              <a:t>Patch + re-scan,</a:t>
            </a:r>
            <a:endParaRPr lang="en-us" sz="1100" cap="none">
              <a:solidFill>
                <a:srgbClr val="475569"/>
              </a:solidFill>
            </a:endParaRPr>
          </a:p>
          <a:p>
            <a:pPr algn="l">
              <a:defRPr lang="en-us"/>
            </a:pPr>
            <a:r>
              <a:rPr lang="en-us" sz="1100" cap="none">
                <a:solidFill>
                  <a:srgbClr val="475569"/>
                </a:solidFill>
              </a:rPr>
              <a:t>régressions</a:t>
            </a:r>
            <a:endParaRPr lang="en-us" sz="1100" cap="none">
              <a:solidFill>
                <a:srgbClr val="475569"/>
              </a:solidFill>
            </a:endParaRPr>
          </a:p>
        </p:txBody>
      </p:sp>
      <p:sp>
        <p:nvSpPr>
          <p:cNvPr id="42" name="Rounded Rectangle 41"/>
          <p:cNvSpPr>
            <a:extLst>
              <a:ext uri="smNativeData">
                <pr:smNativeData xmlns:pr="smNativeData" xmlns="smNativeData" val="SMDATA_15_ceEnahMAAAAlAAAAZQAAAA0AAAAAkAAAAEgAAACQAAAASAAAAAAAAAABAAAAAAAAAAEAAABQAAAAhbacS3FV1T8AAAAAAADwvwAAAAAAAOA/AAAAAAAA4D8AAAAAAADgPwAAAAAAAOA/AAAAAAAA4D8AAAAAAADgPwAAAAAAAOA/AAAAAAAA4D8CAAAAjAAAAAEAAAAAAAAA////ACxn1gAAAAAAAAAAAAAAAAAAAAAAAAAAAAAAAAAAAAAAZAAAAAEAAABAAAAAAAAAAJz///9aAAAAAAAAAAEAAABQAAAAMGjPAAAAAAAAAAAAAAAAAAAAAAAAAAAAAAAAAAAAAAAAAAAAAAAAAAAAAAAAAAAAAAAAAAAAAAAAAAAAFAAAADwAAAABAAAAAAAAAOLo8AAP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BUGFQc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Cxn1gAwaM8AAAAAAAAAAAAAAAAAAAAAAAAAAAAAAAAAAAAAAOLo8AB/f38A5+bmA8zMzADAwP8Af39/AAAAAAAAAAAAAAAAAAAAAAAAAAAAIQAAABgAAAAUAAAAXDcAAMAYAAD0RwAAKCMAABAAAAAmAAAACAAAAP//////////"/>
              </a:ext>
            </a:extLst>
          </p:cNvSpPr>
          <p:nvPr/>
        </p:nvSpPr>
        <p:spPr>
          <a:xfrm>
            <a:off x="8999220" y="4023360"/>
            <a:ext cx="2697480" cy="1691640"/>
          </a:xfrm>
          <a:prstGeom prst="roundRect">
            <a:avLst>
              <a:gd name="adj" fmla="val 16667"/>
            </a:avLst>
          </a:prstGeom>
          <a:solidFill>
            <a:srgbClr val="FFFFFF"/>
          </a:solidFill>
          <a:ln w="9525" cap="flat" cmpd="sng" algn="ctr">
            <a:solidFill>
              <a:srgbClr val="E2E8F0"/>
            </a:solidFill>
            <a:prstDash val="solid"/>
            <a:headEnd type="none"/>
            <a:tailEnd type="none"/>
          </a:ln>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p>
        </p:txBody>
      </p:sp>
      <p:sp>
        <p:nvSpPr>
          <p:cNvPr id="43" name="Oval 42"/>
          <p:cNvSpPr>
            <a:extLst>
              <a:ext uri="smNativeData">
                <pr:smNativeData xmlns:pr="smNativeData" xmlns="smNativeData" val="SMDATA_15_ceEnahMAAAAlAAAAZgAAAA0AAAAAkAAAAEgAAACQAAAASAAAAAAAAAABAAAAAAAAAAEAAABQAAAAAAAAAAAA8D8AAAAAAADwPwAAAAAAAOA/AAAAAAAA4D8AAAAAAADgPwAAAAAAAOA/AAAAAAAA4D8AAAAAAADgPwAAAAAAAOA/AAAAAAAA4D8CAAAAjAAAAAEAAAAAAAAAN0FRACxn1gAAAAAAAAAAAAAAAAAAAAAAAAAAAAAAAAAAAAAAZAAAAAEAAABAAAAAAAAAAJz///9aAAAAAAAAAAEAAABQAAAAMGjPAAAAAAAAAAAAAAAAAAAAAAAAAAAAAAAAAAAAAAAAAAAAAAAAAAAAAAAAAAAAAAAAAAAAAAAAAAAAFAAAADwAAAAAAAAAAAAAAEBtxAAP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Bn8Gf4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N0FRACxn1gAwaM8AAAAAAAAAAAAAAAAAAAAAAAAAAAAAAAAAAAAAAEBtxAB/f38A5+bmA8zMzADAwP8Af39/AAAAAAAAAAAAAAAAAAAAAAAAAAAAIQAAABgAAAAUAAAAxDgAACgaAADcOwAAQB0AABAAAAAmAAAACAAAAP//////////"/>
              </a:ext>
            </a:extLst>
          </p:cNvSpPr>
          <p:nvPr/>
        </p:nvSpPr>
        <p:spPr>
          <a:xfrm>
            <a:off x="9227820" y="4251960"/>
            <a:ext cx="502920" cy="502920"/>
          </a:xfrm>
          <a:prstGeom prst="ellipse">
            <a:avLst/>
          </a:prstGeom>
          <a:solidFill>
            <a:srgbClr val="374151"/>
          </a:solidFill>
          <a:ln>
            <a:noFill/>
          </a:ln>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p>
        </p:txBody>
      </p:sp>
      <p:sp>
        <p:nvSpPr>
          <p:cNvPr id="44" name="TextBox 43"/>
          <p:cNvSpPr>
            <a:extLst>
              <a:ext uri="smNativeData">
                <pr:smNativeData xmlns:pr="smNativeData" xmlns="smNativeData" val="SMDATA_15_ceEnahMAAAAlAAAAZAAAAE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BKRGK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xDgAAEUaAADcOwAAXR0AABAgAAAmAAAACAAAAP//////////"/>
              </a:ext>
            </a:extLst>
          </p:cNvSpPr>
          <p:nvPr/>
        </p:nvSpPr>
        <p:spPr>
          <a:xfrm>
            <a:off x="9227820" y="4270375"/>
            <a:ext cx="502920" cy="502920"/>
          </a:xfrm>
          <a:prstGeom prst="rect">
            <a:avLst/>
          </a:prstGeom>
          <a:noFill/>
          <a:ln>
            <a:noFill/>
          </a:ln>
          <a:effectLst/>
        </p:spPr>
        <p:txBody>
          <a:bodyPr vert="horz" wrap="square" lIns="0" tIns="0" rIns="0" bIns="0" numCol="1" spcCol="215900" anchor="ctr"/>
          <a:lstStyle/>
          <a:p>
            <a:pPr algn="ctr">
              <a:defRPr lang="en-us"/>
            </a:pPr>
            <a:r>
              <a:rPr lang="en-us" sz="1600" b="1" cap="none">
                <a:solidFill>
                  <a:srgbClr val="FFFFFF"/>
                </a:solidFill>
              </a:rPr>
              <a:t>8</a:t>
            </a:r>
            <a:endParaRPr lang="en-us" sz="1600" b="1" cap="none">
              <a:solidFill>
                <a:srgbClr val="FFFFFF"/>
              </a:solidFill>
            </a:endParaRPr>
          </a:p>
        </p:txBody>
      </p:sp>
      <p:sp>
        <p:nvSpPr>
          <p:cNvPr id="45" name="TextBox 44"/>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FsAXI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tDwAAHAaAAAcRwAAQB0AABAgAAAmAAAACAAAAP//////////"/>
              </a:ext>
            </a:extLst>
          </p:cNvSpPr>
          <p:nvPr/>
        </p:nvSpPr>
        <p:spPr>
          <a:xfrm>
            <a:off x="9867900" y="4297680"/>
            <a:ext cx="1691640" cy="457200"/>
          </a:xfrm>
          <a:prstGeom prst="rect">
            <a:avLst/>
          </a:prstGeom>
          <a:noFill/>
          <a:ln>
            <a:noFill/>
          </a:ln>
          <a:effectLst/>
        </p:spPr>
        <p:txBody>
          <a:bodyPr vert="horz" wrap="square" lIns="0" tIns="0" rIns="0" bIns="0" numCol="1" spcCol="215900" anchor="t"/>
          <a:lstStyle/>
          <a:p>
            <a:pPr algn="l">
              <a:defRPr lang="en-us"/>
            </a:pPr>
            <a:r>
              <a:rPr lang="en-us" sz="1500" b="1" cap="none">
                <a:solidFill>
                  <a:srgbClr val="0F172A"/>
                </a:solidFill>
              </a:rPr>
              <a:t>Report</a:t>
            </a:r>
            <a:endParaRPr lang="en-us" sz="1500" b="1" cap="none">
              <a:solidFill>
                <a:srgbClr val="0F172A"/>
              </a:solidFill>
            </a:endParaRPr>
          </a:p>
        </p:txBody>
      </p:sp>
      <p:sp>
        <p:nvSpPr>
          <p:cNvPr id="46" name="TextBox 45"/>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BJOEk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xDgAABgeAACMRgAAKCMAABAgAAAmAAAACAAAAP//////////"/>
              </a:ext>
            </a:extLst>
          </p:cNvSpPr>
          <p:nvPr/>
        </p:nvSpPr>
        <p:spPr>
          <a:xfrm>
            <a:off x="9227820" y="4892040"/>
            <a:ext cx="2240280" cy="822960"/>
          </a:xfrm>
          <a:prstGeom prst="rect">
            <a:avLst/>
          </a:prstGeom>
          <a:noFill/>
          <a:ln>
            <a:noFill/>
          </a:ln>
          <a:effectLst/>
        </p:spPr>
        <p:txBody>
          <a:bodyPr vert="horz" wrap="square" lIns="0" tIns="0" rIns="0" bIns="0" numCol="1" spcCol="215900" anchor="t"/>
          <a:lstStyle/>
          <a:p>
            <a:pPr algn="l">
              <a:defRPr lang="en-us"/>
            </a:pPr>
            <a:r>
              <a:rPr lang="en-us" sz="1100" cap="none">
                <a:solidFill>
                  <a:srgbClr val="475569"/>
                </a:solidFill>
              </a:rPr>
              <a:t>JSON final,</a:t>
            </a:r>
            <a:endParaRPr lang="en-us" sz="1100" cap="none">
              <a:solidFill>
                <a:srgbClr val="475569"/>
              </a:solidFill>
            </a:endParaRPr>
          </a:p>
          <a:p>
            <a:pPr algn="l">
              <a:defRPr lang="en-us"/>
            </a:pPr>
            <a:r>
              <a:rPr lang="en-us" sz="1100" cap="none">
                <a:solidFill>
                  <a:srgbClr val="475569"/>
                </a:solidFill>
              </a:rPr>
              <a:t>stats, top CWEs</a:t>
            </a:r>
            <a:endParaRPr lang="en-us" sz="1100" cap="none">
              <a:solidFill>
                <a:srgbClr val="475569"/>
              </a:solidFill>
            </a:endParaRPr>
          </a:p>
        </p:txBody>
      </p:sp>
      <p:sp>
        <p:nvSpPr>
          <p:cNvPr id="47" name="TextBox 46"/>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DvQO9Y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YAMAAKgnAAAgJQAAWCkAABAgAAAmAAAACAAAAP//////////"/>
              </a:ext>
            </a:extLst>
          </p:cNvSpPr>
          <p:nvPr/>
        </p:nvSpPr>
        <p:spPr>
          <a:xfrm>
            <a:off x="548640" y="6446520"/>
            <a:ext cx="5486400" cy="274320"/>
          </a:xfrm>
          <a:prstGeom prst="rect">
            <a:avLst/>
          </a:prstGeom>
          <a:noFill/>
          <a:ln>
            <a:noFill/>
          </a:ln>
          <a:effectLst/>
        </p:spPr>
        <p:txBody>
          <a:bodyPr vert="horz" wrap="square" lIns="0" tIns="0" rIns="0" bIns="0" numCol="1" spcCol="215900" anchor="t"/>
          <a:lstStyle/>
          <a:p>
            <a:pPr algn="l">
              <a:defRPr lang="en-us"/>
            </a:pPr>
            <a:r>
              <a:rPr lang="en-us" sz="1000" cap="none">
                <a:solidFill>
                  <a:srgbClr val="475569"/>
                </a:solidFill>
              </a:rPr>
              <a:t>MAS — Multi-Agent Security Scanner</a:t>
            </a:r>
            <a:endParaRPr lang="en-us" sz="1000" cap="none">
              <a:solidFill>
                <a:srgbClr val="475569"/>
              </a:solidFill>
            </a:endParaRPr>
          </a:p>
        </p:txBody>
      </p:sp>
      <p:sp>
        <p:nvSpPr>
          <p:cNvPr id="48" name="TextBox 47"/>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CEgc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sEAAAKgnAABwRwAAWCkAABAgAAAmAAAACAAAAP//////////"/>
              </a:ext>
            </a:extLst>
          </p:cNvSpPr>
          <p:nvPr/>
        </p:nvSpPr>
        <p:spPr>
          <a:xfrm>
            <a:off x="10515600" y="6446520"/>
            <a:ext cx="1097280" cy="274320"/>
          </a:xfrm>
          <a:prstGeom prst="rect">
            <a:avLst/>
          </a:prstGeom>
          <a:noFill/>
          <a:ln>
            <a:noFill/>
          </a:ln>
          <a:effectLst/>
        </p:spPr>
        <p:txBody>
          <a:bodyPr vert="horz" wrap="square" lIns="0" tIns="0" rIns="0" bIns="0" numCol="1" spcCol="215900" anchor="t"/>
          <a:lstStyle/>
          <a:p>
            <a:pPr algn="r">
              <a:defRPr lang="en-us"/>
            </a:pPr>
            <a:r>
              <a:rPr lang="en-us" sz="1000" cap="none">
                <a:solidFill>
                  <a:srgbClr val="475569"/>
                </a:solidFill>
              </a:rPr>
              <a:t>5 / 11</a:t>
            </a:r>
            <a:endParaRPr lang="en-us" sz="1000" cap="none">
              <a:solidFill>
                <a:srgbClr val="475569"/>
              </a:solidFill>
            </a:endParaRPr>
          </a:p>
        </p:txBody>
      </p:sp>
    </p:spTree>
  </p:cSld>
  <p:clrMapOvr>
    <a:masterClrMapping/>
  </p:clrMapOvr>
  <p:timing>
    <p:tnLst>
      <p:par>
        <p:cTn id="1" dur="indefinite" restart="never" nodeType="tmRoot"/>
      </p:par>
    </p:tnLst>
  </p:timing>
</p:sld>
</file>

<file path=ppt/slides/slide6.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Rectangle 1"/>
          <p:cNvSpPr>
            <a:extLst>
              <a:ext uri="smNativeData">
                <pr:smNativeData xmlns:pr="smNativeData" xmlns="smNativeData" val="SMDATA_15_ceEnahMAAAAlAAAAZAAAAA0AAAAAkAAAAEgAAACQAAAASAAAAAAAAAABAAAAAAAAAAEAAABQAAAAAAAAAAAA4D8AAAAAAADgPwAAAAAAAOA/AAAAAAAA4D8AAAAAAADgPwAAAAAAAOA/AAAAAAAA4D8AAAAAAADgPwAAAAAAAOA/AAAAAAAA4D8CAAAAjAAAAAEAAAAAAAAADxcqACxn1gAAAAAAAAAAAAAAAAAAAAAAAAAAAAAAAAAAAAAAZAAAAAEAAABAAAAAAAAAAJz///9aAAAAAAAAAAEAAABQAAAAMGjPAAAAAAAAAAAAAAAAAAAAAAAAAAAAAAAAAAAAAAAAAAAAAAAAAAAAAAAAAAAAAAAAAAAAAAAAAAAAFAAAADwAAAAAAAAAAAAAAEBtxAAP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Bm4Gb4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DxcqACxn1gAwaM8AAAAAAAAAAAAAAAAAAAAAAAAAAAAAAAAAAAAAAEBtxAB/f38A5+bmA8zMzADAwP8Af39/AAAAAAAAAAAAAAAAAAAAAAAAAAAAIQAAABgAAAAUAAAAAAAAAAAAAAAASwAAMCoAABAAAAAmAAAACAAAAP//////////"/>
              </a:ext>
            </a:extLst>
          </p:cNvSpPr>
          <p:nvPr/>
        </p:nvSpPr>
        <p:spPr>
          <a:xfrm>
            <a:off x="0" y="0"/>
            <a:ext cx="12192000" cy="6858000"/>
          </a:xfrm>
          <a:prstGeom prst="rect">
            <a:avLst/>
          </a:prstGeom>
          <a:solidFill>
            <a:srgbClr val="0F172A"/>
          </a:solidFill>
          <a:ln>
            <a:noFill/>
          </a:ln>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p>
        </p:txBody>
      </p:sp>
      <p:sp>
        <p:nvSpPr>
          <p:cNvPr id="3" name="Rectangle 2"/>
          <p:cNvSpPr>
            <a:extLst>
              <a:ext uri="smNativeData">
                <pr:smNativeData xmlns:pr="smNativeData" xmlns="smNativeData" val="SMDATA_15_ceEnahMAAAAlAAAAZAAAAA0AAAAAkAAAAEgAAACQAAAASAAAAAAAAAABAAAAAAAAAAEAAABQAAAAAAAAAAAA4D8AAAAAAADgPwAAAAAAAOA/AAAAAAAA4D8AAAAAAADgPwAAAAAAAOA/AAAAAAAA4D8AAAAAAADgPwAAAAAAAOA/AAAAAAAA4D8CAAAAjAAAAAEAAAAAAAAADZNzACxn1gAAAAAAAAAAAAAAAAAAAAAAAAAAAAAAAAAAAAAAZAAAAAEAAABAAAAAAAAAAJz///9aAAAAAAAAAAEAAABQAAAAMGjPAAAAAAAAAAAAAAAAAAAAAAAAAAAAAAAAAAAAAAAAAAAAAAAAAAAAAAAAAAAAAAAAAAAAAAAAAAAAFAAAADwAAAAAAAAAAAAAAEBtxAAP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Bb/FxI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DZNzACxn1gAwaM8AAAAAAAAAAAAAAAAAAAAAAAAAAAAAAAAAAAAAAEBtxAB/f38A5+bmA8zMzADAwP8Af39/AAAAAAAAAAAAAAAAAAAAAAAAAAAAIQAAABgAAAAUAAAAYAMAAIgCAAAwBgAA3gIAABAAAAAmAAAACAAAAP//////////"/>
              </a:ext>
            </a:extLst>
          </p:cNvSpPr>
          <p:nvPr/>
        </p:nvSpPr>
        <p:spPr>
          <a:xfrm>
            <a:off x="548640" y="411480"/>
            <a:ext cx="457200" cy="54610"/>
          </a:xfrm>
          <a:prstGeom prst="rect">
            <a:avLst/>
          </a:prstGeom>
          <a:solidFill>
            <a:srgbClr val="0D9373"/>
          </a:solidFill>
          <a:ln>
            <a:noFill/>
          </a:ln>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p>
        </p:txBody>
      </p:sp>
      <p:sp>
        <p:nvSpPr>
          <p:cNvPr id="4" name="TextBox 3"/>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YAMAABgDAABgMAAAEAUAABAgAAAmAAAACAAAAP//////////"/>
              </a:ext>
            </a:extLst>
          </p:cNvSpPr>
          <p:nvPr/>
        </p:nvSpPr>
        <p:spPr>
          <a:xfrm>
            <a:off x="548640" y="502920"/>
            <a:ext cx="7315200" cy="320040"/>
          </a:xfrm>
          <a:prstGeom prst="rect">
            <a:avLst/>
          </a:prstGeom>
          <a:noFill/>
          <a:ln>
            <a:noFill/>
          </a:ln>
          <a:effectLst/>
        </p:spPr>
        <p:txBody>
          <a:bodyPr vert="horz" wrap="square" lIns="0" tIns="0" rIns="0" bIns="0" numCol="1" spcCol="215900" anchor="t"/>
          <a:lstStyle/>
          <a:p>
            <a:pPr algn="l">
              <a:defRPr lang="en-us"/>
            </a:pPr>
            <a:r>
              <a:rPr lang="en-us" sz="1100" b="1" cap="none">
                <a:solidFill>
                  <a:srgbClr val="0D9373"/>
                </a:solidFill>
              </a:rPr>
              <a:t>05 · WORKFLOW</a:t>
            </a:r>
            <a:endParaRPr lang="en-us" sz="1100" b="1" cap="none">
              <a:solidFill>
                <a:srgbClr val="0D9373"/>
              </a:solidFill>
            </a:endParaRPr>
          </a:p>
        </p:txBody>
      </p:sp>
      <p:sp>
        <p:nvSpPr>
          <p:cNvPr id="5" name="TextBox 4"/>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CI+IkQ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YAMAAMgEAADgRgAASAkAABAgAAAmAAAACAAAAP//////////"/>
              </a:ext>
            </a:extLst>
          </p:cNvSpPr>
          <p:nvPr/>
        </p:nvSpPr>
        <p:spPr>
          <a:xfrm>
            <a:off x="548640" y="777240"/>
            <a:ext cx="10972800" cy="731520"/>
          </a:xfrm>
          <a:prstGeom prst="rect">
            <a:avLst/>
          </a:prstGeom>
          <a:noFill/>
          <a:ln>
            <a:noFill/>
          </a:ln>
          <a:effectLst/>
        </p:spPr>
        <p:txBody>
          <a:bodyPr vert="horz" wrap="square" lIns="0" tIns="0" rIns="0" bIns="0" numCol="1" spcCol="215900" anchor="t"/>
          <a:lstStyle/>
          <a:p>
            <a:pPr algn="l">
              <a:defRPr lang="en-us"/>
            </a:pPr>
            <a:r>
              <a:rPr lang="en-us" sz="3200" b="1" cap="none">
                <a:solidFill>
                  <a:srgbClr val="FFFFFF"/>
                </a:solidFill>
              </a:rPr>
              <a:t>Graphe LangGraph &amp; boucle de retry</a:t>
            </a:r>
            <a:endParaRPr lang="en-us" sz="3200" b="1" cap="none">
              <a:solidFill>
                <a:srgbClr val="FFFFFF"/>
              </a:solidFill>
            </a:endParaRPr>
          </a:p>
        </p:txBody>
      </p:sp>
      <p:sp>
        <p:nvSpPr>
          <p:cNvPr id="6" name="TextBox 5"/>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CEiY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YAMAALgIAADgRgAAiAsAABAgAAAmAAAACAAAAP//////////"/>
              </a:ext>
            </a:extLst>
          </p:cNvSpPr>
          <p:nvPr/>
        </p:nvSpPr>
        <p:spPr>
          <a:xfrm>
            <a:off x="548640" y="1417320"/>
            <a:ext cx="10972800" cy="457200"/>
          </a:xfrm>
          <a:prstGeom prst="rect">
            <a:avLst/>
          </a:prstGeom>
          <a:noFill/>
          <a:ln>
            <a:noFill/>
          </a:ln>
          <a:effectLst/>
        </p:spPr>
        <p:txBody>
          <a:bodyPr vert="horz" wrap="square" lIns="0" tIns="0" rIns="0" bIns="0" numCol="1" spcCol="215900" anchor="t"/>
          <a:lstStyle/>
          <a:p>
            <a:pPr algn="l">
              <a:defRPr lang="en-us"/>
            </a:pPr>
            <a:r>
              <a:rPr lang="en-us" sz="1400" cap="none">
                <a:solidFill>
                  <a:srgbClr val="CBD5E1"/>
                </a:solidFill>
              </a:rPr>
              <a:t>Routage conditionnel, parallélisation MemorySafety ∥ Semantic, retry patching × 3.</a:t>
            </a:r>
            <a:endParaRPr lang="en-us" sz="1400" cap="none">
              <a:solidFill>
                <a:srgbClr val="CBD5E1"/>
              </a:solidFill>
            </a:endParaRPr>
          </a:p>
        </p:txBody>
      </p:sp>
      <p:sp>
        <p:nvSpPr>
          <p:cNvPr id="7" name="Rounded Rectangle 6"/>
          <p:cNvSpPr>
            <a:extLst>
              <a:ext uri="smNativeData">
                <pr:smNativeData xmlns:pr="smNativeData" xmlns="smNativeData" val="SMDATA_15_ceEnahMAAAAlAAAAZQAAAA0AAAAAkAAAAEgAAACQAAAASAAAAAAAAAABAAAAAAAAAAEAAABQAAAAhbacS3FV1T8AAAAAAADwvwAAAAAAAOA/AAAAAAAA4D8AAAAAAADgPwAAAAAAAOA/AAAAAAAA4D8AAAAAAADgPwAAAAAAAOA/AAAAAAAA4D8CAAAAjAAAAAEAAAAAAAAACm5XACxn1gAAAAAAAAAAAAAAAAAAAAAAAAAAAAAAAAAAAAAAZAAAAAEAAABAAAAAAAAAAJz///9aAAAAAAAAAAEAAABQAAAAMGjPAAAAAAAAAAAAAAAAAAAAAAAAAAAAAAAAAAAAAAAAAAAAAAAAAAAAAAAAAAAAAAAAAAAAAAAAAAAAFAAAADwAAAAAAAAAAAAAAEBtxAAP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Bi1AAI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Cm5XACxn1gAwaM8AAAAAAAAAAAAAAAAAAAAAAAAAAAAAAAAAAAAAAEBtxAB/f38A5+bmA8zMzADAwP8Af39/AAAAAAAAAAAAAAAAAAAAAAAAAAAAIQAAABgAAAAUAAAAYAMAAAASAABgDAAA8BUAABAAAAAmAAAACAAAAP//////////"/>
              </a:ext>
            </a:extLst>
          </p:cNvSpPr>
          <p:nvPr/>
        </p:nvSpPr>
        <p:spPr>
          <a:xfrm>
            <a:off x="548640" y="2926080"/>
            <a:ext cx="1463040" cy="640080"/>
          </a:xfrm>
          <a:prstGeom prst="roundRect">
            <a:avLst>
              <a:gd name="adj" fmla="val 16667"/>
            </a:avLst>
          </a:prstGeom>
          <a:solidFill>
            <a:srgbClr val="0A6E57"/>
          </a:solidFill>
          <a:ln>
            <a:noFill/>
          </a:ln>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p>
        </p:txBody>
      </p:sp>
      <p:sp>
        <p:nvSpPr>
          <p:cNvPr id="8" name="TextBox 7"/>
          <p:cNvSpPr>
            <a:extLst>
              <a:ext uri="smNativeData">
                <pr:smNativeData xmlns:pr="smNativeData" xmlns="smNativeData" val="SMDATA_15_ceEnahMAAAAlAAAAZAAAAE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IQ9Ig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YAMAAAASAABgDAAA8BUAABAgAAAmAAAACAAAAP//////////"/>
              </a:ext>
            </a:extLst>
          </p:cNvSpPr>
          <p:nvPr/>
        </p:nvSpPr>
        <p:spPr>
          <a:xfrm>
            <a:off x="548640" y="2926080"/>
            <a:ext cx="1463040" cy="640080"/>
          </a:xfrm>
          <a:prstGeom prst="rect">
            <a:avLst/>
          </a:prstGeom>
          <a:noFill/>
          <a:ln>
            <a:noFill/>
          </a:ln>
          <a:effectLst/>
        </p:spPr>
        <p:txBody>
          <a:bodyPr vert="horz" wrap="square" lIns="0" tIns="0" rIns="0" bIns="0" numCol="1" spcCol="215900" anchor="ctr"/>
          <a:lstStyle/>
          <a:p>
            <a:pPr algn="ctr">
              <a:defRPr lang="en-us"/>
            </a:pPr>
            <a:r>
              <a:rPr lang="en-us" sz="1200" b="1" cap="none">
                <a:solidFill>
                  <a:srgbClr val="FFFFFF"/>
                </a:solidFill>
              </a:rPr>
              <a:t>Triage</a:t>
            </a:r>
            <a:endParaRPr lang="en-us" sz="1200" b="1" cap="none">
              <a:solidFill>
                <a:srgbClr val="FFFFFF"/>
              </a:solidFill>
            </a:endParaRPr>
          </a:p>
        </p:txBody>
      </p:sp>
      <p:sp>
        <p:nvSpPr>
          <p:cNvPr id="9" name="Rounded Rectangle 8"/>
          <p:cNvSpPr>
            <a:extLst>
              <a:ext uri="smNativeData">
                <pr:smNativeData xmlns:pr="smNativeData" xmlns="smNativeData" val="SMDATA_15_ceEnahMAAAAlAAAAZQAAAA0AAAAAkAAAAEgAAACQAAAASAAAAAAAAAABAAAAAAAAAAEAAABQAAAAhbacS3FV1T8AAAAAAADwvwAAAAAAAOA/AAAAAAAA4D8AAAAAAADgPwAAAAAAAOA/AAAAAAAA4D8AAAAAAADgPwAAAAAAAOA/AAAAAAAA4D8CAAAAjAAAAAEAAAAAAAAACm5XACxn1gAAAAAAAAAAAAAAAAAAAAAAAAAAAAAAAAAAAAAAZAAAAAEAAABAAAAAAAAAAJz///9aAAAAAAAAAAEAAABQAAAAMGjPAAAAAAAAAAAAAAAAAAAAAAAAAAAAAAAAAAAAAAAAAAAAAAAAAAAAAAAAAAAAAAAAAAAAAAAAAAAAFAAAADwAAAAAAAAAAAAAAEBtxAAP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k/RwI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Cm5XACxn1gAwaM8AAAAAAAAAAAAAAAAAAAAAAAAAAAAAAAAAAAAAAEBtxAB/f38A5+bmA8zMzADAwP8Af39/AAAAAAAAAAAAAAAAAAAAAAAAAAAAIQAAABgAAAAUAAAAgA0AAAASAACAFgAA8BUAABAAAAAmAAAACAAAAP//////////"/>
              </a:ext>
            </a:extLst>
          </p:cNvSpPr>
          <p:nvPr/>
        </p:nvSpPr>
        <p:spPr>
          <a:xfrm>
            <a:off x="2194560" y="2926080"/>
            <a:ext cx="1463040" cy="640080"/>
          </a:xfrm>
          <a:prstGeom prst="roundRect">
            <a:avLst>
              <a:gd name="adj" fmla="val 16667"/>
            </a:avLst>
          </a:prstGeom>
          <a:solidFill>
            <a:srgbClr val="0A6E57"/>
          </a:solidFill>
          <a:ln>
            <a:noFill/>
          </a:ln>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p>
        </p:txBody>
      </p:sp>
      <p:sp>
        <p:nvSpPr>
          <p:cNvPr id="10" name="TextBox 9"/>
          <p:cNvSpPr>
            <a:extLst>
              <a:ext uri="smNativeData">
                <pr:smNativeData xmlns:pr="smNativeData" xmlns="smNativeData" val="SMDATA_15_ceEnahMAAAAlAAAAZAAAAE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gA0AAAASAACAFgAA8BUAABAgAAAmAAAACAAAAP//////////"/>
              </a:ext>
            </a:extLst>
          </p:cNvSpPr>
          <p:nvPr/>
        </p:nvSpPr>
        <p:spPr>
          <a:xfrm>
            <a:off x="2194560" y="2926080"/>
            <a:ext cx="1463040" cy="640080"/>
          </a:xfrm>
          <a:prstGeom prst="rect">
            <a:avLst/>
          </a:prstGeom>
          <a:noFill/>
          <a:ln>
            <a:noFill/>
          </a:ln>
          <a:effectLst/>
        </p:spPr>
        <p:txBody>
          <a:bodyPr vert="horz" wrap="square" lIns="0" tIns="0" rIns="0" bIns="0" numCol="1" spcCol="215900" anchor="ctr"/>
          <a:lstStyle/>
          <a:p>
            <a:pPr algn="ctr">
              <a:defRPr lang="en-us"/>
            </a:pPr>
            <a:r>
              <a:rPr lang="en-us" sz="1200" b="1" cap="none">
                <a:solidFill>
                  <a:srgbClr val="FFFFFF"/>
                </a:solidFill>
              </a:rPr>
              <a:t>Scanner</a:t>
            </a:r>
            <a:endParaRPr lang="en-us" sz="1200" b="1" cap="none">
              <a:solidFill>
                <a:srgbClr val="FFFFFF"/>
              </a:solidFill>
            </a:endParaRPr>
          </a:p>
        </p:txBody>
      </p:sp>
      <p:sp>
        <p:nvSpPr>
          <p:cNvPr id="11" name="Rounded Rectangle 10"/>
          <p:cNvSpPr>
            <a:extLst>
              <a:ext uri="smNativeData">
                <pr:smNativeData xmlns:pr="smNativeData" xmlns="smNativeData" val="SMDATA_15_ceEnahMAAAAlAAAAZQAAAA0AAAAAkAAAAEgAAACQAAAASAAAAAAAAAABAAAAAAAAAAEAAABQAAAAhbacS3FV1T8AAAAAAADwvwAAAAAAAOA/AAAAAAAA4D8AAAAAAADgPwAAAAAAAOA/AAAAAAAA4D8AAAAAAADgPwAAAAAAAOA/AAAAAAAA4D8CAAAAjAAAAAEAAAAAAAAAGmuaACxn1gAAAAAAAAAAAAAAAAAAAAAAAAAAAAAAAAAAAAAAZAAAAAEAAABAAAAAAAAAAJz///9aAAAAAAAAAAEAAABQAAAAMGjPAAAAAAAAAAAAAAAAAAAAAAAAAAAAAAAAAAAAAAAAAAAAAAAAAAAAAAAAAAAAAAAAAAAAAAAAAAAAFAAAADwAAAAAAAAAAAAAAEBtxAAP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M44FAc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GmuaACxn1gAwaM8AAAAAAAAAAAAAAAAAAAAAAAAAAAAAAAAAAAAAAEBtxAB/f38A5+bmA8zMzADAwP8Af39/AAAAAAAAAAAAAAAAAAAAAAAAAAAAIQAAABgAAAAUAAAAoBcAAFgOAACgIAAASBIAABAAAAAmAAAACAAAAP//////////"/>
              </a:ext>
            </a:extLst>
          </p:cNvSpPr>
          <p:nvPr/>
        </p:nvSpPr>
        <p:spPr>
          <a:xfrm>
            <a:off x="3840480" y="2331720"/>
            <a:ext cx="1463040" cy="640080"/>
          </a:xfrm>
          <a:prstGeom prst="roundRect">
            <a:avLst>
              <a:gd name="adj" fmla="val 16667"/>
            </a:avLst>
          </a:prstGeom>
          <a:solidFill>
            <a:srgbClr val="1A6B9A"/>
          </a:solidFill>
          <a:ln>
            <a:noFill/>
          </a:ln>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p>
        </p:txBody>
      </p:sp>
      <p:sp>
        <p:nvSpPr>
          <p:cNvPr id="12" name="TextBox 11"/>
          <p:cNvSpPr>
            <a:extLst>
              <a:ext uri="smNativeData">
                <pr:smNativeData xmlns:pr="smNativeData" xmlns="smNativeData" val="SMDATA_15_ceEnahMAAAAlAAAAZAAAAE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oBcAAFgOAACgIAAASBIAABAgAAAmAAAACAAAAP//////////"/>
              </a:ext>
            </a:extLst>
          </p:cNvSpPr>
          <p:nvPr/>
        </p:nvSpPr>
        <p:spPr>
          <a:xfrm>
            <a:off x="3840480" y="2331720"/>
            <a:ext cx="1463040" cy="640080"/>
          </a:xfrm>
          <a:prstGeom prst="rect">
            <a:avLst/>
          </a:prstGeom>
          <a:noFill/>
          <a:ln>
            <a:noFill/>
          </a:ln>
          <a:effectLst/>
        </p:spPr>
        <p:txBody>
          <a:bodyPr vert="horz" wrap="square" lIns="0" tIns="0" rIns="0" bIns="0" numCol="1" spcCol="215900" anchor="ctr"/>
          <a:lstStyle/>
          <a:p>
            <a:pPr algn="ctr">
              <a:defRPr lang="en-us"/>
            </a:pPr>
            <a:r>
              <a:rPr lang="en-us" sz="1200" b="1" cap="none">
                <a:solidFill>
                  <a:srgbClr val="FFFFFF"/>
                </a:solidFill>
              </a:rPr>
              <a:t>Memory</a:t>
            </a:r>
            <a:endParaRPr lang="en-us" sz="1200" b="1" cap="none">
              <a:solidFill>
                <a:srgbClr val="FFFFFF"/>
              </a:solidFill>
            </a:endParaRPr>
          </a:p>
          <a:p>
            <a:pPr algn="ctr">
              <a:defRPr lang="en-us"/>
            </a:pPr>
            <a:r>
              <a:rPr lang="en-us" sz="1200" b="1" cap="none">
                <a:solidFill>
                  <a:srgbClr val="FFFFFF"/>
                </a:solidFill>
              </a:rPr>
              <a:t>Safety</a:t>
            </a:r>
            <a:endParaRPr lang="en-us" sz="1200" b="1" cap="none">
              <a:solidFill>
                <a:srgbClr val="FFFFFF"/>
              </a:solidFill>
            </a:endParaRPr>
          </a:p>
        </p:txBody>
      </p:sp>
      <p:sp>
        <p:nvSpPr>
          <p:cNvPr id="13" name="Rounded Rectangle 12"/>
          <p:cNvSpPr>
            <a:extLst>
              <a:ext uri="smNativeData">
                <pr:smNativeData xmlns:pr="smNativeData" xmlns="smNativeData" val="SMDATA_15_ceEnahMAAAAlAAAAZQAAAA0AAAAAkAAAAEgAAACQAAAASAAAAAAAAAABAAAAAAAAAAEAAABQAAAAhbacS3FV1T8AAAAAAADwvwAAAAAAAOA/AAAAAAAA4D8AAAAAAADgPwAAAAAAAOA/AAAAAAAA4D8AAAAAAADgPwAAAAAAAOA/AAAAAAAA4D8CAAAAjAAAAAEAAAAAAAAAGmuaACxn1gAAAAAAAAAAAAAAAAAAAAAAAAAAAAAAAAAAAAAAZAAAAAEAAABAAAAAAAAAAJz///9aAAAAAAAAAAEAAABQAAAAMGjPAAAAAAAAAAAAAAAAAAAAAAAAAAAAAAAAAAAAAAAAAAAAAAAAAAAAAAAAAAAAAAAAAAAAAAAAAAAAFAAAADwAAAAAAAAAAAAAAEBtxAAP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GmuaACxn1gAwaM8AAAAAAAAAAAAAAAAAAAAAAAAAAAAAAAAAAAAAAEBtxAB/f38A5+bmA8zMzADAwP8Af39/AAAAAAAAAAAAAAAAAAAAAAAAAAAAIQAAABgAAAAUAAAAoBcAAKgVAACgIAAAmBkAABAAAAAmAAAACAAAAP//////////"/>
              </a:ext>
            </a:extLst>
          </p:cNvSpPr>
          <p:nvPr/>
        </p:nvSpPr>
        <p:spPr>
          <a:xfrm>
            <a:off x="3840480" y="3520440"/>
            <a:ext cx="1463040" cy="640080"/>
          </a:xfrm>
          <a:prstGeom prst="roundRect">
            <a:avLst>
              <a:gd name="adj" fmla="val 16667"/>
            </a:avLst>
          </a:prstGeom>
          <a:solidFill>
            <a:srgbClr val="1A6B9A"/>
          </a:solidFill>
          <a:ln>
            <a:noFill/>
          </a:ln>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p>
        </p:txBody>
      </p:sp>
      <p:sp>
        <p:nvSpPr>
          <p:cNvPr id="14" name="TextBox 13"/>
          <p:cNvSpPr>
            <a:extLst>
              <a:ext uri="smNativeData">
                <pr:smNativeData xmlns:pr="smNativeData" xmlns="smNativeData" val="SMDATA_15_ceEnahMAAAAlAAAAZAAAAE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oBcAAKgVAACgIAAAmBkAABAgAAAmAAAACAAAAP//////////"/>
              </a:ext>
            </a:extLst>
          </p:cNvSpPr>
          <p:nvPr/>
        </p:nvSpPr>
        <p:spPr>
          <a:xfrm>
            <a:off x="3840480" y="3520440"/>
            <a:ext cx="1463040" cy="640080"/>
          </a:xfrm>
          <a:prstGeom prst="rect">
            <a:avLst/>
          </a:prstGeom>
          <a:noFill/>
          <a:ln>
            <a:noFill/>
          </a:ln>
          <a:effectLst/>
        </p:spPr>
        <p:txBody>
          <a:bodyPr vert="horz" wrap="square" lIns="0" tIns="0" rIns="0" bIns="0" numCol="1" spcCol="215900" anchor="ctr"/>
          <a:lstStyle/>
          <a:p>
            <a:pPr algn="ctr">
              <a:defRPr lang="en-us"/>
            </a:pPr>
            <a:r>
              <a:rPr lang="en-us" sz="1200" b="1" cap="none">
                <a:solidFill>
                  <a:srgbClr val="FFFFFF"/>
                </a:solidFill>
              </a:rPr>
              <a:t>Semantic</a:t>
            </a:r>
            <a:endParaRPr lang="en-us" sz="1200" b="1" cap="none">
              <a:solidFill>
                <a:srgbClr val="FFFFFF"/>
              </a:solidFill>
            </a:endParaRPr>
          </a:p>
        </p:txBody>
      </p:sp>
      <p:sp>
        <p:nvSpPr>
          <p:cNvPr id="15" name="Rounded Rectangle 14"/>
          <p:cNvSpPr>
            <a:extLst>
              <a:ext uri="smNativeData">
                <pr:smNativeData xmlns:pr="smNativeData" xmlns="smNativeData" val="SMDATA_15_ceEnahMAAAAlAAAAZQAAAA0AAAAAkAAAAEgAAACQAAAASAAAAAAAAAABAAAAAAAAAAEAAABQAAAAhbacS3FV1T8AAAAAAADwvwAAAAAAAOA/AAAAAAAA4D8AAAAAAADgPwAAAAAAAOA/AAAAAAAA4D8AAAAAAADgPwAAAAAAAOA/AAAAAAAA4D8CAAAAjAAAAAEAAAAAAAAAfDrtACxn1gAAAAAAAAAAAAAAAAAAAAAAAAAAAAAAAAAAAAAAZAAAAAEAAABAAAAAAAAAAJz///9aAAAAAAAAAAEAAABQAAAAMGjPAAAAAAAAAAAAAAAAAAAAAAAAAAAAAAAAAAAAAAAAAAAAAAAAAAAAAAAAAAAAAAAAAAAAAAAAAAAAFAAAADwAAAAAAAAAAAAAAEBtxAAP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FIh+A0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fDrtACxn1gAwaM8AAAAAAAAAAAAAAAAAAAAAAAAAAAAAAAAAAAAAAEBtxAB/f38A5+bmA8zMzADAwP8Af39/AAAAAAAAAAAAAAAAAAAAAAAAAAAAIQAAABgAAAAUAAAAwCEAAAASAADAKgAA8BUAABAAAAAmAAAACAAAAP//////////"/>
              </a:ext>
            </a:extLst>
          </p:cNvSpPr>
          <p:nvPr/>
        </p:nvSpPr>
        <p:spPr>
          <a:xfrm>
            <a:off x="5486400" y="2926080"/>
            <a:ext cx="1463040" cy="640080"/>
          </a:xfrm>
          <a:prstGeom prst="roundRect">
            <a:avLst>
              <a:gd name="adj" fmla="val 16667"/>
            </a:avLst>
          </a:prstGeom>
          <a:solidFill>
            <a:srgbClr val="7C3AED"/>
          </a:solidFill>
          <a:ln>
            <a:noFill/>
          </a:ln>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p>
        </p:txBody>
      </p:sp>
      <p:sp>
        <p:nvSpPr>
          <p:cNvPr id="16" name="TextBox 15"/>
          <p:cNvSpPr>
            <a:extLst>
              <a:ext uri="smNativeData">
                <pr:smNativeData xmlns:pr="smNativeData" xmlns="smNativeData" val="SMDATA_15_ceEnahMAAAAlAAAAZAAAAE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wCEAAAASAADAKgAA8BUAABAgAAAmAAAACAAAAP//////////"/>
              </a:ext>
            </a:extLst>
          </p:cNvSpPr>
          <p:nvPr/>
        </p:nvSpPr>
        <p:spPr>
          <a:xfrm>
            <a:off x="5486400" y="2926080"/>
            <a:ext cx="1463040" cy="640080"/>
          </a:xfrm>
          <a:prstGeom prst="rect">
            <a:avLst/>
          </a:prstGeom>
          <a:noFill/>
          <a:ln>
            <a:noFill/>
          </a:ln>
          <a:effectLst/>
        </p:spPr>
        <p:txBody>
          <a:bodyPr vert="horz" wrap="square" lIns="0" tIns="0" rIns="0" bIns="0" numCol="1" spcCol="215900" anchor="ctr"/>
          <a:lstStyle/>
          <a:p>
            <a:pPr algn="ctr">
              <a:defRPr lang="en-us"/>
            </a:pPr>
            <a:r>
              <a:rPr lang="en-us" sz="1200" b="1" cap="none">
                <a:solidFill>
                  <a:srgbClr val="FFFFFF"/>
                </a:solidFill>
              </a:rPr>
              <a:t>Exploit</a:t>
            </a:r>
            <a:endParaRPr lang="en-us" sz="1200" b="1" cap="none">
              <a:solidFill>
                <a:srgbClr val="FFFFFF"/>
              </a:solidFill>
            </a:endParaRPr>
          </a:p>
          <a:p>
            <a:pPr algn="ctr">
              <a:defRPr lang="en-us"/>
            </a:pPr>
            <a:r>
              <a:rPr lang="en-us" sz="1200" b="1" cap="none">
                <a:solidFill>
                  <a:srgbClr val="FFFFFF"/>
                </a:solidFill>
              </a:rPr>
              <a:t>Scorer</a:t>
            </a:r>
            <a:endParaRPr lang="en-us" sz="1200" b="1" cap="none">
              <a:solidFill>
                <a:srgbClr val="FFFFFF"/>
              </a:solidFill>
            </a:endParaRPr>
          </a:p>
        </p:txBody>
      </p:sp>
      <p:sp>
        <p:nvSpPr>
          <p:cNvPr id="17" name="Rounded Rectangle 16"/>
          <p:cNvSpPr>
            <a:extLst>
              <a:ext uri="smNativeData">
                <pr:smNativeData xmlns:pr="smNativeData" xmlns="smNativeData" val="SMDATA_15_ceEnahMAAAAlAAAAZQAAAA0AAAAAkAAAAEgAAACQAAAASAAAAAAAAAABAAAAAAAAAAEAAABQAAAAhbacS3FV1T8AAAAAAADwvwAAAAAAAOA/AAAAAAAA4D8AAAAAAADgPwAAAAAAAOA/AAAAAAAA4D8AAAAAAADgPwAAAAAAAOA/AAAAAAAA4D8CAAAAjAAAAAEAAAAAAAAAtFMJACxn1gAAAAAAAAAAAAAAAAAAAAAAAAAAAAAAAAAAAAAAZAAAAAEAAABAAAAAAAAAAJz///9aAAAAAAAAAAEAAABQAAAAMGjPAAAAAAAAAAAAAAAAAAAAAAAAAAAAAAAAAAAAAAAAAAAAAAAAAAAAAAAAAAAAAAAAAAAAAAAAAAAAFAAAADwAAAAAAAAAAAAAAEBtxAAP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FMJACxn1gAwaM8AAAAAAAAAAAAAAAAAAAAAAAAAAAAAAAAAAAAAAEBtxAB/f38A5+bmA8zMzADAwP8Af39/AAAAAAAAAAAAAAAAAAAAAAAAAAAAIQAAABgAAAAUAAAA4CsAAAASAADgNAAA8BUAABAAAAAmAAAACAAAAP//////////"/>
              </a:ext>
            </a:extLst>
          </p:cNvSpPr>
          <p:nvPr/>
        </p:nvSpPr>
        <p:spPr>
          <a:xfrm>
            <a:off x="7132320" y="2926080"/>
            <a:ext cx="1463040" cy="640080"/>
          </a:xfrm>
          <a:prstGeom prst="roundRect">
            <a:avLst>
              <a:gd name="adj" fmla="val 16667"/>
            </a:avLst>
          </a:prstGeom>
          <a:solidFill>
            <a:srgbClr val="B45309"/>
          </a:solidFill>
          <a:ln>
            <a:noFill/>
          </a:ln>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p>
        </p:txBody>
      </p:sp>
      <p:sp>
        <p:nvSpPr>
          <p:cNvPr id="18" name="TextBox 17"/>
          <p:cNvSpPr>
            <a:extLst>
              <a:ext uri="smNativeData">
                <pr:smNativeData xmlns:pr="smNativeData" xmlns="smNativeData" val="SMDATA_15_ceEnahMAAAAlAAAAZAAAAE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4CsAAAASAADgNAAA8BUAABAgAAAmAAAACAAAAP//////////"/>
              </a:ext>
            </a:extLst>
          </p:cNvSpPr>
          <p:nvPr/>
        </p:nvSpPr>
        <p:spPr>
          <a:xfrm>
            <a:off x="7132320" y="2926080"/>
            <a:ext cx="1463040" cy="640080"/>
          </a:xfrm>
          <a:prstGeom prst="rect">
            <a:avLst/>
          </a:prstGeom>
          <a:noFill/>
          <a:ln>
            <a:noFill/>
          </a:ln>
          <a:effectLst/>
        </p:spPr>
        <p:txBody>
          <a:bodyPr vert="horz" wrap="square" lIns="0" tIns="0" rIns="0" bIns="0" numCol="1" spcCol="215900" anchor="ctr"/>
          <a:lstStyle/>
          <a:p>
            <a:pPr algn="ctr">
              <a:defRPr lang="en-us"/>
            </a:pPr>
            <a:r>
              <a:rPr lang="en-us" sz="1200" b="1" cap="none">
                <a:solidFill>
                  <a:srgbClr val="FFFFFF"/>
                </a:solidFill>
              </a:rPr>
              <a:t>Patcher</a:t>
            </a:r>
            <a:endParaRPr lang="en-us" sz="1200" b="1" cap="none">
              <a:solidFill>
                <a:srgbClr val="FFFFFF"/>
              </a:solidFill>
            </a:endParaRPr>
          </a:p>
        </p:txBody>
      </p:sp>
      <p:sp>
        <p:nvSpPr>
          <p:cNvPr id="19" name="Rounded Rectangle 18"/>
          <p:cNvSpPr>
            <a:extLst>
              <a:ext uri="smNativeData">
                <pr:smNativeData xmlns:pr="smNativeData" xmlns="smNativeData" val="SMDATA_15_ceEnahMAAAAlAAAAZQAAAA0AAAAAkAAAAEgAAACQAAAASAAAAAAAAAABAAAAAAAAAAEAAABQAAAAhbacS3FV1T8AAAAAAADwvwAAAAAAAOA/AAAAAAAA4D8AAAAAAADgPwAAAAAAAOA/AAAAAAAA4D8AAAAAAADgPwAAAAAAAOA/AAAAAAAA4D8CAAAAjAAAAAEAAAAAAAAAtFMJACxn1gAAAAAAAAAAAAAAAAAAAAAAAAAAAAAAAAAAAAAAZAAAAAEAAABAAAAAAAAAAJz///9aAAAAAAAAAAEAAABQAAAAMGjPAAAAAAAAAAAAAAAAAAAAAAAAAAAAAAAAAAAAAAAAAAAAAAAAAAAAAAAAAAAAAAAAAAAAAAAAAAAAFAAAADwAAAAAAAAAAAAAAEBtxAAP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FMJACxn1gAwaM8AAAAAAAAAAAAAAAAAAAAAAAAAAAAAAAAAAAAAAEBtxAB/f38A5+bmA8zMzADAwP8Af39/AAAAAAAAAAAAAAAAAAAAAAAAAAAAIQAAABgAAAAUAAAAADYAAAASAAAAPwAA8BUAABAAAAAmAAAACAAAAP//////////"/>
              </a:ext>
            </a:extLst>
          </p:cNvSpPr>
          <p:nvPr/>
        </p:nvSpPr>
        <p:spPr>
          <a:xfrm>
            <a:off x="8778240" y="2926080"/>
            <a:ext cx="1463040" cy="640080"/>
          </a:xfrm>
          <a:prstGeom prst="roundRect">
            <a:avLst>
              <a:gd name="adj" fmla="val 16667"/>
            </a:avLst>
          </a:prstGeom>
          <a:solidFill>
            <a:srgbClr val="B45309"/>
          </a:solidFill>
          <a:ln>
            <a:noFill/>
          </a:ln>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p>
        </p:txBody>
      </p:sp>
      <p:sp>
        <p:nvSpPr>
          <p:cNvPr id="20" name="TextBox 19"/>
          <p:cNvSpPr>
            <a:extLst>
              <a:ext uri="smNativeData">
                <pr:smNativeData xmlns:pr="smNativeData" xmlns="smNativeData" val="SMDATA_15_ceEnahMAAAAlAAAAZAAAAE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I0lKwg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ADYAAAASAAAAPwAA8BUAABAgAAAmAAAACAAAAP//////////"/>
              </a:ext>
            </a:extLst>
          </p:cNvSpPr>
          <p:nvPr/>
        </p:nvSpPr>
        <p:spPr>
          <a:xfrm>
            <a:off x="8778240" y="2926080"/>
            <a:ext cx="1463040" cy="640080"/>
          </a:xfrm>
          <a:prstGeom prst="rect">
            <a:avLst/>
          </a:prstGeom>
          <a:noFill/>
          <a:ln>
            <a:noFill/>
          </a:ln>
          <a:effectLst/>
        </p:spPr>
        <p:txBody>
          <a:bodyPr vert="horz" wrap="square" lIns="0" tIns="0" rIns="0" bIns="0" numCol="1" spcCol="215900" anchor="ctr"/>
          <a:lstStyle/>
          <a:p>
            <a:pPr algn="ctr">
              <a:defRPr lang="en-us"/>
            </a:pPr>
            <a:r>
              <a:rPr lang="en-us" sz="1200" b="1" cap="none">
                <a:solidFill>
                  <a:srgbClr val="FFFFFF"/>
                </a:solidFill>
              </a:rPr>
              <a:t>Validator</a:t>
            </a:r>
            <a:endParaRPr lang="en-us" sz="1200" b="1" cap="none">
              <a:solidFill>
                <a:srgbClr val="FFFFFF"/>
              </a:solidFill>
            </a:endParaRPr>
          </a:p>
        </p:txBody>
      </p:sp>
      <p:sp>
        <p:nvSpPr>
          <p:cNvPr id="21" name="Rounded Rectangle 20"/>
          <p:cNvSpPr>
            <a:extLst>
              <a:ext uri="smNativeData">
                <pr:smNativeData xmlns:pr="smNativeData" xmlns="smNativeData" val="SMDATA_15_ceEnahMAAAAlAAAAZQAAAA0AAAAAkAAAAEgAAACQAAAASAAAAAAAAAABAAAAAAAAAAEAAABQAAAAhbacS3FV1T8AAAAAAADwvwAAAAAAAOA/AAAAAAAA4D8AAAAAAADgPwAAAAAAAOA/AAAAAAAA4D8AAAAAAADgPwAAAAAAAOA/AAAAAAAA4D8CAAAAjAAAAAEAAAAAAAAAN0FRACxn1gAAAAAAAAAAAAAAAAAAAAAAAAAAAAAAAAAAAAAAZAAAAAEAAABAAAAAAAAAAJz///9aAAAAAAAAAAEAAABQAAAAMGjPAAAAAAAAAAAAAAAAAAAAAAAAAAAAAAAAAAAAAAAAAAAAAAAAAAAAAAAAAAAAAAAAAAAAAAAAAAAAFAAAADwAAAAAAAAAAAAAAEBtxAAP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Cgitg4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N0FRACxn1gAwaM8AAAAAAAAAAAAAAAAAAAAAAAAAAAAAAAAAAAAAAEBtxAB/f38A5+bmA8zMzADAwP8Af39/AAAAAAAAAAAAAAAAAAAAAAAAAAAAIQAAABgAAAAUAAAAIEAAAAASAADgRgAA8BUAABAAAAAmAAAACAAAAP//////////"/>
              </a:ext>
            </a:extLst>
          </p:cNvSpPr>
          <p:nvPr/>
        </p:nvSpPr>
        <p:spPr>
          <a:xfrm>
            <a:off x="10424160" y="2926080"/>
            <a:ext cx="1097280" cy="640080"/>
          </a:xfrm>
          <a:prstGeom prst="roundRect">
            <a:avLst>
              <a:gd name="adj" fmla="val 16667"/>
            </a:avLst>
          </a:prstGeom>
          <a:solidFill>
            <a:srgbClr val="374151"/>
          </a:solidFill>
          <a:ln>
            <a:noFill/>
          </a:ln>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p>
        </p:txBody>
      </p:sp>
      <p:sp>
        <p:nvSpPr>
          <p:cNvPr id="22" name="TextBox 21"/>
          <p:cNvSpPr>
            <a:extLst>
              <a:ext uri="smNativeData">
                <pr:smNativeData xmlns:pr="smNativeData" xmlns="smNativeData" val="SMDATA_15_ceEnahMAAAAlAAAAZAAAAE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IEAAAAASAADgRgAA8BUAABAgAAAmAAAACAAAAP//////////"/>
              </a:ext>
            </a:extLst>
          </p:cNvSpPr>
          <p:nvPr/>
        </p:nvSpPr>
        <p:spPr>
          <a:xfrm>
            <a:off x="10424160" y="2926080"/>
            <a:ext cx="1097280" cy="640080"/>
          </a:xfrm>
          <a:prstGeom prst="rect">
            <a:avLst/>
          </a:prstGeom>
          <a:noFill/>
          <a:ln>
            <a:noFill/>
          </a:ln>
          <a:effectLst/>
        </p:spPr>
        <p:txBody>
          <a:bodyPr vert="horz" wrap="square" lIns="0" tIns="0" rIns="0" bIns="0" numCol="1" spcCol="215900" anchor="ctr"/>
          <a:lstStyle/>
          <a:p>
            <a:pPr algn="ctr">
              <a:defRPr lang="en-us"/>
            </a:pPr>
            <a:r>
              <a:rPr lang="en-us" sz="1200" b="1" cap="none">
                <a:solidFill>
                  <a:srgbClr val="FFFFFF"/>
                </a:solidFill>
              </a:rPr>
              <a:t>Report</a:t>
            </a:r>
            <a:endParaRPr lang="en-us" sz="1200" b="1" cap="none">
              <a:solidFill>
                <a:srgbClr val="FFFFFF"/>
              </a:solidFill>
            </a:endParaRPr>
          </a:p>
        </p:txBody>
      </p:sp>
      <p:sp>
        <p:nvSpPr>
          <p:cNvPr id="23" name="Connector 22"/>
          <p:cNvSpPr>
            <a:extLst>
              <a:ext uri="smNativeData">
                <pr:smNativeData xmlns:pr="smNativeData" xmlns="smNativeData" val="SMDATA_15_ceEnahMAAAAlAAAACg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P///wAeAAAAAQAAABQAAAAUAAAAFAAAAAEAAAAAAAAAZAAAAGQAAAAAAAAAZAAAAGQAAAAVAAAAYAAAAAAAAAAAAAAAAAAAAAAAAAAAAAAAAAAAAAAAAAAAAAAAAAAAAAAAAAAAAAAAAAAACQAAAAAAAAAAAAAAAAAAAAAAAAAAAAAAAAAAAAAAAAAAAAAAAAAAAAAAAAAAAAAAABYAAABMAAAAAQAAAAAAAAACAAAAAAAAAAEAAAAAAAAJPgAAAAAAAAAfAAAAZAAAAGQAAAAAAAAAAAAAAAAAAAAAAAAAAAAAAAAAAAAAAAAAAAAAABcAAAAUAAAAAAAAAAAAAAD/fwAA/38AAAAAAAAJAAAABAAAAPL///8eAAAAaAAAAAAAAAAAAAAAAAAAAAAAAAAAAAAAECcAABAnAAAAAAAAAAAAAAAAAAAAAAAAAAAAAAAAAAAAAAAAAAAAAD8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P///wAAAAACAAAAAgAAAADAwP8Af39/AAAAAAAAAAAAAAAAAAAAAAAAAAAAIQAAABgAAAAUAAAAYAwAAPgTAACADQAA+BMAABAAAAAmAAAACAAAAP//////////"/>
              </a:ext>
            </a:extLst>
          </p:cNvSpPr>
          <p:nvPr/>
        </p:nvSpPr>
        <p:spPr>
          <a:xfrm>
            <a:off x="2011680" y="3246120"/>
            <a:ext cx="182880" cy="0"/>
          </a:xfrm>
          <a:prstGeom prst="line">
            <a:avLst/>
          </a:prstGeom>
          <a:noFill/>
          <a:ln w="19050" cap="flat" cmpd="sng" algn="ctr">
            <a:solidFill>
              <a:srgbClr val="FFFFFF"/>
            </a:solidFill>
            <a:prstDash val="solid"/>
            <a:headEnd type="none"/>
            <a:tailEnd type="none"/>
          </a:ln>
          <a:effectLst>
            <a:outerShdw blurRad="40005" dist="19685" dir="5400000" algn="tr">
              <a:schemeClr val="tx1">
                <a:alpha val="38000"/>
              </a:schemeClr>
            </a:outerShdw>
          </a:effectLst>
        </p:spPr>
      </p:sp>
      <p:sp>
        <p:nvSpPr>
          <p:cNvPr id="24" name="Connector 23"/>
          <p:cNvSpPr>
            <a:extLst>
              <a:ext uri="smNativeData">
                <pr:smNativeData xmlns:pr="smNativeData" xmlns="smNativeData" val="SMDATA_15_ceEnahMAAAAlAAAACgAAAA0AAAAAkAAAAEgAAACQAAAASAAAAAAAAAAAAAAAAg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P///wAeAAAAAQAAABQAAAAUAAAAFAAAAAEAAAAAAAAAZAAAAGQAAAAAAAAAZAAAAGQAAAAVAAAAYAAAAAAAAAAAAAAAAAAAAAAAAAAAAAAAAAAAAAAAAAAAAAAAAAAAAAAAAAAAAAAAAAAACQAAAAAAAAAAAAAAAAAAAAAAAAAAAAAAAAAAAAAAAAAAAAAAAAAAAAAAAAAAAAAAABYAAABMAAAAAQAAAAAAAAACAAAAAAAAAAEAAAAAAAAJPgAAAAAAAAAfAAAAZAAAAGQAAAAAAAAAAAAAAAAAAAAAAAAAAAAAAAAAAAAAAAAAAAAAABcAAAAUAAAAAAAAAAAAAAD/fwAA/38AAAAAAAAJAAAABAAAAP////8eAAAAaAAAAAAAAAAAAAAAAAAAAAAAAAAAAAAAECcAABAnAAAAAAAAAAAAAAAAAAAAAAAAAAAAAAAAAAAAAAAAAAAAAD8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P///wAAAAACAAAAAgAAAADAwP8Af39/AAAAAAAAAAAAAAAAAAAAAAAAAAAAIQAAABgAAAAUAAAAgBYAAFAQAACgFwAA+BMAABAAAAAmAAAACAAAAP//////////"/>
              </a:ext>
            </a:extLst>
          </p:cNvSpPr>
          <p:nvPr/>
        </p:nvSpPr>
        <p:spPr>
          <a:xfrm flipV="1">
            <a:off x="3657600" y="2651760"/>
            <a:ext cx="182880" cy="594360"/>
          </a:xfrm>
          <a:prstGeom prst="line">
            <a:avLst/>
          </a:prstGeom>
          <a:noFill/>
          <a:ln w="19050" cap="flat" cmpd="sng" algn="ctr">
            <a:solidFill>
              <a:srgbClr val="FFFFFF"/>
            </a:solidFill>
            <a:prstDash val="solid"/>
            <a:headEnd type="none"/>
            <a:tailEnd type="none"/>
          </a:ln>
          <a:effectLst>
            <a:outerShdw blurRad="40005" dist="19685" dir="5400000" algn="tr">
              <a:schemeClr val="tx1">
                <a:alpha val="38000"/>
              </a:schemeClr>
            </a:outerShdw>
          </a:effectLst>
        </p:spPr>
      </p:sp>
      <p:sp>
        <p:nvSpPr>
          <p:cNvPr id="25" name="Connector 24"/>
          <p:cNvSpPr>
            <a:extLst>
              <a:ext uri="smNativeData">
                <pr:smNativeData xmlns:pr="smNativeData" xmlns="smNativeData" val="SMDATA_15_ceEnahMAAAAlAAAACg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P///wAeAAAAAQAAABQAAAAUAAAAFAAAAAEAAAAAAAAAZAAAAGQAAAAAAAAAZAAAAGQAAAAVAAAAYAAAAAAAAAAAAAAAAAAAAAAAAAAAAAAAAAAAAAAAAAAAAAAAAAAAAAAAAAAAAAAAAAAACQAAAAAAAAAAAAAAAAAAAAAAAAAAAAAAAAAAAAAAAAAAAAAAAAAAAAAAAAAAAAAAABYAAABMAAAAAQAAAAAAAAACAAAAAAAAAAEAAAAAAAAJPgAAAAAAAAAfAAAAZAAAAGQAAAAAAAAAAAAAAAAAAAAAAAAAAAAAAAAAAAAAAAAAAAAAABcAAAAUAAAAAAAAAAAAAAD/fwAA/38AAAAAAAAJAAAABAAAAAAAAAAeAAAAaAAAAAAAAAAAAAAAAAAAAAAAAAAAAAAAECcAABAnAAAAAAAAAAAAAAAAAAAAAAAAAAAAAAAAAAAAAAAAAAAAAD8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P///wAAAAACAAAAAgAAAADAwP8Af39/AAAAAAAAAAAAAAAAAAAAAAAAAAAAIQAAABgAAAAUAAAAgBYAAPgTAACgFwAAoBcAABAAAAAmAAAACAAAAP//////////"/>
              </a:ext>
            </a:extLst>
          </p:cNvSpPr>
          <p:nvPr/>
        </p:nvSpPr>
        <p:spPr>
          <a:xfrm>
            <a:off x="3657600" y="3246120"/>
            <a:ext cx="182880" cy="594360"/>
          </a:xfrm>
          <a:prstGeom prst="line">
            <a:avLst/>
          </a:prstGeom>
          <a:noFill/>
          <a:ln w="19050" cap="flat" cmpd="sng" algn="ctr">
            <a:solidFill>
              <a:srgbClr val="FFFFFF"/>
            </a:solidFill>
            <a:prstDash val="solid"/>
            <a:headEnd type="none"/>
            <a:tailEnd type="none"/>
          </a:ln>
          <a:effectLst>
            <a:outerShdw blurRad="40005" dist="19685" dir="5400000" algn="tr">
              <a:schemeClr val="tx1">
                <a:alpha val="38000"/>
              </a:schemeClr>
            </a:outerShdw>
          </a:effectLst>
        </p:spPr>
      </p:sp>
      <p:sp>
        <p:nvSpPr>
          <p:cNvPr id="26" name="Connector 25"/>
          <p:cNvSpPr>
            <a:extLst>
              <a:ext uri="smNativeData">
                <pr:smNativeData xmlns:pr="smNativeData" xmlns="smNativeData" val="SMDATA_15_ceEnahMAAAAlAAAACg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P///wAeAAAAAQAAABQAAAAUAAAAFAAAAAEAAAAAAAAAZAAAAGQAAAAAAAAAZAAAAGQAAAAVAAAAYAAAAAAAAAAAAAAAAAAAAAAAAAAAAAAAAAAAAAAAAAAAAAAAAAAAAAAAAAAAAAAAAAAACQAAAAAAAAAAAAAAAAAAAAAAAAAAAAAAAAAAAAAAAAAAAAAAAAAAAAAAAAAAAAAAABYAAABMAAAAAQAAAAAAAAACAAAAAAAAAAEAAAAAAAAJPgAAAAAAAAAfAAAAZAAAAGQAAAAAAAAAAAAAAAAAAAAAAAAAAAAAAAAAAAAAAAAAAAAAABcAAAAUAAAAAAAAAAAAAAD/fwAA/38AAAAAAAAJAAAABAAAAAAAAAAeAAAAaAAAAAAAAAAAAAAAAAAAAAAAAAAAAAAAECcAABAnAAAAAAAAAAAAAAAAAAAAAAAAAAAAAAAAAAAAAAAAAAAAAD8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P///wAAAAACAAAAAgAAAADAwP8Af39/AAAAAAAAAAAAAAAAAAAAAAAAAAAAIQAAABgAAAAUAAAAoCAAAFAQAADAIQAA+BMAABAAAAAmAAAACAAAAP//////////"/>
              </a:ext>
            </a:extLst>
          </p:cNvSpPr>
          <p:nvPr/>
        </p:nvSpPr>
        <p:spPr>
          <a:xfrm>
            <a:off x="5303520" y="2651760"/>
            <a:ext cx="182880" cy="594360"/>
          </a:xfrm>
          <a:prstGeom prst="line">
            <a:avLst/>
          </a:prstGeom>
          <a:noFill/>
          <a:ln w="19050" cap="flat" cmpd="sng" algn="ctr">
            <a:solidFill>
              <a:srgbClr val="FFFFFF"/>
            </a:solidFill>
            <a:prstDash val="solid"/>
            <a:headEnd type="none"/>
            <a:tailEnd type="none"/>
          </a:ln>
          <a:effectLst>
            <a:outerShdw blurRad="40005" dist="19685" dir="5400000" algn="tr">
              <a:schemeClr val="tx1">
                <a:alpha val="38000"/>
              </a:schemeClr>
            </a:outerShdw>
          </a:effectLst>
        </p:spPr>
      </p:sp>
      <p:sp>
        <p:nvSpPr>
          <p:cNvPr id="27" name="Connector 26"/>
          <p:cNvSpPr>
            <a:extLst>
              <a:ext uri="smNativeData">
                <pr:smNativeData xmlns:pr="smNativeData" xmlns="smNativeData" val="SMDATA_15_ceEnahMAAAAlAAAACgAAAA0AAAAAkAAAAEgAAACQAAAASAAAAAAAAAAAAAAAAg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P///wAeAAAAAQAAABQAAAAUAAAAFAAAAAEAAAAAAAAAZAAAAGQAAAAAAAAAZAAAAGQAAAAVAAAAYAAAAAAAAAAAAAAAAAAAAAAAAAAAAAAAAAAAAAAAAAAAAAAAAAAAAAAAAAAAAAAAAAAACQAAAAAAAAAAAAAAAAAAAAAAAAAAAAAAAAAAAAAAAAAAAAAAAAAAAAAAAAAAAAAAABYAAABMAAAAAQAAAAAAAAACAAAAAAAAAAEAAAAAAAAJPgAAAAAAAAAfAAAAZAAAAGQAAAAAAAAAAAAAAAAAAAAAAAAAAAAAAAAAAAAAAAAAAAAAABcAAAAUAAAAAAAAAAAAAAD/fwAA/38AAAAAAAAJAAAABAAAABAcGnYeAAAAaAAAAAAAAAAAAAAAAAAAAAAAAAAAAAAAECcAABAnAAAAAAAAAAAAAAAAAAAAAAAAAAAAAAAAAAAAAAAAAAAAAD8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P///wAAAAACAAAAAgAAAADAwP8Af39/AAAAAAAAAAAAAAAAAAAAAAAAAAAAIQAAABgAAAAUAAAAoCAAAPgTAADAIQAAoBcAABAAAAAmAAAACAAAAP//////////"/>
              </a:ext>
            </a:extLst>
          </p:cNvSpPr>
          <p:nvPr/>
        </p:nvSpPr>
        <p:spPr>
          <a:xfrm flipV="1">
            <a:off x="5303520" y="3246120"/>
            <a:ext cx="182880" cy="594360"/>
          </a:xfrm>
          <a:prstGeom prst="line">
            <a:avLst/>
          </a:prstGeom>
          <a:noFill/>
          <a:ln w="19050" cap="flat" cmpd="sng" algn="ctr">
            <a:solidFill>
              <a:srgbClr val="FFFFFF"/>
            </a:solidFill>
            <a:prstDash val="solid"/>
            <a:headEnd type="none"/>
            <a:tailEnd type="none"/>
          </a:ln>
          <a:effectLst>
            <a:outerShdw blurRad="40005" dist="19685" dir="5400000" algn="tr">
              <a:schemeClr val="tx1">
                <a:alpha val="38000"/>
              </a:schemeClr>
            </a:outerShdw>
          </a:effectLst>
        </p:spPr>
      </p:sp>
      <p:sp>
        <p:nvSpPr>
          <p:cNvPr id="28" name="Connector 27"/>
          <p:cNvSpPr>
            <a:extLst>
              <a:ext uri="smNativeData">
                <pr:smNativeData xmlns:pr="smNativeData" xmlns="smNativeData" val="SMDATA_15_ceEnahMAAAAlAAAACg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P///wAeAAAAAQAAABQAAAAUAAAAFAAAAAEAAAAAAAAAZAAAAGQAAAAAAAAAZAAAAGQAAAAVAAAAYAAAAAAAAAAAAAAAAAAAAAAAAAAAAAAAAAAAAAAAAAAAAAAAAAAAAAAAAAAAAAAAAAAACQAAAAAAAAAAAAAAAAAAAAAAAAAAAAAAAAAAAAAAAAAAAAAAAAAAAAAAAAAAAAAAABYAAABMAAAAAQAAAAAAAAACAAAAAAAAAAEAAAAAAAAJPgAAAAAAAAAfAAAAZAAAAGQAAAAAAAAAAAAAAAAAAAAAAAAAAAAAAAAAAAAAAAAAAAAAABcAAAAUAAAAAAAAAAAAAAD/fwAA/38AAAAAAAAJAAAABAAAAAZlBxYeAAAAaAAAAAAAAAAAAAAAAAAAAAAAAAAAAAAAECcAABAnAAAAAAAAAAAAAAAAAAAAAAAAAAAAAAAAAAAAAAAAAAAAAD8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P///wAAAAACAAAAAgAAAADAwP8Af39/AAAAAAAAAAAAAAAAAAAAAAAAAAAAIQAAABgAAAAUAAAAwCoAAPgTAADgKwAA+BMAABAAAAAmAAAACAAAAP//////////"/>
              </a:ext>
            </a:extLst>
          </p:cNvSpPr>
          <p:nvPr/>
        </p:nvSpPr>
        <p:spPr>
          <a:xfrm>
            <a:off x="6949440" y="3246120"/>
            <a:ext cx="182880" cy="0"/>
          </a:xfrm>
          <a:prstGeom prst="line">
            <a:avLst/>
          </a:prstGeom>
          <a:noFill/>
          <a:ln w="19050" cap="flat" cmpd="sng" algn="ctr">
            <a:solidFill>
              <a:srgbClr val="FFFFFF"/>
            </a:solidFill>
            <a:prstDash val="solid"/>
            <a:headEnd type="none"/>
            <a:tailEnd type="none"/>
          </a:ln>
          <a:effectLst>
            <a:outerShdw blurRad="40005" dist="19685" dir="5400000" algn="tr">
              <a:schemeClr val="tx1">
                <a:alpha val="38000"/>
              </a:schemeClr>
            </a:outerShdw>
          </a:effectLst>
        </p:spPr>
      </p:sp>
      <p:sp>
        <p:nvSpPr>
          <p:cNvPr id="29" name="Connector 28"/>
          <p:cNvSpPr>
            <a:extLst>
              <a:ext uri="smNativeData">
                <pr:smNativeData xmlns:pr="smNativeData" xmlns="smNativeData" val="SMDATA_15_ceEnahMAAAAlAAAACg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P///wAeAAAAAQAAABQAAAAUAAAAFAAAAAEAAAAAAAAAZAAAAGQAAAAAAAAAZAAAAGQAAAAVAAAAYAAAAAAAAAAAAAAAAAAAAAAAAAAAAAAAAAAAAAAAAAAAAAAAAAAAAAAAAAAAAAAAAAAACQAAAAAAAAAAAAAAAAAAAAAAAAAAAAAAAAAAAAAAAAAAAAAAAAAAAAAAAAAAAAAAABYAAABMAAAAAQAAAAAAAAACAAAAAAAAAAEAAAAAAAAJPgAAAAAAAAAfAAAAZAAAAGQAAAAAAAAAAAAAAAAAAAAAAAAAAAAAAAAAAAAAAAAAAAAAABcAAAAUAAAAAAAAAAAAAAD/fwAA/38AAAAAAAAJAAAABAAAAARdBFQeAAAAaAAAAAAAAAAAAAAAAAAAAAAAAAAAAAAAECcAABAnAAAAAAAAAAAAAAAAAAAAAAAAAAAAAAAAAAAAAAAAAAAAAD8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P///wAAAAACAAAAAgAAAADAwP8Af39/AAAAAAAAAAAAAAAAAAAAAAAAAAAAIQAAABgAAAAUAAAA4DQAAPgTAAAANgAA+BMAABAAAAAmAAAACAAAAP//////////"/>
              </a:ext>
            </a:extLst>
          </p:cNvSpPr>
          <p:nvPr/>
        </p:nvSpPr>
        <p:spPr>
          <a:xfrm>
            <a:off x="8595360" y="3246120"/>
            <a:ext cx="182880" cy="0"/>
          </a:xfrm>
          <a:prstGeom prst="line">
            <a:avLst/>
          </a:prstGeom>
          <a:noFill/>
          <a:ln w="19050" cap="flat" cmpd="sng" algn="ctr">
            <a:solidFill>
              <a:srgbClr val="FFFFFF"/>
            </a:solidFill>
            <a:prstDash val="solid"/>
            <a:headEnd type="none"/>
            <a:tailEnd type="none"/>
          </a:ln>
          <a:effectLst>
            <a:outerShdw blurRad="40005" dist="19685" dir="5400000" algn="tr">
              <a:schemeClr val="tx1">
                <a:alpha val="38000"/>
              </a:schemeClr>
            </a:outerShdw>
          </a:effectLst>
        </p:spPr>
      </p:sp>
      <p:sp>
        <p:nvSpPr>
          <p:cNvPr id="30" name="Connector 29"/>
          <p:cNvSpPr>
            <a:extLst>
              <a:ext uri="smNativeData">
                <pr:smNativeData xmlns:pr="smNativeData" xmlns="smNativeData" val="SMDATA_15_ceEnahMAAAAlAAAACg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P///wAeAAAAAQAAABQAAAAUAAAAFAAAAAEAAAAAAAAAZAAAAGQAAAAAAAAAZAAAAGQAAAAVAAAAYAAAAAAAAAAAAAAAAAAAAAAAAAAAAAAAAAAAAAAAAAAAAAAAAAAAAAAAAAAAAAAAAAAACQAAAAAAAAAAAAAAAAAAAAAAAAAAAAAAAAAAAAAAAAAAAAAAAAAAAAAAAAAAAAAAABYAAABMAAAAAQAAAAAAAAACAAAAAAAAAAEAAAAAAAAJPgAAAAAAAAAfAAAAZAAAAGQAAAAAAAAAAAAAAAAAAAAAAAAAAAAAAAAAAAAAAAAAAAAAABcAAAAUAAAAAAAAAAAAAAD/fwAA/38AAAAAAAAJAAAABAAAAAHAAcEeAAAAaAAAAAAAAAAAAAAAAAAAAAAAAAAAAAAAECcAABAnAAAAAAAAAAAAAAAAAAAAAAAAAAAAAAAAAAAAAAAAAAAAAD8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P///wAAAAACAAAAAgAAAADAwP8Af39/AAAAAAAAAAAAAAAAAAAAAAAAAAAAIQAAABgAAAAUAAAAAD8AAPgTAAAgQAAA+BMAABAAAAAmAAAACAAAAP//////////"/>
              </a:ext>
            </a:extLst>
          </p:cNvSpPr>
          <p:nvPr/>
        </p:nvSpPr>
        <p:spPr>
          <a:xfrm>
            <a:off x="10241280" y="3246120"/>
            <a:ext cx="182880" cy="0"/>
          </a:xfrm>
          <a:prstGeom prst="line">
            <a:avLst/>
          </a:prstGeom>
          <a:noFill/>
          <a:ln w="19050" cap="flat" cmpd="sng" algn="ctr">
            <a:solidFill>
              <a:srgbClr val="FFFFFF"/>
            </a:solidFill>
            <a:prstDash val="solid"/>
            <a:headEnd type="none"/>
            <a:tailEnd type="none"/>
          </a:ln>
          <a:effectLst>
            <a:outerShdw blurRad="40005" dist="19685" dir="5400000" algn="tr">
              <a:schemeClr val="tx1">
                <a:alpha val="38000"/>
              </a:schemeClr>
            </a:outerShdw>
          </a:effectLst>
        </p:spPr>
      </p:sp>
      <p:sp>
        <p:nvSpPr>
          <p:cNvPr id="31" name="Connector 30"/>
          <p:cNvSpPr>
            <a:extLst>
              <a:ext uri="smNativeData">
                <pr:smNativeData xmlns:pr="smNativeData" xmlns="smNativeData" val="SMDATA_15_ceEnahMAAAAlAAAACg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LRTCQAeAAAAAQAAABQAAAAUAAAAFAAAAAEAAAAAAAAAZAAAAGQAAAAAAAAAZAAAAGQAAAAVAAAAYAAAAAAAAAAAAAAAAAAAAAAAAAAAAAAAAAAAAAAAAAAAAAAAAAAAAAAAAAAAAAAAAAAACQAAAAAAAAAAAAAAAAAAAAAAAAAAAAAAAAAAAAAAAAAAAAAAAAAAAAAAAAAAAAAAABYAAABMAAAAAQAAAAAAAAACAAAAAAAAAAEAAAAAAAAJPgAAAAAAAAAfAAAAZAAAAGQAAAAAAAAAAAAAAAAAAAAAAAAAAAAAAAAAAAAAAAAAAAAAABcAAAAUAAAAAAAAAAAAAAD/fwAA/38AAAAAAAAJAAAABAAAAETiAAAeAAAAaAAAAAAAAAAAAAAAAAAAAAAAAAAAAAAAECcAABAnAAAAAAAAAAAAAAAAAAAAAAAAAAAAAAAAAAAAAAAAAAAAAD8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LRTCQAAAAACAAAAAgAAAADAwP8Af39/AAAAAAAAAAAAAAAAAAAAAAAAAAAAIQAAABgAAAAUAAAAIC4AAPAVAADgPQAA8BUAABAAAAAmAAAACAAAAP//////////"/>
              </a:ext>
            </a:extLst>
          </p:cNvSpPr>
          <p:nvPr/>
        </p:nvSpPr>
        <p:spPr>
          <a:xfrm flipH="1">
            <a:off x="7498080" y="3566160"/>
            <a:ext cx="2560320" cy="0"/>
          </a:xfrm>
          <a:prstGeom prst="line">
            <a:avLst/>
          </a:prstGeom>
          <a:noFill/>
          <a:ln w="19050" cap="flat" cmpd="sng" algn="ctr">
            <a:solidFill>
              <a:srgbClr val="B45309"/>
            </a:solidFill>
            <a:prstDash val="solid"/>
            <a:headEnd type="none"/>
            <a:tailEnd type="none"/>
          </a:ln>
          <a:effectLst>
            <a:outerShdw blurRad="40005" dist="19685" dir="5400000" algn="tr">
              <a:schemeClr val="tx1">
                <a:alpha val="38000"/>
              </a:schemeClr>
            </a:outerShdw>
          </a:effectLst>
        </p:spPr>
      </p:sp>
      <p:sp>
        <p:nvSpPr>
          <p:cNvPr id="32" name="TextBox 31"/>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kC0AADgWAAAANgAA6BcAABAgAAAmAAAACAAAAP//////////"/>
              </a:ext>
            </a:extLst>
          </p:cNvSpPr>
          <p:nvPr/>
        </p:nvSpPr>
        <p:spPr>
          <a:xfrm>
            <a:off x="7406640" y="3611880"/>
            <a:ext cx="1371600" cy="274320"/>
          </a:xfrm>
          <a:prstGeom prst="rect">
            <a:avLst/>
          </a:prstGeom>
          <a:noFill/>
          <a:ln>
            <a:noFill/>
          </a:ln>
          <a:effectLst/>
        </p:spPr>
        <p:txBody>
          <a:bodyPr vert="horz" wrap="square" lIns="0" tIns="0" rIns="0" bIns="0" numCol="1" spcCol="215900" anchor="t"/>
          <a:lstStyle/>
          <a:p>
            <a:pPr algn="ctr">
              <a:defRPr lang="en-us"/>
            </a:pPr>
            <a:r>
              <a:rPr lang="en-us" sz="1000" b="1" cap="none">
                <a:solidFill>
                  <a:srgbClr val="B45309"/>
                </a:solidFill>
              </a:rPr>
              <a:t>retry × 3</a:t>
            </a:r>
            <a:endParaRPr lang="en-us" sz="1000" b="1" cap="none">
              <a:solidFill>
                <a:srgbClr val="B45309"/>
              </a:solidFill>
            </a:endParaRPr>
          </a:p>
        </p:txBody>
      </p:sp>
      <p:sp>
        <p:nvSpPr>
          <p:cNvPr id="33" name="Rounded Rectangle 32"/>
          <p:cNvSpPr>
            <a:extLst>
              <a:ext uri="smNativeData">
                <pr:smNativeData xmlns:pr="smNativeData" xmlns="smNativeData" val="SMDATA_15_ceEnahMAAAAlAAAAZQAAAA0AAAAAkAAAAEgAAACQAAAASAAAAAAAAAABAAAAAAAAAAEAAABQAAAAhbacS3FV1T8AAAAAAADwvwAAAAAAAOA/AAAAAAAA4D8AAAAAAADgPwAAAAAAAOA/AAAAAAAA4D8AAAAAAADgPwAAAAAAAOA/AAAAAAAA4D8CAAAAjAAAAAEAAAAAAAAAHik7ACxn1gAAAAAAAAAAAAAAAAAAAAAAAAAAAAAAAAAAAAAAZAAAAAEAAABAAAAAAAAAAJz///9aAAAAAAAAAAEAAABQAAAAMGjPAAAAAAAAAAAAAAAAAAAAAAAAAAAAAAAAAAAAAAAAAAAAAAAAAAAAAAAAAAAAAAAAAAAAAAAAAAAAFAAAADwAAAAAAAAAAAAAAEBtxAAP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Hik7ACxn1gAwaM8AAAAAAAAAAAAAAAAAAAAAAAAAAAAAAAAAAAAAAEBtxAB/f38A5+bmA8zMzADAwP8Af39/AAAAAAAAAAAAAAAAAAAAAAAAAAAAIQAAABgAAAAUAAAAYAMAAGAeAABAFAAAICUAABAAAAAmAAAACAAAAP//////////"/>
              </a:ext>
            </a:extLst>
          </p:cNvSpPr>
          <p:nvPr/>
        </p:nvSpPr>
        <p:spPr>
          <a:xfrm>
            <a:off x="548640" y="4937760"/>
            <a:ext cx="2743200" cy="1097280"/>
          </a:xfrm>
          <a:prstGeom prst="roundRect">
            <a:avLst>
              <a:gd name="adj" fmla="val 16667"/>
            </a:avLst>
          </a:prstGeom>
          <a:solidFill>
            <a:srgbClr val="1E293B"/>
          </a:solidFill>
          <a:ln>
            <a:noFill/>
          </a:ln>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p>
        </p:txBody>
      </p:sp>
      <p:sp>
        <p:nvSpPr>
          <p:cNvPr id="34" name="Oval 33"/>
          <p:cNvSpPr>
            <a:extLst>
              <a:ext uri="smNativeData">
                <pr:smNativeData xmlns:pr="smNativeData" xmlns="smNativeData" val="SMDATA_15_ceEnahMAAAAlAAAAZgAAAA0AAAAAkAAAAEgAAACQAAAASAAAAAAAAAABAAAAAAAAAAEAAABQAAAAAAAAAAAA8D8AAAAAAADwPwAAAAAAAOA/AAAAAAAA4D8AAAAAAADgPwAAAAAAAOA/AAAAAAAA4D8AAAAAAADgPwAAAAAAAOA/AAAAAAAA4D8CAAAAjAAAAAEAAAAAAAAACm5XACxn1gAAAAAAAAAAAAAAAAAAAAAAAAAAAAAAAAAAAAAAZAAAAAEAAABAAAAAAAAAAJz///9aAAAAAAAAAAEAAABQAAAAMGjPAAAAAAAAAAAAAAAAAAAAAAAAAAAAAAAAAAAAAAAAAAAAAAAAAAAAAAAAAAAAAAAAAAAAAAAAAAAAFAAAADwAAAAAAAAAAAAAAEBtxAAP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Cm5XACxn1gAwaM8AAAAAAAAAAAAAAAAAAAAAAAAAAAAAAAAAAAAAAEBtxAB/f38A5+bmA8zMzADAwP8Af39/AAAAAAAAAAAAAAAAAAAAAAAAAAAAIQAAABgAAAAUAAAAyAQAABAgAADoBQAAMCEAABAAAAAmAAAACAAAAP//////////"/>
              </a:ext>
            </a:extLst>
          </p:cNvSpPr>
          <p:nvPr/>
        </p:nvSpPr>
        <p:spPr>
          <a:xfrm>
            <a:off x="777240" y="5212080"/>
            <a:ext cx="182880" cy="182880"/>
          </a:xfrm>
          <a:prstGeom prst="ellipse">
            <a:avLst/>
          </a:prstGeom>
          <a:solidFill>
            <a:srgbClr val="0A6E57"/>
          </a:solidFill>
          <a:ln>
            <a:noFill/>
          </a:ln>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p>
        </p:txBody>
      </p:sp>
      <p:sp>
        <p:nvSpPr>
          <p:cNvPr id="35" name="TextBox 34"/>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OYnTAo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eAYAAMgfAABoEwAAwCEAABAgAAAmAAAACAAAAP//////////"/>
              </a:ext>
            </a:extLst>
          </p:cNvSpPr>
          <p:nvPr/>
        </p:nvSpPr>
        <p:spPr>
          <a:xfrm>
            <a:off x="1051560" y="5166360"/>
            <a:ext cx="2103120" cy="320040"/>
          </a:xfrm>
          <a:prstGeom prst="rect">
            <a:avLst/>
          </a:prstGeom>
          <a:noFill/>
          <a:ln>
            <a:noFill/>
          </a:ln>
          <a:effectLst/>
        </p:spPr>
        <p:txBody>
          <a:bodyPr vert="horz" wrap="square" lIns="0" tIns="0" rIns="0" bIns="0" numCol="1" spcCol="215900" anchor="t"/>
          <a:lstStyle/>
          <a:p>
            <a:pPr algn="l">
              <a:defRPr lang="en-us"/>
            </a:pPr>
            <a:r>
              <a:rPr lang="en-us" sz="1200" b="1" cap="none">
                <a:solidFill>
                  <a:srgbClr val="FFFFFF"/>
                </a:solidFill>
              </a:rPr>
              <a:t>Triage</a:t>
            </a:r>
            <a:endParaRPr lang="en-us" sz="1200" b="1" cap="none">
              <a:solidFill>
                <a:srgbClr val="FFFFFF"/>
              </a:solidFill>
            </a:endParaRPr>
          </a:p>
        </p:txBody>
      </p:sp>
      <p:sp>
        <p:nvSpPr>
          <p:cNvPr id="36" name="TextBox 35"/>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CM6iQY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yAQAAAgiAABoEwAA2CQAABAgAAAmAAAACAAAAP//////////"/>
              </a:ext>
            </a:extLst>
          </p:cNvSpPr>
          <p:nvPr/>
        </p:nvSpPr>
        <p:spPr>
          <a:xfrm>
            <a:off x="777240" y="5532120"/>
            <a:ext cx="2377440" cy="457200"/>
          </a:xfrm>
          <a:prstGeom prst="rect">
            <a:avLst/>
          </a:prstGeom>
          <a:noFill/>
          <a:ln>
            <a:noFill/>
          </a:ln>
          <a:effectLst/>
        </p:spPr>
        <p:txBody>
          <a:bodyPr vert="horz" wrap="square" lIns="0" tIns="0" rIns="0" bIns="0" numCol="1" spcCol="215900" anchor="t"/>
          <a:lstStyle/>
          <a:p>
            <a:pPr algn="l">
              <a:defRPr lang="en-us"/>
            </a:pPr>
            <a:r>
              <a:rPr lang="en-us" sz="1000" cap="none">
                <a:solidFill>
                  <a:srgbClr val="CBD5E1"/>
                </a:solidFill>
              </a:rPr>
              <a:t>erreurs → Report directement</a:t>
            </a:r>
            <a:endParaRPr lang="en-us" sz="1000" cap="none">
              <a:solidFill>
                <a:srgbClr val="CBD5E1"/>
              </a:solidFill>
            </a:endParaRPr>
          </a:p>
        </p:txBody>
      </p:sp>
      <p:sp>
        <p:nvSpPr>
          <p:cNvPr id="37" name="Rounded Rectangle 36"/>
          <p:cNvSpPr>
            <a:extLst>
              <a:ext uri="smNativeData">
                <pr:smNativeData xmlns:pr="smNativeData" xmlns="smNativeData" val="SMDATA_15_ceEnahMAAAAlAAAAZQAAAA0AAAAAkAAAAEgAAACQAAAASAAAAAAAAAABAAAAAAAAAAEAAABQAAAAhbacS3FV1T8AAAAAAADwvwAAAAAAAOA/AAAAAAAA4D8AAAAAAADgPwAAAAAAAOA/AAAAAAAA4D8AAAAAAADgPwAAAAAAAOA/AAAAAAAA4D8CAAAAjAAAAAEAAAAAAAAAHik7ACxn1gAAAAAAAAAAAAAAAAAAAAAAAAAAAAAAAAAAAAAAZAAAAAEAAABAAAAAAAAAAJz///9aAAAAAAAAAAEAAABQAAAAMGjPAAAAAAAAAAAAAAAAAAAAAAAAAAAAAAAAAAAAAAAAAAAAAAAAAAAAAAAAAAAAAAAAAAAAAAAAAAAAFAAAADwAAAAAAAAAAAAAAEBtxAAP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Hik7ACxn1gAwaM8AAAAAAAAAAAAAAAAAAAAAAAAAAAAAAAAAAAAAAEBtxAB/f38A5+bmA8zMzADAwP8Af39/AAAAAAAAAAAAAAAAAAAAAAAAAAAAIQAAABgAAAAUAAAA0BQAAGAeAACwJQAAICUAABAAAAAmAAAACAAAAP//////////"/>
              </a:ext>
            </a:extLst>
          </p:cNvSpPr>
          <p:nvPr/>
        </p:nvSpPr>
        <p:spPr>
          <a:xfrm>
            <a:off x="3383280" y="4937760"/>
            <a:ext cx="2743200" cy="1097280"/>
          </a:xfrm>
          <a:prstGeom prst="roundRect">
            <a:avLst>
              <a:gd name="adj" fmla="val 16667"/>
            </a:avLst>
          </a:prstGeom>
          <a:solidFill>
            <a:srgbClr val="1E293B"/>
          </a:solidFill>
          <a:ln>
            <a:noFill/>
          </a:ln>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p>
        </p:txBody>
      </p:sp>
      <p:sp>
        <p:nvSpPr>
          <p:cNvPr id="38" name="Oval 37"/>
          <p:cNvSpPr>
            <a:extLst>
              <a:ext uri="smNativeData">
                <pr:smNativeData xmlns:pr="smNativeData" xmlns="smNativeData" val="SMDATA_15_ceEnahMAAAAlAAAAZgAAAA0AAAAAkAAAAEgAAACQAAAASAAAAAAAAAABAAAAAAAAAAEAAABQAAAAAAAAAAAA8D8AAAAAAADwPwAAAAAAAOA/AAAAAAAA4D8AAAAAAADgPwAAAAAAAOA/AAAAAAAA4D8AAAAAAADgPwAAAAAAAOA/AAAAAAAA4D8CAAAAjAAAAAEAAAAAAAAACm5XACxn1gAAAAAAAAAAAAAAAAAAAAAAAAAAAAAAAAAAAAAAZAAAAAEAAABAAAAAAAAAAJz///9aAAAAAAAAAAEAAABQAAAAMGjPAAAAAAAAAAAAAAAAAAAAAAAAAAAAAAAAAAAAAAAAAAAAAAAAAAAAAAAAAAAAAAAAAAAAAAAAAAAAFAAAADwAAAAAAAAAAAAAAEBtxAAP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Cm5XACxn1gAwaM8AAAAAAAAAAAAAAAAAAAAAAAAAAAAAAAAAAAAAAEBtxAB/f38A5+bmA8zMzADAwP8Af39/AAAAAAAAAAAAAAAAAAAAAAAAAAAAIQAAABgAAAAUAAAAOBYAABAgAABYFwAAMCEAABAAAAAmAAAACAAAAP//////////"/>
              </a:ext>
            </a:extLst>
          </p:cNvSpPr>
          <p:nvPr/>
        </p:nvSpPr>
        <p:spPr>
          <a:xfrm>
            <a:off x="3611880" y="5212080"/>
            <a:ext cx="182880" cy="182880"/>
          </a:xfrm>
          <a:prstGeom prst="ellipse">
            <a:avLst/>
          </a:prstGeom>
          <a:solidFill>
            <a:srgbClr val="0A6E57"/>
          </a:solidFill>
          <a:ln>
            <a:noFill/>
          </a:ln>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p>
        </p:txBody>
      </p:sp>
      <p:sp>
        <p:nvSpPr>
          <p:cNvPr id="39" name="TextBox 38"/>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FU58wU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6BcAAMgfAADYJAAAwCEAABAgAAAmAAAACAAAAP//////////"/>
              </a:ext>
            </a:extLst>
          </p:cNvSpPr>
          <p:nvPr/>
        </p:nvSpPr>
        <p:spPr>
          <a:xfrm>
            <a:off x="3886200" y="5166360"/>
            <a:ext cx="2103120" cy="320040"/>
          </a:xfrm>
          <a:prstGeom prst="rect">
            <a:avLst/>
          </a:prstGeom>
          <a:noFill/>
          <a:ln>
            <a:noFill/>
          </a:ln>
          <a:effectLst/>
        </p:spPr>
        <p:txBody>
          <a:bodyPr vert="horz" wrap="square" lIns="0" tIns="0" rIns="0" bIns="0" numCol="1" spcCol="215900" anchor="t"/>
          <a:lstStyle/>
          <a:p>
            <a:pPr algn="l">
              <a:defRPr lang="en-us"/>
            </a:pPr>
            <a:r>
              <a:rPr lang="en-us" sz="1200" b="1" cap="none">
                <a:solidFill>
                  <a:srgbClr val="FFFFFF"/>
                </a:solidFill>
              </a:rPr>
              <a:t>Scanner</a:t>
            </a:r>
            <a:endParaRPr lang="en-us" sz="1200" b="1" cap="none">
              <a:solidFill>
                <a:srgbClr val="FFFFFF"/>
              </a:solidFill>
            </a:endParaRPr>
          </a:p>
        </p:txBody>
      </p:sp>
      <p:sp>
        <p:nvSpPr>
          <p:cNvPr id="40" name="TextBox 39"/>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OBYAAAgiAADYJAAA2CQAABAgAAAmAAAACAAAAP//////////"/>
              </a:ext>
            </a:extLst>
          </p:cNvSpPr>
          <p:nvPr/>
        </p:nvSpPr>
        <p:spPr>
          <a:xfrm>
            <a:off x="3611880" y="5532120"/>
            <a:ext cx="2377440" cy="457200"/>
          </a:xfrm>
          <a:prstGeom prst="rect">
            <a:avLst/>
          </a:prstGeom>
          <a:noFill/>
          <a:ln>
            <a:noFill/>
          </a:ln>
          <a:effectLst/>
        </p:spPr>
        <p:txBody>
          <a:bodyPr vert="horz" wrap="square" lIns="0" tIns="0" rIns="0" bIns="0" numCol="1" spcCol="215900" anchor="t"/>
          <a:lstStyle/>
          <a:p>
            <a:pPr algn="l">
              <a:defRPr lang="en-us"/>
            </a:pPr>
            <a:r>
              <a:rPr lang="en-us" sz="1000" cap="none">
                <a:solidFill>
                  <a:srgbClr val="CBD5E1"/>
                </a:solidFill>
              </a:rPr>
              <a:t>0 finding → Report</a:t>
            </a:r>
            <a:endParaRPr lang="en-us" sz="1000" cap="none">
              <a:solidFill>
                <a:srgbClr val="CBD5E1"/>
              </a:solidFill>
            </a:endParaRPr>
          </a:p>
        </p:txBody>
      </p:sp>
      <p:sp>
        <p:nvSpPr>
          <p:cNvPr id="41" name="Rounded Rectangle 40"/>
          <p:cNvSpPr>
            <a:extLst>
              <a:ext uri="smNativeData">
                <pr:smNativeData xmlns:pr="smNativeData" xmlns="smNativeData" val="SMDATA_15_ceEnahMAAAAlAAAAZQAAAA0AAAAAkAAAAEgAAACQAAAASAAAAAAAAAABAAAAAAAAAAEAAABQAAAAhbacS3FV1T8AAAAAAADwvwAAAAAAAOA/AAAAAAAA4D8AAAAAAADgPwAAAAAAAOA/AAAAAAAA4D8AAAAAAADgPwAAAAAAAOA/AAAAAAAA4D8CAAAAjAAAAAEAAAAAAAAAHik7ACxn1gAAAAAAAAAAAAAAAAAAAAAAAAAAAAAAAAAAAAAAZAAAAAEAAABAAAAAAAAAAJz///9aAAAAAAAAAAEAAABQAAAAMGjPAAAAAAAAAAAAAAAAAAAAAAAAAAAAAAAAAAAAAAAAAAAAAAAAAAAAAAAAAAAAAAAAAAAAAAAAAAAAFAAAADwAAAAAAAAAAAAAAEBtxAAP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LcgHQ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Hik7ACxn1gAwaM8AAAAAAAAAAAAAAAAAAAAAAAAAAAAAAAAAAAAAAEBtxAB/f38A5+bmA8zMzADAwP8Af39/AAAAAAAAAAAAAAAAAAAAAAAAAAAAIQAAABgAAAAUAAAAQCYAAGAeAAAgNwAAICUAABAAAAAmAAAACAAAAP//////////"/>
              </a:ext>
            </a:extLst>
          </p:cNvSpPr>
          <p:nvPr/>
        </p:nvSpPr>
        <p:spPr>
          <a:xfrm>
            <a:off x="6217920" y="4937760"/>
            <a:ext cx="2743200" cy="1097280"/>
          </a:xfrm>
          <a:prstGeom prst="roundRect">
            <a:avLst>
              <a:gd name="adj" fmla="val 16667"/>
            </a:avLst>
          </a:prstGeom>
          <a:solidFill>
            <a:srgbClr val="1E293B"/>
          </a:solidFill>
          <a:ln>
            <a:noFill/>
          </a:ln>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p>
        </p:txBody>
      </p:sp>
      <p:sp>
        <p:nvSpPr>
          <p:cNvPr id="42" name="Oval 41"/>
          <p:cNvSpPr>
            <a:extLst>
              <a:ext uri="smNativeData">
                <pr:smNativeData xmlns:pr="smNativeData" xmlns="smNativeData" val="SMDATA_15_ceEnahMAAAAlAAAAZgAAAA0AAAAAkAAAAEgAAACQAAAASAAAAAAAAAABAAAAAAAAAAEAAABQAAAAAAAAAAAA8D8AAAAAAADwPwAAAAAAAOA/AAAAAAAA4D8AAAAAAADgPwAAAAAAAOA/AAAAAAAA4D8AAAAAAADgPwAAAAAAAOA/AAAAAAAA4D8CAAAAjAAAAAEAAAAAAAAAfDrtACxn1gAAAAAAAAAAAAAAAAAAAAAAAAAAAAAAAAAAAAAAZAAAAAEAAABAAAAAAAAAAJz///9aAAAAAAAAAAEAAABQAAAAMGjPAAAAAAAAAAAAAAAAAAAAAAAAAAAAAAAAAAAAAAAAAAAAAAAAAAAAAAAAAAAAAAAAAAAAAAAAAAAAFAAAADwAAAAAAAAAAAAAAEBtxAAP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fDrtACxn1gAwaM8AAAAAAAAAAAAAAAAAAAAAAAAAAAAAAAAAAAAAAEBtxAB/f38A5+bmA8zMzADAwP8Af39/AAAAAAAAAAAAAAAAAAAAAAAAAAAAIQAAABgAAAAUAAAAqCcAABAgAADIKAAAMCEAABAAAAAmAAAACAAAAP//////////"/>
              </a:ext>
            </a:extLst>
          </p:cNvSpPr>
          <p:nvPr/>
        </p:nvSpPr>
        <p:spPr>
          <a:xfrm>
            <a:off x="6446520" y="5212080"/>
            <a:ext cx="182880" cy="182880"/>
          </a:xfrm>
          <a:prstGeom prst="ellipse">
            <a:avLst/>
          </a:prstGeom>
          <a:solidFill>
            <a:srgbClr val="7C3AED"/>
          </a:solidFill>
          <a:ln>
            <a:noFill/>
          </a:ln>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p>
        </p:txBody>
      </p:sp>
      <p:sp>
        <p:nvSpPr>
          <p:cNvPr id="43" name="TextBox 42"/>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WCkAAMgfAABINgAAwCEAABAgAAAmAAAACAAAAP//////////"/>
              </a:ext>
            </a:extLst>
          </p:cNvSpPr>
          <p:nvPr/>
        </p:nvSpPr>
        <p:spPr>
          <a:xfrm>
            <a:off x="6720840" y="5166360"/>
            <a:ext cx="2103120" cy="320040"/>
          </a:xfrm>
          <a:prstGeom prst="rect">
            <a:avLst/>
          </a:prstGeom>
          <a:noFill/>
          <a:ln>
            <a:noFill/>
          </a:ln>
          <a:effectLst/>
        </p:spPr>
        <p:txBody>
          <a:bodyPr vert="horz" wrap="square" lIns="0" tIns="0" rIns="0" bIns="0" numCol="1" spcCol="215900" anchor="t"/>
          <a:lstStyle/>
          <a:p>
            <a:pPr algn="l">
              <a:defRPr lang="en-us"/>
            </a:pPr>
            <a:r>
              <a:rPr lang="en-us" sz="1200" b="1" cap="none">
                <a:solidFill>
                  <a:srgbClr val="FFFFFF"/>
                </a:solidFill>
              </a:rPr>
              <a:t>ExploitScorer</a:t>
            </a:r>
            <a:endParaRPr lang="en-us" sz="1200" b="1" cap="none">
              <a:solidFill>
                <a:srgbClr val="FFFFFF"/>
              </a:solidFill>
            </a:endParaRPr>
          </a:p>
        </p:txBody>
      </p:sp>
      <p:sp>
        <p:nvSpPr>
          <p:cNvPr id="44" name="TextBox 43"/>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qCcAAAgiAABINgAA2CQAABAgAAAmAAAACAAAAP//////////"/>
              </a:ext>
            </a:extLst>
          </p:cNvSpPr>
          <p:nvPr/>
        </p:nvSpPr>
        <p:spPr>
          <a:xfrm>
            <a:off x="6446520" y="5532120"/>
            <a:ext cx="2377440" cy="457200"/>
          </a:xfrm>
          <a:prstGeom prst="rect">
            <a:avLst/>
          </a:prstGeom>
          <a:noFill/>
          <a:ln>
            <a:noFill/>
          </a:ln>
          <a:effectLst/>
        </p:spPr>
        <p:txBody>
          <a:bodyPr vert="horz" wrap="square" lIns="0" tIns="0" rIns="0" bIns="0" numCol="1" spcCol="215900" anchor="t"/>
          <a:lstStyle/>
          <a:p>
            <a:pPr algn="l">
              <a:defRPr lang="en-us"/>
            </a:pPr>
            <a:r>
              <a:rPr lang="en-us" sz="1000" cap="none">
                <a:solidFill>
                  <a:srgbClr val="CBD5E1"/>
                </a:solidFill>
              </a:rPr>
              <a:t>rien d'exploitable → Report</a:t>
            </a:r>
            <a:endParaRPr lang="en-us" sz="1000" cap="none">
              <a:solidFill>
                <a:srgbClr val="CBD5E1"/>
              </a:solidFill>
            </a:endParaRPr>
          </a:p>
        </p:txBody>
      </p:sp>
      <p:sp>
        <p:nvSpPr>
          <p:cNvPr id="45" name="Rounded Rectangle 44"/>
          <p:cNvSpPr>
            <a:extLst>
              <a:ext uri="smNativeData">
                <pr:smNativeData xmlns:pr="smNativeData" xmlns="smNativeData" val="SMDATA_15_ceEnahMAAAAlAAAAZQAAAA0AAAAAkAAAAEgAAACQAAAASAAAAAAAAAABAAAAAAAAAAEAAABQAAAAhbacS3FV1T8AAAAAAADwvwAAAAAAAOA/AAAAAAAA4D8AAAAAAADgPwAAAAAAAOA/AAAAAAAA4D8AAAAAAADgPwAAAAAAAOA/AAAAAAAA4D8CAAAAjAAAAAEAAAAAAAAAHik7ACxn1gAAAAAAAAAAAAAAAAAAAAAAAAAAAAAAAAAAAAAAZAAAAAEAAABAAAAAAAAAAJz///9aAAAAAAAAAAEAAABQAAAAMGjPAAAAAAAAAAAAAAAAAAAAAAAAAAAAAAAAAAAAAAAAAAAAAAAAAAAAAAAAAAAAAAAAAAAAAAAAAAAAFAAAADwAAAAAAAAAAAAAAEBtxAAP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Hik7ACxn1gAwaM8AAAAAAAAAAAAAAAAAAAAAAAAAAAAAAAAAAAAAAEBtxAB/f38A5+bmA8zMzADAwP8Af39/AAAAAAAAAAAAAAAAAAAAAAAAAAAAIQAAABgAAAAUAAAAsDcAAGAeAACQSAAAICUAABAAAAAmAAAACAAAAP//////////"/>
              </a:ext>
            </a:extLst>
          </p:cNvSpPr>
          <p:nvPr/>
        </p:nvSpPr>
        <p:spPr>
          <a:xfrm>
            <a:off x="9052560" y="4937760"/>
            <a:ext cx="2743200" cy="1097280"/>
          </a:xfrm>
          <a:prstGeom prst="roundRect">
            <a:avLst>
              <a:gd name="adj" fmla="val 16667"/>
            </a:avLst>
          </a:prstGeom>
          <a:solidFill>
            <a:srgbClr val="1E293B"/>
          </a:solidFill>
          <a:ln>
            <a:noFill/>
          </a:ln>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p>
        </p:txBody>
      </p:sp>
      <p:sp>
        <p:nvSpPr>
          <p:cNvPr id="46" name="Oval 45"/>
          <p:cNvSpPr>
            <a:extLst>
              <a:ext uri="smNativeData">
                <pr:smNativeData xmlns:pr="smNativeData" xmlns="smNativeData" val="SMDATA_15_ceEnahMAAAAlAAAAZgAAAA0AAAAAkAAAAEgAAACQAAAASAAAAAAAAAABAAAAAAAAAAEAAABQAAAAAAAAAAAA8D8AAAAAAADwPwAAAAAAAOA/AAAAAAAA4D8AAAAAAADgPwAAAAAAAOA/AAAAAAAA4D8AAAAAAADgPwAAAAAAAOA/AAAAAAAA4D8CAAAAjAAAAAEAAAAAAAAAtFMJACxn1gAAAAAAAAAAAAAAAAAAAAAAAAAAAAAAAAAAAAAAZAAAAAEAAABAAAAAAAAAAJz///9aAAAAAAAAAAEAAABQAAAAMGjPAAAAAAAAAAAAAAAAAAAAAAAAAAAAAAAAAAAAAAAAAAAAAAAAAAAAAAAAAAAAAAAAAAAAAAAAAAAAFAAAADwAAAAAAAAAAAAAAEBtxAAP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z///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FMJACxn1gAwaM8AAAAAAAAAAAAAAAAAAAAAAAAAAAAAAAAAAAAAAEBtxAB/f38A5+bmA8zMzADAwP8Af39/AAAAAAAAAAAAAAAAAAAAAAAAAAAAIQAAABgAAAAUAAAAGDkAABAgAAA4OgAAMCEAABAAAAAmAAAACAAAAP//////////"/>
              </a:ext>
            </a:extLst>
          </p:cNvSpPr>
          <p:nvPr/>
        </p:nvSpPr>
        <p:spPr>
          <a:xfrm>
            <a:off x="9281160" y="5212080"/>
            <a:ext cx="182880" cy="182880"/>
          </a:xfrm>
          <a:prstGeom prst="ellipse">
            <a:avLst/>
          </a:prstGeom>
          <a:solidFill>
            <a:srgbClr val="B45309"/>
          </a:solidFill>
          <a:ln>
            <a:noFill/>
          </a:ln>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p>
        </p:txBody>
      </p:sp>
      <p:sp>
        <p:nvSpPr>
          <p:cNvPr id="47" name="TextBox 46"/>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I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yDoAAMgfAAC4RwAAwCEAABAgAAAmAAAACAAAAP//////////"/>
              </a:ext>
            </a:extLst>
          </p:cNvSpPr>
          <p:nvPr/>
        </p:nvSpPr>
        <p:spPr>
          <a:xfrm>
            <a:off x="9555480" y="5166360"/>
            <a:ext cx="2103120" cy="320040"/>
          </a:xfrm>
          <a:prstGeom prst="rect">
            <a:avLst/>
          </a:prstGeom>
          <a:noFill/>
          <a:ln>
            <a:noFill/>
          </a:ln>
          <a:effectLst/>
        </p:spPr>
        <p:txBody>
          <a:bodyPr vert="horz" wrap="square" lIns="0" tIns="0" rIns="0" bIns="0" numCol="1" spcCol="215900" anchor="t"/>
          <a:lstStyle/>
          <a:p>
            <a:pPr algn="l">
              <a:defRPr lang="en-us"/>
            </a:pPr>
            <a:r>
              <a:rPr lang="en-us" sz="1200" b="1" cap="none">
                <a:solidFill>
                  <a:srgbClr val="FFFFFF"/>
                </a:solidFill>
              </a:rPr>
              <a:t>Validator</a:t>
            </a:r>
            <a:endParaRPr lang="en-us" sz="1200" b="1" cap="none">
              <a:solidFill>
                <a:srgbClr val="FFFFFF"/>
              </a:solidFill>
            </a:endParaRPr>
          </a:p>
        </p:txBody>
      </p:sp>
      <p:sp>
        <p:nvSpPr>
          <p:cNvPr id="48" name="TextBox 47"/>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OP///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GDkAAAgiAAC4RwAA2CQAABAgAAAmAAAACAAAAP//////////"/>
              </a:ext>
            </a:extLst>
          </p:cNvSpPr>
          <p:nvPr/>
        </p:nvSpPr>
        <p:spPr>
          <a:xfrm>
            <a:off x="9281160" y="5532120"/>
            <a:ext cx="2377440" cy="457200"/>
          </a:xfrm>
          <a:prstGeom prst="rect">
            <a:avLst/>
          </a:prstGeom>
          <a:noFill/>
          <a:ln>
            <a:noFill/>
          </a:ln>
          <a:effectLst/>
        </p:spPr>
        <p:txBody>
          <a:bodyPr vert="horz" wrap="square" lIns="0" tIns="0" rIns="0" bIns="0" numCol="1" spcCol="215900" anchor="t"/>
          <a:lstStyle/>
          <a:p>
            <a:pPr algn="l">
              <a:defRPr lang="en-us"/>
            </a:pPr>
            <a:r>
              <a:rPr lang="en-us" sz="1000" cap="none">
                <a:solidFill>
                  <a:srgbClr val="CBD5E1"/>
                </a:solidFill>
              </a:rPr>
              <a:t>rejetés &amp;&amp; iter&lt;3 → Patcher</a:t>
            </a:r>
            <a:endParaRPr lang="en-us" sz="1000" cap="none">
              <a:solidFill>
                <a:srgbClr val="CBD5E1"/>
              </a:solidFill>
            </a:endParaRPr>
          </a:p>
        </p:txBody>
      </p:sp>
      <p:sp>
        <p:nvSpPr>
          <p:cNvPr id="49" name="TextBox 48"/>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k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YAMAAKgnAAAgJQAAWCkAABAgAAAmAAAACAAAAP//////////"/>
              </a:ext>
            </a:extLst>
          </p:cNvSpPr>
          <p:nvPr/>
        </p:nvSpPr>
        <p:spPr>
          <a:xfrm>
            <a:off x="548640" y="6446520"/>
            <a:ext cx="5486400" cy="274320"/>
          </a:xfrm>
          <a:prstGeom prst="rect">
            <a:avLst/>
          </a:prstGeom>
          <a:noFill/>
          <a:ln>
            <a:noFill/>
          </a:ln>
          <a:effectLst/>
        </p:spPr>
        <p:txBody>
          <a:bodyPr vert="horz" wrap="square" lIns="0" tIns="0" rIns="0" bIns="0" numCol="1" spcCol="215900" anchor="t"/>
          <a:lstStyle/>
          <a:p>
            <a:pPr algn="l">
              <a:defRPr lang="en-us"/>
            </a:pPr>
            <a:r>
              <a:rPr lang="en-us" sz="1000" cap="none">
                <a:solidFill>
                  <a:srgbClr val="475569"/>
                </a:solidFill>
              </a:rPr>
              <a:t>MAS — Multi-Agent Security Scanner</a:t>
            </a:r>
            <a:endParaRPr lang="en-us" sz="1000" cap="none">
              <a:solidFill>
                <a:srgbClr val="475569"/>
              </a:solidFill>
            </a:endParaRPr>
          </a:p>
        </p:txBody>
      </p:sp>
      <p:sp>
        <p:nvSpPr>
          <p:cNvPr id="50" name="TextBox 49"/>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z///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sEAAAKgnAABwRwAAWCkAABAgAAAmAAAACAAAAP//////////"/>
              </a:ext>
            </a:extLst>
          </p:cNvSpPr>
          <p:nvPr/>
        </p:nvSpPr>
        <p:spPr>
          <a:xfrm>
            <a:off x="10515600" y="6446520"/>
            <a:ext cx="1097280" cy="274320"/>
          </a:xfrm>
          <a:prstGeom prst="rect">
            <a:avLst/>
          </a:prstGeom>
          <a:noFill/>
          <a:ln>
            <a:noFill/>
          </a:ln>
          <a:effectLst/>
        </p:spPr>
        <p:txBody>
          <a:bodyPr vert="horz" wrap="square" lIns="0" tIns="0" rIns="0" bIns="0" numCol="1" spcCol="215900" anchor="t"/>
          <a:lstStyle/>
          <a:p>
            <a:pPr algn="r">
              <a:defRPr lang="en-us"/>
            </a:pPr>
            <a:r>
              <a:rPr lang="en-us" sz="1000" cap="none">
                <a:solidFill>
                  <a:srgbClr val="475569"/>
                </a:solidFill>
              </a:rPr>
              <a:t>6 / 11</a:t>
            </a:r>
            <a:endParaRPr lang="en-us" sz="1000" cap="none">
              <a:solidFill>
                <a:srgbClr val="475569"/>
              </a:solidFill>
            </a:endParaRPr>
          </a:p>
        </p:txBody>
      </p:sp>
    </p:spTree>
  </p:cSld>
  <p:clrMapOvr>
    <a:masterClrMapping/>
  </p:clrMapOvr>
  <p:timing>
    <p:tnLst>
      <p:par>
        <p:cTn id="1" dur="indefinite" restart="never" nodeType="tmRoot"/>
      </p:par>
    </p:tnLst>
  </p:timing>
</p:sld>
</file>

<file path=ppt/slides/slide7.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Rectangle 1"/>
          <p:cNvSpPr>
            <a:extLst>
              <a:ext uri="smNativeData">
                <pr:smNativeData xmlns:pr="smNativeData" xmlns="smNativeData" val="SMDATA_15_ceEnahMAAAAlAAAAZAAAAA0AAAAAkAAAAEgAAACQAAAASAAAAAAAAAABAAAAAAAAAAEAAABQAAAAAAAAAAAA4D8AAAAAAADgPwAAAAAAAOA/AAAAAAAA4D8AAAAAAADgPwAAAAAAAOA/AAAAAAAA4D8AAAAAAADgPwAAAAAAAOA/AAAAAAAA4D8CAAAAjAAAAAEAAAAAAAAA+Pr8ACxn1gAAAAAAAAAAAAAAAAAAAAAAAAAAAAAAAAAAAAAAZAAAAAEAAABAAAAAAAAAAJz///9aAAAAAAAAAAEAAABQAAAAMGjPAAAAAAAAAAAAAAAAAAAAAAAAAAAAAAAAAAAAAAAAAAAAAAAAAAAAAAAAAAAAAAAAAAAAAAAAAAAAFAAAADwAAAAAAAAAAAAAAEBtxAAP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Pr8ACxn1gAwaM8AAAAAAAAAAAAAAAAAAAAAAAAAAAAAAAAAAAAAAEBtxAB/f38A5+bmA8zMzADAwP8Af39/AAAAAAAAAAAAAAAAAAAAAAAAAAAAIQAAABgAAAAUAAAAAAAAAAAAAAAASwAAMCoAABAAAAAmAAAACAAAAP//////////"/>
              </a:ext>
            </a:extLst>
          </p:cNvSpPr>
          <p:nvPr/>
        </p:nvSpPr>
        <p:spPr>
          <a:xfrm>
            <a:off x="0" y="0"/>
            <a:ext cx="12192000" cy="6858000"/>
          </a:xfrm>
          <a:prstGeom prst="rect">
            <a:avLst/>
          </a:prstGeom>
          <a:solidFill>
            <a:srgbClr val="F8FAFC"/>
          </a:solidFill>
          <a:ln>
            <a:noFill/>
          </a:ln>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p>
        </p:txBody>
      </p:sp>
      <p:sp>
        <p:nvSpPr>
          <p:cNvPr id="3" name="Rectangle 2"/>
          <p:cNvSpPr>
            <a:extLst>
              <a:ext uri="smNativeData">
                <pr:smNativeData xmlns:pr="smNativeData" xmlns="smNativeData" val="SMDATA_15_ceEnahMAAAAlAAAAZAAAAA0AAAAAkAAAAEgAAACQAAAASAAAAAAAAAABAAAAAAAAAAEAAABQAAAAAAAAAAAA4D8AAAAAAADgPwAAAAAAAOA/AAAAAAAA4D8AAAAAAADgPwAAAAAAAOA/AAAAAAAA4D8AAAAAAADgPwAAAAAAAOA/AAAAAAAA4D8CAAAAjAAAAAEAAAAAAAAADZNzACxn1gAAAAAAAAAAAAAAAAAAAAAAAAAAAAAAAAAAAAAAZAAAAAEAAABAAAAAAAAAAJz///9aAAAAAAAAAAEAAABQAAAAMGjPAAAAAAAAAAAAAAAAAAAAAAAAAAAAAAAAAAAAAAAAAAAAAAAAAAAAAAAAAAAAAAAAAAAAAAAAAAAAFAAAADwAAAAAAAAAAAAAAEBtxAAP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7///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DZNzACxn1gAwaM8AAAAAAAAAAAAAAAAAAAAAAAAAAAAAAAAAAAAAAEBtxAB/f38A5+bmA8zMzADAwP8Af39/AAAAAAAAAAAAAAAAAAAAAAAAAAAAIQAAABgAAAAUAAAAYAMAAIgCAAAwBgAA3gIAABAAAAAmAAAACAAAAP//////////"/>
              </a:ext>
            </a:extLst>
          </p:cNvSpPr>
          <p:nvPr/>
        </p:nvSpPr>
        <p:spPr>
          <a:xfrm>
            <a:off x="548640" y="411480"/>
            <a:ext cx="457200" cy="54610"/>
          </a:xfrm>
          <a:prstGeom prst="rect">
            <a:avLst/>
          </a:prstGeom>
          <a:solidFill>
            <a:srgbClr val="0D9373"/>
          </a:solidFill>
          <a:ln>
            <a:noFill/>
          </a:ln>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p>
        </p:txBody>
      </p:sp>
      <p:sp>
        <p:nvSpPr>
          <p:cNvPr id="4" name="TextBox 3"/>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3///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YAMAABgDAABgMAAAEAUAABAgAAAmAAAACAAAAP//////////"/>
              </a:ext>
            </a:extLst>
          </p:cNvSpPr>
          <p:nvPr/>
        </p:nvSpPr>
        <p:spPr>
          <a:xfrm>
            <a:off x="548640" y="502920"/>
            <a:ext cx="7315200" cy="320040"/>
          </a:xfrm>
          <a:prstGeom prst="rect">
            <a:avLst/>
          </a:prstGeom>
          <a:noFill/>
          <a:ln>
            <a:noFill/>
          </a:ln>
          <a:effectLst/>
        </p:spPr>
        <p:txBody>
          <a:bodyPr vert="horz" wrap="square" lIns="0" tIns="0" rIns="0" bIns="0" numCol="1" spcCol="215900" anchor="t"/>
          <a:lstStyle/>
          <a:p>
            <a:pPr algn="l">
              <a:defRPr lang="en-us"/>
            </a:pPr>
            <a:r>
              <a:rPr lang="en-us" sz="1100" b="1" cap="none">
                <a:solidFill>
                  <a:srgbClr val="0D9373"/>
                </a:solidFill>
              </a:rPr>
              <a:t>06 · MEMORY SAFETY</a:t>
            </a:r>
            <a:endParaRPr lang="en-us" sz="1100" b="1" cap="none">
              <a:solidFill>
                <a:srgbClr val="0D9373"/>
              </a:solidFill>
            </a:endParaRPr>
          </a:p>
        </p:txBody>
      </p:sp>
      <p:sp>
        <p:nvSpPr>
          <p:cNvPr id="5" name="TextBox 4"/>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YAMAAMgEAADgRgAASAkAABAgAAAmAAAACAAAAP//////////"/>
              </a:ext>
            </a:extLst>
          </p:cNvSpPr>
          <p:nvPr/>
        </p:nvSpPr>
        <p:spPr>
          <a:xfrm>
            <a:off x="548640" y="777240"/>
            <a:ext cx="10972800" cy="731520"/>
          </a:xfrm>
          <a:prstGeom prst="rect">
            <a:avLst/>
          </a:prstGeom>
          <a:noFill/>
          <a:ln>
            <a:noFill/>
          </a:ln>
          <a:effectLst/>
        </p:spPr>
        <p:txBody>
          <a:bodyPr vert="horz" wrap="square" lIns="0" tIns="0" rIns="0" bIns="0" numCol="1" spcCol="215900" anchor="t"/>
          <a:lstStyle/>
          <a:p>
            <a:pPr algn="l">
              <a:defRPr lang="en-us"/>
            </a:pPr>
            <a:r>
              <a:rPr lang="en-us" sz="3200" b="1" cap="none">
                <a:solidFill>
                  <a:srgbClr val="0F172A"/>
                </a:solidFill>
              </a:rPr>
              <a:t>Engine Rust externe</a:t>
            </a:r>
            <a:endParaRPr lang="en-us" sz="3200" b="1" cap="none">
              <a:solidFill>
                <a:srgbClr val="0F172A"/>
              </a:solidFill>
            </a:endParaRPr>
          </a:p>
        </p:txBody>
      </p:sp>
      <p:sp>
        <p:nvSpPr>
          <p:cNvPr id="6" name="TextBox 5"/>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j///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YAMAALgIAADgRgAAiAsAABAgAAAmAAAACAAAAP//////////"/>
              </a:ext>
            </a:extLst>
          </p:cNvSpPr>
          <p:nvPr/>
        </p:nvSpPr>
        <p:spPr>
          <a:xfrm>
            <a:off x="548640" y="1417320"/>
            <a:ext cx="10972800" cy="457200"/>
          </a:xfrm>
          <a:prstGeom prst="rect">
            <a:avLst/>
          </a:prstGeom>
          <a:noFill/>
          <a:ln>
            <a:noFill/>
          </a:ln>
          <a:effectLst/>
        </p:spPr>
        <p:txBody>
          <a:bodyPr vert="horz" wrap="square" lIns="0" tIns="0" rIns="0" bIns="0" numCol="1" spcCol="215900" anchor="t"/>
          <a:lstStyle/>
          <a:p>
            <a:pPr algn="l">
              <a:defRPr lang="en-us"/>
            </a:pPr>
            <a:r>
              <a:rPr lang="en-us" sz="1400" cap="none">
                <a:solidFill>
                  <a:srgbClr val="475569"/>
                </a:solidFill>
              </a:rPr>
              <a:t>20 règles couvrant buffer overflow, UAF, double-free, format string, unsafe Rust.</a:t>
            </a:r>
            <a:endParaRPr lang="en-us" sz="1400" cap="none">
              <a:solidFill>
                <a:srgbClr val="475569"/>
              </a:solidFill>
            </a:endParaRPr>
          </a:p>
        </p:txBody>
      </p:sp>
      <p:sp>
        <p:nvSpPr>
          <p:cNvPr id="7" name="Rounded Rectangle 6"/>
          <p:cNvSpPr>
            <a:extLst>
              <a:ext uri="smNativeData">
                <pr:smNativeData xmlns:pr="smNativeData" xmlns="smNativeData" val="SMDATA_15_ceEnahMAAAAlAAAAZQAAAA0AAAAAkAAAAEgAAACQAAAASAAAAAAAAAABAAAAAAAAAAEAAABQAAAAhbacS3FV1T8AAAAAAADwvwAAAAAAAOA/AAAAAAAA4D8AAAAAAADgPwAAAAAAAOA/AAAAAAAA4D8AAAAAAADgPwAAAAAAAOA/AAAAAAAA4D8CAAAAjAAAAAEAAAAAAAAADxcqACxn1gAAAAAAAAAAAAAAAAAAAAAAAAAAAAAAAAAAAAAAZAAAAAEAAABAAAAAAAAAAJz///9aAAAAAAAAAAEAAABQAAAAMGjPAAAAAAAAAAAAAAAAAAAAAAAAAAAAAAAAAAAAAAAAAAAAAAAAAAAAAAAAAAAAAAAAAAAAAAAAAAAAFAAAADwAAAAAAAAAAAAAAEBtxAAP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r///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DxcqACxn1gAwaM8AAAAAAAAAAAAAAAAAAAAAAAAAAAAAAAAAAAAAAEBtxAB/f38A5+bmA8zMzADAwP8Af39/AAAAAAAAAAAAAAAAAAAAAAAAAAAAIQAAABgAAAAUAAAAYAMAAIANAACAHwAAICUAABAAAAAmAAAACAAAAP//////////"/>
              </a:ext>
            </a:extLst>
          </p:cNvSpPr>
          <p:nvPr/>
        </p:nvSpPr>
        <p:spPr>
          <a:xfrm>
            <a:off x="548640" y="2194560"/>
            <a:ext cx="4572000" cy="3840480"/>
          </a:xfrm>
          <a:prstGeom prst="roundRect">
            <a:avLst>
              <a:gd name="adj" fmla="val 16667"/>
            </a:avLst>
          </a:prstGeom>
          <a:solidFill>
            <a:srgbClr val="0F172A"/>
          </a:solidFill>
          <a:ln>
            <a:noFill/>
          </a:ln>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p>
        </p:txBody>
      </p:sp>
      <p:sp>
        <p:nvSpPr>
          <p:cNvPr id="8" name="TextBox 7"/>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z///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oAUAAMAPAAAgHAAAABIAABAgAAAmAAAACAAAAP//////////"/>
              </a:ext>
            </a:extLst>
          </p:cNvSpPr>
          <p:nvPr/>
        </p:nvSpPr>
        <p:spPr>
          <a:xfrm>
            <a:off x="914400" y="2560320"/>
            <a:ext cx="3657600" cy="365760"/>
          </a:xfrm>
          <a:prstGeom prst="rect">
            <a:avLst/>
          </a:prstGeom>
          <a:noFill/>
          <a:ln>
            <a:noFill/>
          </a:ln>
          <a:effectLst/>
        </p:spPr>
        <p:txBody>
          <a:bodyPr vert="horz" wrap="square" lIns="0" tIns="0" rIns="0" bIns="0" numCol="1" spcCol="215900" anchor="t"/>
          <a:lstStyle/>
          <a:p>
            <a:pPr algn="l">
              <a:defRPr lang="en-us"/>
            </a:pPr>
            <a:r>
              <a:rPr lang="en-us" sz="1100" b="1" cap="none">
                <a:solidFill>
                  <a:srgbClr val="0D9373"/>
                </a:solidFill>
              </a:rPr>
              <a:t>COUVERTURE</a:t>
            </a:r>
            <a:endParaRPr lang="en-us" sz="1100" b="1" cap="none">
              <a:solidFill>
                <a:srgbClr val="0D9373"/>
              </a:solidFill>
            </a:endParaRPr>
          </a:p>
        </p:txBody>
      </p:sp>
      <p:sp>
        <p:nvSpPr>
          <p:cNvPr id="9" name="TextBox 8"/>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Oj///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oAUAAEgSAAAgHAAAOBYAABAgAAAmAAAACAAAAP//////////"/>
              </a:ext>
            </a:extLst>
          </p:cNvSpPr>
          <p:nvPr/>
        </p:nvSpPr>
        <p:spPr>
          <a:xfrm>
            <a:off x="914400" y="2971800"/>
            <a:ext cx="3657600" cy="640080"/>
          </a:xfrm>
          <a:prstGeom prst="rect">
            <a:avLst/>
          </a:prstGeom>
          <a:noFill/>
          <a:ln>
            <a:noFill/>
          </a:ln>
          <a:effectLst/>
        </p:spPr>
        <p:txBody>
          <a:bodyPr vert="horz" wrap="square" lIns="0" tIns="0" rIns="0" bIns="0" numCol="1" spcCol="215900" anchor="t"/>
          <a:lstStyle/>
          <a:p>
            <a:pPr algn="l">
              <a:defRPr lang="en-us"/>
            </a:pPr>
            <a:r>
              <a:rPr lang="en-us" sz="2200" b="1" cap="none">
                <a:solidFill>
                  <a:srgbClr val="FFFFFF"/>
                </a:solidFill>
              </a:rPr>
              <a:t>20 règles · 3 langages</a:t>
            </a:r>
            <a:endParaRPr lang="en-us" sz="2200" b="1" cap="none">
              <a:solidFill>
                <a:srgbClr val="FFFFFF"/>
              </a:solidFill>
            </a:endParaRPr>
          </a:p>
        </p:txBody>
      </p:sp>
      <p:sp>
        <p:nvSpPr>
          <p:cNvPr id="10" name="TextBox 9"/>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E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oAUAAOgXAAAQDgAASBsAABAgAAAmAAAACAAAAP//////////"/>
              </a:ext>
            </a:extLst>
          </p:cNvSpPr>
          <p:nvPr/>
        </p:nvSpPr>
        <p:spPr>
          <a:xfrm>
            <a:off x="914400" y="3886200"/>
            <a:ext cx="1371600" cy="548640"/>
          </a:xfrm>
          <a:prstGeom prst="rect">
            <a:avLst/>
          </a:prstGeom>
          <a:noFill/>
          <a:ln>
            <a:noFill/>
          </a:ln>
          <a:effectLst/>
        </p:spPr>
        <p:txBody>
          <a:bodyPr vert="horz" wrap="square" lIns="0" tIns="0" rIns="0" bIns="0" numCol="1" spcCol="215900" anchor="t"/>
          <a:lstStyle/>
          <a:p>
            <a:pPr algn="l">
              <a:defRPr lang="en-us"/>
            </a:pPr>
            <a:r>
              <a:rPr lang="en-us" sz="2800" b="1" cap="none">
                <a:solidFill>
                  <a:srgbClr val="0D9373"/>
                </a:solidFill>
              </a:rPr>
              <a:t>19</a:t>
            </a:r>
            <a:endParaRPr lang="en-us" sz="2800" b="1" cap="none">
              <a:solidFill>
                <a:srgbClr val="0D9373"/>
              </a:solidFill>
            </a:endParaRPr>
          </a:p>
        </p:txBody>
      </p:sp>
      <p:sp>
        <p:nvSpPr>
          <p:cNvPr id="11" name="TextBox 10"/>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3///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gA0AAMAYAABgHgAAkBsAABAgAAAmAAAACAAAAP//////////"/>
              </a:ext>
            </a:extLst>
          </p:cNvSpPr>
          <p:nvPr/>
        </p:nvSpPr>
        <p:spPr>
          <a:xfrm>
            <a:off x="2194560" y="4023360"/>
            <a:ext cx="2743200" cy="457200"/>
          </a:xfrm>
          <a:prstGeom prst="rect">
            <a:avLst/>
          </a:prstGeom>
          <a:noFill/>
          <a:ln>
            <a:noFill/>
          </a:ln>
          <a:effectLst/>
        </p:spPr>
        <p:txBody>
          <a:bodyPr vert="horz" wrap="square" lIns="0" tIns="0" rIns="0" bIns="0" numCol="1" spcCol="215900" anchor="t"/>
          <a:lstStyle/>
          <a:p>
            <a:pPr algn="l">
              <a:defRPr lang="en-us"/>
            </a:pPr>
            <a:r>
              <a:rPr lang="en-us" sz="1300" cap="none">
                <a:solidFill>
                  <a:srgbClr val="CBD5E1"/>
                </a:solidFill>
              </a:rPr>
              <a:t>Règles C/C++</a:t>
            </a:r>
            <a:endParaRPr lang="en-us" sz="1300" cap="none">
              <a:solidFill>
                <a:srgbClr val="CBD5E1"/>
              </a:solidFill>
            </a:endParaRPr>
          </a:p>
        </p:txBody>
      </p:sp>
      <p:sp>
        <p:nvSpPr>
          <p:cNvPr id="12" name="TextBox 11"/>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3///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oAUAANgbAAAQDgAAOB8AABAgAAAmAAAACAAAAP//////////"/>
              </a:ext>
            </a:extLst>
          </p:cNvSpPr>
          <p:nvPr/>
        </p:nvSpPr>
        <p:spPr>
          <a:xfrm>
            <a:off x="914400" y="4526280"/>
            <a:ext cx="1371600" cy="548640"/>
          </a:xfrm>
          <a:prstGeom prst="rect">
            <a:avLst/>
          </a:prstGeom>
          <a:noFill/>
          <a:ln>
            <a:noFill/>
          </a:ln>
          <a:effectLst/>
        </p:spPr>
        <p:txBody>
          <a:bodyPr vert="horz" wrap="square" lIns="0" tIns="0" rIns="0" bIns="0" numCol="1" spcCol="215900" anchor="t"/>
          <a:lstStyle/>
          <a:p>
            <a:pPr algn="l">
              <a:defRPr lang="en-us"/>
            </a:pPr>
            <a:r>
              <a:rPr lang="en-us" sz="2800" b="1" cap="none">
                <a:solidFill>
                  <a:srgbClr val="0D9373"/>
                </a:solidFill>
              </a:rPr>
              <a:t>5</a:t>
            </a:r>
            <a:endParaRPr lang="en-us" sz="2800" b="1" cap="none">
              <a:solidFill>
                <a:srgbClr val="0D9373"/>
              </a:solidFill>
            </a:endParaRPr>
          </a:p>
        </p:txBody>
      </p:sp>
      <p:sp>
        <p:nvSpPr>
          <p:cNvPr id="13" name="TextBox 12"/>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3///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gA0AALAcAABgHgAAgB8AABAgAAAmAAAACAAAAP//////////"/>
              </a:ext>
            </a:extLst>
          </p:cNvSpPr>
          <p:nvPr/>
        </p:nvSpPr>
        <p:spPr>
          <a:xfrm>
            <a:off x="2194560" y="4663440"/>
            <a:ext cx="2743200" cy="457200"/>
          </a:xfrm>
          <a:prstGeom prst="rect">
            <a:avLst/>
          </a:prstGeom>
          <a:noFill/>
          <a:ln>
            <a:noFill/>
          </a:ln>
          <a:effectLst/>
        </p:spPr>
        <p:txBody>
          <a:bodyPr vert="horz" wrap="square" lIns="0" tIns="0" rIns="0" bIns="0" numCol="1" spcCol="215900" anchor="t"/>
          <a:lstStyle/>
          <a:p>
            <a:pPr algn="l">
              <a:defRPr lang="en-us"/>
            </a:pPr>
            <a:r>
              <a:rPr lang="en-us" sz="1300" cap="none">
                <a:solidFill>
                  <a:srgbClr val="CBD5E1"/>
                </a:solidFill>
              </a:rPr>
              <a:t>Règles Rust unsafe</a:t>
            </a:r>
            <a:endParaRPr lang="en-us" sz="1300" cap="none">
              <a:solidFill>
                <a:srgbClr val="CBD5E1"/>
              </a:solidFill>
            </a:endParaRPr>
          </a:p>
        </p:txBody>
      </p:sp>
      <p:sp>
        <p:nvSpPr>
          <p:cNvPr id="14" name="TextBox 13"/>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7///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oAUAAMgfAAAQDgAAKCMAABAgAAAmAAAACAAAAP//////////"/>
              </a:ext>
            </a:extLst>
          </p:cNvSpPr>
          <p:nvPr/>
        </p:nvSpPr>
        <p:spPr>
          <a:xfrm>
            <a:off x="914400" y="5166360"/>
            <a:ext cx="1371600" cy="548640"/>
          </a:xfrm>
          <a:prstGeom prst="rect">
            <a:avLst/>
          </a:prstGeom>
          <a:noFill/>
          <a:ln>
            <a:noFill/>
          </a:ln>
          <a:effectLst/>
        </p:spPr>
        <p:txBody>
          <a:bodyPr vert="horz" wrap="square" lIns="0" tIns="0" rIns="0" bIns="0" numCol="1" spcCol="215900" anchor="t"/>
          <a:lstStyle/>
          <a:p>
            <a:pPr algn="l">
              <a:defRPr lang="en-us"/>
            </a:pPr>
            <a:r>
              <a:rPr lang="en-us" sz="2800" b="1" cap="none">
                <a:solidFill>
                  <a:srgbClr val="0D9373"/>
                </a:solidFill>
              </a:rPr>
              <a:t>8</a:t>
            </a:r>
            <a:endParaRPr lang="en-us" sz="2800" b="1" cap="none">
              <a:solidFill>
                <a:srgbClr val="0D9373"/>
              </a:solidFill>
            </a:endParaRPr>
          </a:p>
        </p:txBody>
      </p:sp>
      <p:sp>
        <p:nvSpPr>
          <p:cNvPr id="15" name="TextBox 14"/>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7///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gA0AAKAgAABgHgAAcCMAABAgAAAmAAAACAAAAP//////////"/>
              </a:ext>
            </a:extLst>
          </p:cNvSpPr>
          <p:nvPr/>
        </p:nvSpPr>
        <p:spPr>
          <a:xfrm>
            <a:off x="2194560" y="5303520"/>
            <a:ext cx="2743200" cy="457200"/>
          </a:xfrm>
          <a:prstGeom prst="rect">
            <a:avLst/>
          </a:prstGeom>
          <a:noFill/>
          <a:ln>
            <a:noFill/>
          </a:ln>
          <a:effectLst/>
        </p:spPr>
        <p:txBody>
          <a:bodyPr vert="horz" wrap="square" lIns="0" tIns="0" rIns="0" bIns="0" numCol="1" spcCol="215900" anchor="t"/>
          <a:lstStyle/>
          <a:p>
            <a:pPr algn="l">
              <a:defRPr lang="en-us"/>
            </a:pPr>
            <a:r>
              <a:rPr lang="en-us" sz="1300" cap="none">
                <a:solidFill>
                  <a:srgbClr val="CBD5E1"/>
                </a:solidFill>
              </a:rPr>
              <a:t>CWE distincts couverts</a:t>
            </a:r>
            <a:endParaRPr lang="en-us" sz="1300" cap="none">
              <a:solidFill>
                <a:srgbClr val="CBD5E1"/>
              </a:solidFill>
            </a:endParaRPr>
          </a:p>
        </p:txBody>
      </p:sp>
      <p:sp>
        <p:nvSpPr>
          <p:cNvPr id="16" name="Rounded Rectangle 15"/>
          <p:cNvSpPr>
            <a:extLst>
              <a:ext uri="smNativeData">
                <pr:smNativeData xmlns:pr="smNativeData" xmlns="smNativeData" val="SMDATA_15_ceEnahMAAAAlAAAAZQAAAA0AAAAAkAAAAEgAAACQAAAASAAAAAAAAAABAAAAAAAAAAEAAABQAAAAhbacS3FV1T8AAAAAAADwvwAAAAAAAOA/AAAAAAAA4D8AAAAAAADgPwAAAAAAAOA/AAAAAAAA4D8AAAAAAADgPwAAAAAAAOA/AAAAAAAA4D8CAAAAjAAAAAEAAAAAAAAA////ACxn1gAAAAAAAAAAAAAAAAAAAAAAAAAAAAAAAAAAAAAAZAAAAAEAAABAAAAAAAAAAJz///9aAAAAAAAAAAEAAABQAAAAMGjPAAAAAAAAAAAAAAAAAAAAAAAAAAAAAAAAAAAAAAAAAAAAAAAAAAAAAAAAAAAAAAAAAAAAAAAAAAAAFAAAADwAAAABAAAAAAAAAOLo8AAP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z///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Cxn1gAwaM8AAAAAAAAAAAAAAAAAAAAAAAAAAAAAAAAAAAAAAOLo8AB/f38A5+bmA8zMzADAwP8Af39/AAAAAAAAAAAAAAAAAAAAAAAAAAAAIQAAABgAAAAUAAAAoCAAAIANAACbRwAAICUAABAAAAAmAAAACAAAAP//////////"/>
              </a:ext>
            </a:extLst>
          </p:cNvSpPr>
          <p:nvPr/>
        </p:nvSpPr>
        <p:spPr>
          <a:xfrm>
            <a:off x="5303520" y="2194560"/>
            <a:ext cx="6336665" cy="3840480"/>
          </a:xfrm>
          <a:prstGeom prst="roundRect">
            <a:avLst>
              <a:gd name="adj" fmla="val 16667"/>
            </a:avLst>
          </a:prstGeom>
          <a:solidFill>
            <a:srgbClr val="FFFFFF"/>
          </a:solidFill>
          <a:ln w="9525" cap="flat" cmpd="sng" algn="ctr">
            <a:solidFill>
              <a:srgbClr val="E2E8F0"/>
            </a:solidFill>
            <a:prstDash val="solid"/>
            <a:headEnd type="none"/>
            <a:tailEnd type="none"/>
          </a:ln>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p>
        </p:txBody>
      </p:sp>
      <p:sp>
        <p:nvSpPr>
          <p:cNvPr id="17" name="TextBox 16"/>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3///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4CIAAMAPAACgRAAAABIAABAgAAAmAAAACAAAAP//////////"/>
              </a:ext>
            </a:extLst>
          </p:cNvSpPr>
          <p:nvPr/>
        </p:nvSpPr>
        <p:spPr>
          <a:xfrm>
            <a:off x="5669280" y="2560320"/>
            <a:ext cx="5486400" cy="365760"/>
          </a:xfrm>
          <a:prstGeom prst="rect">
            <a:avLst/>
          </a:prstGeom>
          <a:noFill/>
          <a:ln>
            <a:noFill/>
          </a:ln>
          <a:effectLst/>
        </p:spPr>
        <p:txBody>
          <a:bodyPr vert="horz" wrap="square" lIns="0" tIns="0" rIns="0" bIns="0" numCol="1" spcCol="215900" anchor="t"/>
          <a:lstStyle/>
          <a:p>
            <a:pPr algn="l">
              <a:defRPr lang="en-us"/>
            </a:pPr>
            <a:r>
              <a:rPr lang="en-us" sz="1100" b="1" cap="none">
                <a:solidFill>
                  <a:srgbClr val="0D9373"/>
                </a:solidFill>
              </a:rPr>
              <a:t>EXEMPLES DE RÈGLES</a:t>
            </a:r>
            <a:endParaRPr lang="en-us" sz="1100" b="1" cap="none">
              <a:solidFill>
                <a:srgbClr val="0D9373"/>
              </a:solidFill>
            </a:endParaRPr>
          </a:p>
        </p:txBody>
      </p:sp>
      <p:sp>
        <p:nvSpPr>
          <p:cNvPr id="18" name="TextBox 17"/>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3///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4CIAAEgSAAAQKQAAiBQAABAgAAAmAAAACAAAAP//////////"/>
              </a:ext>
            </a:extLst>
          </p:cNvSpPr>
          <p:nvPr/>
        </p:nvSpPr>
        <p:spPr>
          <a:xfrm>
            <a:off x="5669280" y="2971800"/>
            <a:ext cx="1005840" cy="365760"/>
          </a:xfrm>
          <a:prstGeom prst="rect">
            <a:avLst/>
          </a:prstGeom>
          <a:noFill/>
          <a:ln>
            <a:noFill/>
          </a:ln>
          <a:effectLst/>
        </p:spPr>
        <p:txBody>
          <a:bodyPr vert="horz" wrap="square" lIns="0" tIns="0" rIns="0" bIns="0" numCol="1" spcCol="215900" anchor="t"/>
          <a:lstStyle/>
          <a:p>
            <a:pPr algn="l">
              <a:defRPr lang="en-us"/>
            </a:pPr>
            <a:r>
              <a:rPr lang="en-us" sz="1100" b="1" cap="none">
                <a:solidFill>
                  <a:srgbClr val="0F172A"/>
                </a:solidFill>
                <a:latin typeface="Consolas" pitchFamily="3" charset="0"/>
                <a:ea typeface="Calibri" pitchFamily="2" charset="0"/>
                <a:cs typeface="Calibri" pitchFamily="2" charset="0"/>
              </a:rPr>
              <a:t>MEM-001</a:t>
            </a:r>
            <a:endParaRPr lang="en-us" sz="1100" b="1" cap="none">
              <a:solidFill>
                <a:srgbClr val="0F172A"/>
              </a:solidFill>
              <a:latin typeface="Consolas" pitchFamily="3" charset="0"/>
              <a:ea typeface="Calibri" pitchFamily="2" charset="0"/>
              <a:cs typeface="Calibri" pitchFamily="2" charset="0"/>
            </a:endParaRPr>
          </a:p>
        </p:txBody>
      </p:sp>
      <p:sp>
        <p:nvSpPr>
          <p:cNvPr id="19" name="TextBox 18"/>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r///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WCkAAEgSAACILwAAiBQAABAgAAAmAAAACAAAAP//////////"/>
              </a:ext>
            </a:extLst>
          </p:cNvSpPr>
          <p:nvPr/>
        </p:nvSpPr>
        <p:spPr>
          <a:xfrm>
            <a:off x="6720840" y="2971800"/>
            <a:ext cx="1005840" cy="365760"/>
          </a:xfrm>
          <a:prstGeom prst="rect">
            <a:avLst/>
          </a:prstGeom>
          <a:noFill/>
          <a:ln>
            <a:noFill/>
          </a:ln>
          <a:effectLst/>
        </p:spPr>
        <p:txBody>
          <a:bodyPr vert="horz" wrap="square" lIns="0" tIns="0" rIns="0" bIns="0" numCol="1" spcCol="215900" anchor="t"/>
          <a:lstStyle/>
          <a:p>
            <a:pPr algn="l">
              <a:defRPr lang="en-us"/>
            </a:pPr>
            <a:r>
              <a:rPr lang="en-us" sz="1100" cap="none">
                <a:solidFill>
                  <a:srgbClr val="1A6B9A"/>
                </a:solidFill>
                <a:latin typeface="Consolas" pitchFamily="3" charset="0"/>
                <a:ea typeface="Calibri" pitchFamily="2" charset="0"/>
                <a:cs typeface="Calibri" pitchFamily="2" charset="0"/>
              </a:rPr>
              <a:t>CWE-121</a:t>
            </a:r>
            <a:endParaRPr lang="en-us" sz="1100" cap="none">
              <a:solidFill>
                <a:srgbClr val="1A6B9A"/>
              </a:solidFill>
              <a:latin typeface="Consolas" pitchFamily="3" charset="0"/>
              <a:ea typeface="Calibri" pitchFamily="2" charset="0"/>
              <a:cs typeface="Calibri" pitchFamily="2" charset="0"/>
            </a:endParaRPr>
          </a:p>
        </p:txBody>
      </p:sp>
      <p:sp>
        <p:nvSpPr>
          <p:cNvPr id="20" name="TextBox 19"/>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v///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0C8AAEgSAADQQQAAiBQAABAgAAAmAAAACAAAAP//////////"/>
              </a:ext>
            </a:extLst>
          </p:cNvSpPr>
          <p:nvPr/>
        </p:nvSpPr>
        <p:spPr>
          <a:xfrm>
            <a:off x="7772400" y="2971800"/>
            <a:ext cx="2926080" cy="365760"/>
          </a:xfrm>
          <a:prstGeom prst="rect">
            <a:avLst/>
          </a:prstGeom>
          <a:noFill/>
          <a:ln>
            <a:noFill/>
          </a:ln>
          <a:effectLst/>
        </p:spPr>
        <p:txBody>
          <a:bodyPr vert="horz" wrap="square" lIns="0" tIns="0" rIns="0" bIns="0" numCol="1" spcCol="215900" anchor="t"/>
          <a:lstStyle/>
          <a:p>
            <a:pPr algn="l">
              <a:defRPr lang="en-us"/>
            </a:pPr>
            <a:r>
              <a:rPr lang="en-us" sz="1100" cap="none">
                <a:solidFill>
                  <a:srgbClr val="475569"/>
                </a:solidFill>
              </a:rPr>
              <a:t>strcpy() — stack overflow</a:t>
            </a:r>
            <a:endParaRPr lang="en-us" sz="1100" cap="none">
              <a:solidFill>
                <a:srgbClr val="475569"/>
              </a:solidFill>
            </a:endParaRPr>
          </a:p>
        </p:txBody>
      </p:sp>
      <p:sp>
        <p:nvSpPr>
          <p:cNvPr id="21" name="Rounded Rectangle 20"/>
          <p:cNvSpPr>
            <a:extLst>
              <a:ext uri="smNativeData">
                <pr:smNativeData xmlns:pr="smNativeData" xmlns="smNativeData" val="SMDATA_15_ceEnahMAAAAlAAAAZQAAAA0AAAAAkAAAAEgAAACQAAAASAAAAAAAAAABAAAAAAAAAAEAAABQAAAAhbacS3FV1T8AAAAAAADwvwAAAAAAAOA/AAAAAAAA4D8AAAAAAADgPwAAAAAAAOA/AAAAAAAA4D8AAAAAAADgPwAAAAAAAOA/AAAAAAAA4D8CAAAAjAAAAAEAAAAAAAAA3CYmACxn1gAAAAAAAAAAAAAAAAAAAAAAAAAAAAAAAAAAAAAAZAAAAAEAAABAAAAAAAAAAJz///9aAAAAAAAAAAEAAABQAAAAMGjPAAAAAAAAAAAAAAAAAAAAAAAAAAAAAAAAAAAAAAAAAAAAAAAAAAAAAAAAAAAAAAAAAAAAAAAAAAAAFAAAADwAAAAAAAAAAAAAAEBtxAAP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Nr///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3CYmACxn1gAwaM8AAAAAAAAAAAAAAAAAAAAAAAAAAAAAAAAAAAAAAEBtxAB/f38A5+bmA8zMzADAwP8Af39/AAAAAAAAAAAAAAAAAAAAAAAAAAAAIQAAABgAAAAUAAAAYEIAAIISAAAoRwAAMhQAABAAAAAmAAAACAAAAP//////////"/>
              </a:ext>
            </a:extLst>
          </p:cNvSpPr>
          <p:nvPr/>
        </p:nvSpPr>
        <p:spPr>
          <a:xfrm>
            <a:off x="10789920" y="3008630"/>
            <a:ext cx="777240" cy="274320"/>
          </a:xfrm>
          <a:prstGeom prst="roundRect">
            <a:avLst>
              <a:gd name="adj" fmla="val 16667"/>
            </a:avLst>
          </a:prstGeom>
          <a:solidFill>
            <a:srgbClr val="DC2626"/>
          </a:solidFill>
          <a:ln>
            <a:noFill/>
          </a:ln>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p>
        </p:txBody>
      </p:sp>
      <p:sp>
        <p:nvSpPr>
          <p:cNvPr id="22" name="TextBox 21"/>
          <p:cNvSpPr>
            <a:extLst>
              <a:ext uri="smNativeData">
                <pr:smNativeData xmlns:pr="smNativeData" xmlns="smNativeData" val="SMDATA_15_ceEnahMAAAAlAAAAZAAAAE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3///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YEIAAIISAAAoRwAAMhQAABAgAAAmAAAACAAAAP//////////"/>
              </a:ext>
            </a:extLst>
          </p:cNvSpPr>
          <p:nvPr/>
        </p:nvSpPr>
        <p:spPr>
          <a:xfrm>
            <a:off x="10789920" y="3008630"/>
            <a:ext cx="777240" cy="274320"/>
          </a:xfrm>
          <a:prstGeom prst="rect">
            <a:avLst/>
          </a:prstGeom>
          <a:noFill/>
          <a:ln>
            <a:noFill/>
          </a:ln>
          <a:effectLst/>
        </p:spPr>
        <p:txBody>
          <a:bodyPr vert="horz" wrap="square" lIns="0" tIns="0" rIns="0" bIns="0" numCol="1" spcCol="215900" anchor="ctr"/>
          <a:lstStyle/>
          <a:p>
            <a:pPr algn="ctr">
              <a:defRPr lang="en-us"/>
            </a:pPr>
            <a:r>
              <a:rPr lang="en-us" sz="900" b="1" cap="none">
                <a:solidFill>
                  <a:srgbClr val="FFFFFF"/>
                </a:solidFill>
              </a:rPr>
              <a:t>Critical</a:t>
            </a:r>
            <a:endParaRPr lang="en-us" sz="900" b="1" cap="none">
              <a:solidFill>
                <a:srgbClr val="FFFFFF"/>
              </a:solidFill>
            </a:endParaRPr>
          </a:p>
        </p:txBody>
      </p:sp>
      <p:sp>
        <p:nvSpPr>
          <p:cNvPr id="23" name="TextBox 22"/>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I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4CIAABgVAAAQKQAAWBcAABAgAAAmAAAACAAAAP//////////"/>
              </a:ext>
            </a:extLst>
          </p:cNvSpPr>
          <p:nvPr/>
        </p:nvSpPr>
        <p:spPr>
          <a:xfrm>
            <a:off x="5669280" y="3429000"/>
            <a:ext cx="1005840" cy="365760"/>
          </a:xfrm>
          <a:prstGeom prst="rect">
            <a:avLst/>
          </a:prstGeom>
          <a:noFill/>
          <a:ln>
            <a:noFill/>
          </a:ln>
          <a:effectLst/>
        </p:spPr>
        <p:txBody>
          <a:bodyPr vert="horz" wrap="square" lIns="0" tIns="0" rIns="0" bIns="0" numCol="1" spcCol="215900" anchor="t"/>
          <a:lstStyle/>
          <a:p>
            <a:pPr algn="l">
              <a:defRPr lang="en-us"/>
            </a:pPr>
            <a:r>
              <a:rPr lang="en-us" sz="1100" b="1" cap="none">
                <a:solidFill>
                  <a:srgbClr val="0F172A"/>
                </a:solidFill>
                <a:latin typeface="Consolas" pitchFamily="3" charset="0"/>
                <a:ea typeface="Calibri" pitchFamily="2" charset="0"/>
                <a:cs typeface="Calibri" pitchFamily="2" charset="0"/>
              </a:rPr>
              <a:t>MEM-010</a:t>
            </a:r>
            <a:endParaRPr lang="en-us" sz="1100" b="1" cap="none">
              <a:solidFill>
                <a:srgbClr val="0F172A"/>
              </a:solidFill>
              <a:latin typeface="Consolas" pitchFamily="3" charset="0"/>
              <a:ea typeface="Calibri" pitchFamily="2" charset="0"/>
              <a:cs typeface="Calibri" pitchFamily="2" charset="0"/>
            </a:endParaRPr>
          </a:p>
        </p:txBody>
      </p:sp>
      <p:sp>
        <p:nvSpPr>
          <p:cNvPr id="24" name="TextBox 23"/>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n///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WCkAABgVAACILwAAWBcAABAgAAAmAAAACAAAAP//////////"/>
              </a:ext>
            </a:extLst>
          </p:cNvSpPr>
          <p:nvPr/>
        </p:nvSpPr>
        <p:spPr>
          <a:xfrm>
            <a:off x="6720840" y="3429000"/>
            <a:ext cx="1005840" cy="365760"/>
          </a:xfrm>
          <a:prstGeom prst="rect">
            <a:avLst/>
          </a:prstGeom>
          <a:noFill/>
          <a:ln>
            <a:noFill/>
          </a:ln>
          <a:effectLst/>
        </p:spPr>
        <p:txBody>
          <a:bodyPr vert="horz" wrap="square" lIns="0" tIns="0" rIns="0" bIns="0" numCol="1" spcCol="215900" anchor="t"/>
          <a:lstStyle/>
          <a:p>
            <a:pPr algn="l">
              <a:defRPr lang="en-us"/>
            </a:pPr>
            <a:r>
              <a:rPr lang="en-us" sz="1100" cap="none">
                <a:solidFill>
                  <a:srgbClr val="1A6B9A"/>
                </a:solidFill>
                <a:latin typeface="Consolas" pitchFamily="3" charset="0"/>
                <a:ea typeface="Calibri" pitchFamily="2" charset="0"/>
                <a:cs typeface="Calibri" pitchFamily="2" charset="0"/>
              </a:rPr>
              <a:t>CWE-416</a:t>
            </a:r>
            <a:endParaRPr lang="en-us" sz="1100" cap="none">
              <a:solidFill>
                <a:srgbClr val="1A6B9A"/>
              </a:solidFill>
              <a:latin typeface="Consolas" pitchFamily="3" charset="0"/>
              <a:ea typeface="Calibri" pitchFamily="2" charset="0"/>
              <a:cs typeface="Calibri" pitchFamily="2" charset="0"/>
            </a:endParaRPr>
          </a:p>
        </p:txBody>
      </p:sp>
      <p:sp>
        <p:nvSpPr>
          <p:cNvPr id="25" name="TextBox 24"/>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n///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0C8AABgVAADQQQAAWBcAABAgAAAmAAAACAAAAP//////////"/>
              </a:ext>
            </a:extLst>
          </p:cNvSpPr>
          <p:nvPr/>
        </p:nvSpPr>
        <p:spPr>
          <a:xfrm>
            <a:off x="7772400" y="3429000"/>
            <a:ext cx="2926080" cy="365760"/>
          </a:xfrm>
          <a:prstGeom prst="rect">
            <a:avLst/>
          </a:prstGeom>
          <a:noFill/>
          <a:ln>
            <a:noFill/>
          </a:ln>
          <a:effectLst/>
        </p:spPr>
        <p:txBody>
          <a:bodyPr vert="horz" wrap="square" lIns="0" tIns="0" rIns="0" bIns="0" numCol="1" spcCol="215900" anchor="t"/>
          <a:lstStyle/>
          <a:p>
            <a:pPr algn="l">
              <a:defRPr lang="en-us"/>
            </a:pPr>
            <a:r>
              <a:rPr lang="en-us" sz="1100" cap="none">
                <a:solidFill>
                  <a:srgbClr val="475569"/>
                </a:solidFill>
              </a:rPr>
              <a:t>use-after-free</a:t>
            </a:r>
            <a:endParaRPr lang="en-us" sz="1100" cap="none">
              <a:solidFill>
                <a:srgbClr val="475569"/>
              </a:solidFill>
            </a:endParaRPr>
          </a:p>
        </p:txBody>
      </p:sp>
      <p:sp>
        <p:nvSpPr>
          <p:cNvPr id="26" name="Rounded Rectangle 25"/>
          <p:cNvSpPr>
            <a:extLst>
              <a:ext uri="smNativeData">
                <pr:smNativeData xmlns:pr="smNativeData" xmlns="smNativeData" val="SMDATA_15_ceEnahMAAAAlAAAAZQAAAA0AAAAAkAAAAEgAAACQAAAASAAAAAAAAAABAAAAAAAAAAEAAABQAAAAhbacS3FV1T8AAAAAAADwvwAAAAAAAOA/AAAAAAAA4D8AAAAAAADgPwAAAAAAAOA/AAAAAAAA4D8AAAAAAADgPwAAAAAAAOA/AAAAAAAA4D8CAAAAjAAAAAEAAAAAAAAA3CYmACxn1gAAAAAAAAAAAAAAAAAAAAAAAAAAAAAAAAAAAAAAZAAAAAEAAABAAAAAAAAAAJz///9aAAAAAAAAAAEAAABQAAAAMGjPAAAAAAAAAAAAAAAAAAAAAAAAAAAAAAAAAAAAAAAAAAAAAAAAAAAAAAAAAAAAAAAAAAAAAAAAAAAAFAAAADwAAAAAAAAAAAAAAEBtxAAP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3///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3CYmACxn1gAwaM8AAAAAAAAAAAAAAAAAAAAAAAAAAAAAAAAAAAAAAEBtxAB/f38A5+bmA8zMzADAwP8Af39/AAAAAAAAAAAAAAAAAAAAAAAAAAAAIQAAABgAAAAUAAAAYEIAAFIVAAAoRwAAAhcAABAAAAAmAAAACAAAAP//////////"/>
              </a:ext>
            </a:extLst>
          </p:cNvSpPr>
          <p:nvPr/>
        </p:nvSpPr>
        <p:spPr>
          <a:xfrm>
            <a:off x="10789920" y="3465830"/>
            <a:ext cx="777240" cy="274320"/>
          </a:xfrm>
          <a:prstGeom prst="roundRect">
            <a:avLst>
              <a:gd name="adj" fmla="val 16667"/>
            </a:avLst>
          </a:prstGeom>
          <a:solidFill>
            <a:srgbClr val="DC2626"/>
          </a:solidFill>
          <a:ln>
            <a:noFill/>
          </a:ln>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p>
        </p:txBody>
      </p:sp>
      <p:sp>
        <p:nvSpPr>
          <p:cNvPr id="27" name="TextBox 26"/>
          <p:cNvSpPr>
            <a:extLst>
              <a:ext uri="smNativeData">
                <pr:smNativeData xmlns:pr="smNativeData" xmlns="smNativeData" val="SMDATA_15_ceEnahMAAAAlAAAAZAAAAE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7///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YEIAAFIVAAAoRwAAAhcAABAgAAAmAAAACAAAAP//////////"/>
              </a:ext>
            </a:extLst>
          </p:cNvSpPr>
          <p:nvPr/>
        </p:nvSpPr>
        <p:spPr>
          <a:xfrm>
            <a:off x="10789920" y="3465830"/>
            <a:ext cx="777240" cy="274320"/>
          </a:xfrm>
          <a:prstGeom prst="rect">
            <a:avLst/>
          </a:prstGeom>
          <a:noFill/>
          <a:ln>
            <a:noFill/>
          </a:ln>
          <a:effectLst/>
        </p:spPr>
        <p:txBody>
          <a:bodyPr vert="horz" wrap="square" lIns="0" tIns="0" rIns="0" bIns="0" numCol="1" spcCol="215900" anchor="ctr"/>
          <a:lstStyle/>
          <a:p>
            <a:pPr algn="ctr">
              <a:defRPr lang="en-us"/>
            </a:pPr>
            <a:r>
              <a:rPr lang="en-us" sz="900" b="1" cap="none">
                <a:solidFill>
                  <a:srgbClr val="FFFFFF"/>
                </a:solidFill>
              </a:rPr>
              <a:t>Critical</a:t>
            </a:r>
            <a:endParaRPr lang="en-us" sz="900" b="1" cap="none">
              <a:solidFill>
                <a:srgbClr val="FFFFFF"/>
              </a:solidFill>
            </a:endParaRPr>
          </a:p>
        </p:txBody>
      </p:sp>
      <p:sp>
        <p:nvSpPr>
          <p:cNvPr id="28" name="TextBox 27"/>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j///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4CIAAOgXAAAQKQAAKBoAABAgAAAmAAAACAAAAP//////////"/>
              </a:ext>
            </a:extLst>
          </p:cNvSpPr>
          <p:nvPr/>
        </p:nvSpPr>
        <p:spPr>
          <a:xfrm>
            <a:off x="5669280" y="3886200"/>
            <a:ext cx="1005840" cy="365760"/>
          </a:xfrm>
          <a:prstGeom prst="rect">
            <a:avLst/>
          </a:prstGeom>
          <a:noFill/>
          <a:ln>
            <a:noFill/>
          </a:ln>
          <a:effectLst/>
        </p:spPr>
        <p:txBody>
          <a:bodyPr vert="horz" wrap="square" lIns="0" tIns="0" rIns="0" bIns="0" numCol="1" spcCol="215900" anchor="t"/>
          <a:lstStyle/>
          <a:p>
            <a:pPr algn="l">
              <a:defRPr lang="en-us"/>
            </a:pPr>
            <a:r>
              <a:rPr lang="en-us" sz="1100" b="1" cap="none">
                <a:solidFill>
                  <a:srgbClr val="0F172A"/>
                </a:solidFill>
                <a:latin typeface="Consolas" pitchFamily="3" charset="0"/>
                <a:ea typeface="Calibri" pitchFamily="2" charset="0"/>
                <a:cs typeface="Calibri" pitchFamily="2" charset="0"/>
              </a:rPr>
              <a:t>MEM-050</a:t>
            </a:r>
            <a:endParaRPr lang="en-us" sz="1100" b="1" cap="none">
              <a:solidFill>
                <a:srgbClr val="0F172A"/>
              </a:solidFill>
              <a:latin typeface="Consolas" pitchFamily="3" charset="0"/>
              <a:ea typeface="Calibri" pitchFamily="2" charset="0"/>
              <a:cs typeface="Calibri" pitchFamily="2" charset="0"/>
            </a:endParaRPr>
          </a:p>
        </p:txBody>
      </p:sp>
      <p:sp>
        <p:nvSpPr>
          <p:cNvPr id="29" name="TextBox 28"/>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WCkAAOgXAACILwAAKBoAABAgAAAmAAAACAAAAP//////////"/>
              </a:ext>
            </a:extLst>
          </p:cNvSpPr>
          <p:nvPr/>
        </p:nvSpPr>
        <p:spPr>
          <a:xfrm>
            <a:off x="6720840" y="3886200"/>
            <a:ext cx="1005840" cy="365760"/>
          </a:xfrm>
          <a:prstGeom prst="rect">
            <a:avLst/>
          </a:prstGeom>
          <a:noFill/>
          <a:ln>
            <a:noFill/>
          </a:ln>
          <a:effectLst/>
        </p:spPr>
        <p:txBody>
          <a:bodyPr vert="horz" wrap="square" lIns="0" tIns="0" rIns="0" bIns="0" numCol="1" spcCol="215900" anchor="t"/>
          <a:lstStyle/>
          <a:p>
            <a:pPr algn="l">
              <a:defRPr lang="en-us"/>
            </a:pPr>
            <a:r>
              <a:rPr lang="en-us" sz="1100" cap="none">
                <a:solidFill>
                  <a:srgbClr val="1A6B9A"/>
                </a:solidFill>
                <a:latin typeface="Consolas" pitchFamily="3" charset="0"/>
                <a:ea typeface="Calibri" pitchFamily="2" charset="0"/>
                <a:cs typeface="Calibri" pitchFamily="2" charset="0"/>
              </a:rPr>
              <a:t>CWE-134</a:t>
            </a:r>
            <a:endParaRPr lang="en-us" sz="1100" cap="none">
              <a:solidFill>
                <a:srgbClr val="1A6B9A"/>
              </a:solidFill>
              <a:latin typeface="Consolas" pitchFamily="3" charset="0"/>
              <a:ea typeface="Calibri" pitchFamily="2" charset="0"/>
              <a:cs typeface="Calibri" pitchFamily="2" charset="0"/>
            </a:endParaRPr>
          </a:p>
        </p:txBody>
      </p:sp>
      <p:sp>
        <p:nvSpPr>
          <p:cNvPr id="30" name="TextBox 29"/>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3///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0C8AAOgXAADQQQAAKBoAABAgAAAmAAAACAAAAP//////////"/>
              </a:ext>
            </a:extLst>
          </p:cNvSpPr>
          <p:nvPr/>
        </p:nvSpPr>
        <p:spPr>
          <a:xfrm>
            <a:off x="7772400" y="3886200"/>
            <a:ext cx="2926080" cy="365760"/>
          </a:xfrm>
          <a:prstGeom prst="rect">
            <a:avLst/>
          </a:prstGeom>
          <a:noFill/>
          <a:ln>
            <a:noFill/>
          </a:ln>
          <a:effectLst/>
        </p:spPr>
        <p:txBody>
          <a:bodyPr vert="horz" wrap="square" lIns="0" tIns="0" rIns="0" bIns="0" numCol="1" spcCol="215900" anchor="t"/>
          <a:lstStyle/>
          <a:p>
            <a:pPr algn="l">
              <a:defRPr lang="en-us"/>
            </a:pPr>
            <a:r>
              <a:rPr lang="en-us" sz="1100" cap="none">
                <a:solidFill>
                  <a:srgbClr val="475569"/>
                </a:solidFill>
              </a:rPr>
              <a:t>format string non contrôlée</a:t>
            </a:r>
            <a:endParaRPr lang="en-us" sz="1100" cap="none">
              <a:solidFill>
                <a:srgbClr val="475569"/>
              </a:solidFill>
            </a:endParaRPr>
          </a:p>
        </p:txBody>
      </p:sp>
      <p:sp>
        <p:nvSpPr>
          <p:cNvPr id="31" name="Rounded Rectangle 30"/>
          <p:cNvSpPr>
            <a:extLst>
              <a:ext uri="smNativeData">
                <pr:smNativeData xmlns:pr="smNativeData" xmlns="smNativeData" val="SMDATA_15_ceEnahMAAAAlAAAAZQAAAA0AAAAAkAAAAEgAAACQAAAASAAAAAAAAAABAAAAAAAAAAEAAABQAAAAhbacS3FV1T8AAAAAAADwvwAAAAAAAOA/AAAAAAAA4D8AAAAAAADgPwAAAAAAAOA/AAAAAAAA4D8AAAAAAADgPwAAAAAAAOA/AAAAAAAA4D8CAAAAjAAAAAEAAAAAAAAA3CYmACxn1gAAAAAAAAAAAAAAAAAAAAAAAAAAAAAAAAAAAAAAZAAAAAEAAABAAAAAAAAAAJz///9aAAAAAAAAAAEAAABQAAAAMGjPAAAAAAAAAAAAAAAAAAAAAAAAAAAAAAAAAAAAAAAAAAAAAAAAAAAAAAAAAAAAAAAAAAAAAAAAAAAAFAAAADwAAAAAAAAAAAAAAEBtxAAP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f///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3CYmACxn1gAwaM8AAAAAAAAAAAAAAAAAAAAAAAAAAAAAAAAAAAAAAEBtxAB/f38A5+bmA8zMzADAwP8Af39/AAAAAAAAAAAAAAAAAAAAAAAAAAAAIQAAABgAAAAUAAAAYEIAACIYAAAoRwAA0hkAABAAAAAmAAAACAAAAP//////////"/>
              </a:ext>
            </a:extLst>
          </p:cNvSpPr>
          <p:nvPr/>
        </p:nvSpPr>
        <p:spPr>
          <a:xfrm>
            <a:off x="10789920" y="3923030"/>
            <a:ext cx="777240" cy="274320"/>
          </a:xfrm>
          <a:prstGeom prst="roundRect">
            <a:avLst>
              <a:gd name="adj" fmla="val 16667"/>
            </a:avLst>
          </a:prstGeom>
          <a:solidFill>
            <a:srgbClr val="DC2626"/>
          </a:solidFill>
          <a:ln>
            <a:noFill/>
          </a:ln>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p>
        </p:txBody>
      </p:sp>
      <p:sp>
        <p:nvSpPr>
          <p:cNvPr id="32" name="TextBox 31"/>
          <p:cNvSpPr>
            <a:extLst>
              <a:ext uri="smNativeData">
                <pr:smNativeData xmlns:pr="smNativeData" xmlns="smNativeData" val="SMDATA_15_ceEnahMAAAAlAAAAZAAAAE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z///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YEIAACIYAAAoRwAA0hkAABAgAAAmAAAACAAAAP//////////"/>
              </a:ext>
            </a:extLst>
          </p:cNvSpPr>
          <p:nvPr/>
        </p:nvSpPr>
        <p:spPr>
          <a:xfrm>
            <a:off x="10789920" y="3923030"/>
            <a:ext cx="777240" cy="274320"/>
          </a:xfrm>
          <a:prstGeom prst="rect">
            <a:avLst/>
          </a:prstGeom>
          <a:noFill/>
          <a:ln>
            <a:noFill/>
          </a:ln>
          <a:effectLst/>
        </p:spPr>
        <p:txBody>
          <a:bodyPr vert="horz" wrap="square" lIns="0" tIns="0" rIns="0" bIns="0" numCol="1" spcCol="215900" anchor="ctr"/>
          <a:lstStyle/>
          <a:p>
            <a:pPr algn="ctr">
              <a:defRPr lang="en-us"/>
            </a:pPr>
            <a:r>
              <a:rPr lang="en-us" sz="900" b="1" cap="none">
                <a:solidFill>
                  <a:srgbClr val="FFFFFF"/>
                </a:solidFill>
              </a:rPr>
              <a:t>Critical</a:t>
            </a:r>
            <a:endParaRPr lang="en-us" sz="900" b="1" cap="none">
              <a:solidFill>
                <a:srgbClr val="FFFFFF"/>
              </a:solidFill>
            </a:endParaRPr>
          </a:p>
        </p:txBody>
      </p:sp>
      <p:sp>
        <p:nvSpPr>
          <p:cNvPr id="33" name="TextBox 32"/>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r///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4CIAALgaAAAQKQAA+BwAABAgAAAmAAAACAAAAP//////////"/>
              </a:ext>
            </a:extLst>
          </p:cNvSpPr>
          <p:nvPr/>
        </p:nvSpPr>
        <p:spPr>
          <a:xfrm>
            <a:off x="5669280" y="4343400"/>
            <a:ext cx="1005840" cy="365760"/>
          </a:xfrm>
          <a:prstGeom prst="rect">
            <a:avLst/>
          </a:prstGeom>
          <a:noFill/>
          <a:ln>
            <a:noFill/>
          </a:ln>
          <a:effectLst/>
        </p:spPr>
        <p:txBody>
          <a:bodyPr vert="horz" wrap="square" lIns="0" tIns="0" rIns="0" bIns="0" numCol="1" spcCol="215900" anchor="t"/>
          <a:lstStyle/>
          <a:p>
            <a:pPr algn="l">
              <a:defRPr lang="en-us"/>
            </a:pPr>
            <a:r>
              <a:rPr lang="en-us" sz="1100" b="1" cap="none">
                <a:solidFill>
                  <a:srgbClr val="0F172A"/>
                </a:solidFill>
                <a:latin typeface="Consolas" pitchFamily="3" charset="0"/>
                <a:ea typeface="Calibri" pitchFamily="2" charset="0"/>
                <a:cs typeface="Calibri" pitchFamily="2" charset="0"/>
              </a:rPr>
              <a:t>MEM-040</a:t>
            </a:r>
            <a:endParaRPr lang="en-us" sz="1100" b="1" cap="none">
              <a:solidFill>
                <a:srgbClr val="0F172A"/>
              </a:solidFill>
              <a:latin typeface="Consolas" pitchFamily="3" charset="0"/>
              <a:ea typeface="Calibri" pitchFamily="2" charset="0"/>
              <a:cs typeface="Calibri" pitchFamily="2" charset="0"/>
            </a:endParaRPr>
          </a:p>
        </p:txBody>
      </p:sp>
      <p:sp>
        <p:nvSpPr>
          <p:cNvPr id="34" name="TextBox 33"/>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z///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WCkAALgaAACILwAA+BwAABAgAAAmAAAACAAAAP//////////"/>
              </a:ext>
            </a:extLst>
          </p:cNvSpPr>
          <p:nvPr/>
        </p:nvSpPr>
        <p:spPr>
          <a:xfrm>
            <a:off x="6720840" y="4343400"/>
            <a:ext cx="1005840" cy="365760"/>
          </a:xfrm>
          <a:prstGeom prst="rect">
            <a:avLst/>
          </a:prstGeom>
          <a:noFill/>
          <a:ln>
            <a:noFill/>
          </a:ln>
          <a:effectLst/>
        </p:spPr>
        <p:txBody>
          <a:bodyPr vert="horz" wrap="square" lIns="0" tIns="0" rIns="0" bIns="0" numCol="1" spcCol="215900" anchor="t"/>
          <a:lstStyle/>
          <a:p>
            <a:pPr algn="l">
              <a:defRPr lang="en-us"/>
            </a:pPr>
            <a:r>
              <a:rPr lang="en-us" sz="1100" cap="none">
                <a:solidFill>
                  <a:srgbClr val="1A6B9A"/>
                </a:solidFill>
                <a:latin typeface="Consolas" pitchFamily="3" charset="0"/>
                <a:ea typeface="Calibri" pitchFamily="2" charset="0"/>
                <a:cs typeface="Calibri" pitchFamily="2" charset="0"/>
              </a:rPr>
              <a:t>CWE-190</a:t>
            </a:r>
            <a:endParaRPr lang="en-us" sz="1100" cap="none">
              <a:solidFill>
                <a:srgbClr val="1A6B9A"/>
              </a:solidFill>
              <a:latin typeface="Consolas" pitchFamily="3" charset="0"/>
              <a:ea typeface="Calibri" pitchFamily="2" charset="0"/>
              <a:cs typeface="Calibri" pitchFamily="2" charset="0"/>
            </a:endParaRPr>
          </a:p>
        </p:txBody>
      </p:sp>
      <p:sp>
        <p:nvSpPr>
          <p:cNvPr id="35" name="TextBox 34"/>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r///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0C8AALgaAADQQQAA+BwAABAgAAAmAAAACAAAAP//////////"/>
              </a:ext>
            </a:extLst>
          </p:cNvSpPr>
          <p:nvPr/>
        </p:nvSpPr>
        <p:spPr>
          <a:xfrm>
            <a:off x="7772400" y="4343400"/>
            <a:ext cx="2926080" cy="365760"/>
          </a:xfrm>
          <a:prstGeom prst="rect">
            <a:avLst/>
          </a:prstGeom>
          <a:noFill/>
          <a:ln>
            <a:noFill/>
          </a:ln>
          <a:effectLst/>
        </p:spPr>
        <p:txBody>
          <a:bodyPr vert="horz" wrap="square" lIns="0" tIns="0" rIns="0" bIns="0" numCol="1" spcCol="215900" anchor="t"/>
          <a:lstStyle/>
          <a:p>
            <a:pPr algn="l">
              <a:defRPr lang="en-us"/>
            </a:pPr>
            <a:r>
              <a:rPr lang="en-us" sz="1100" cap="none">
                <a:solidFill>
                  <a:srgbClr val="475569"/>
                </a:solidFill>
              </a:rPr>
              <a:t>integer overflow dans malloc(n*m)</a:t>
            </a:r>
            <a:endParaRPr lang="en-us" sz="1100" cap="none">
              <a:solidFill>
                <a:srgbClr val="475569"/>
              </a:solidFill>
            </a:endParaRPr>
          </a:p>
        </p:txBody>
      </p:sp>
      <p:sp>
        <p:nvSpPr>
          <p:cNvPr id="36" name="Rounded Rectangle 35"/>
          <p:cNvSpPr>
            <a:extLst>
              <a:ext uri="smNativeData">
                <pr:smNativeData xmlns:pr="smNativeData" xmlns="smNativeData" val="SMDATA_15_ceEnahMAAAAlAAAAZQAAAA0AAAAAkAAAAEgAAACQAAAASAAAAAAAAAABAAAAAAAAAAEAAABQAAAAhbacS3FV1T8AAAAAAADwvwAAAAAAAOA/AAAAAAAA4D8AAAAAAADgPwAAAAAAAOA/AAAAAAAA4D8AAAAAAADgPwAAAAAAAOA/AAAAAAAA4D8CAAAAjAAAAAEAAAAAAAAAtFMJACxn1gAAAAAAAAAAAAAAAAAAAAAAAAAAAAAAAAAAAAAAZAAAAAEAAABAAAAAAAAAAJz///9aAAAAAAAAAAEAAABQAAAAMGjPAAAAAAAAAAAAAAAAAAAAAAAAAAAAAAAAAAAAAAAAAAAAAAAAAAAAAAAAAAAAAAAAAAAAAAAAAAAAFAAAADwAAAAAAAAAAAAAAEBtxAAP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z///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FMJACxn1gAwaM8AAAAAAAAAAAAAAAAAAAAAAAAAAAAAAAAAAAAAAEBtxAB/f38A5+bmA8zMzADAwP8Af39/AAAAAAAAAAAAAAAAAAAAAAAAAAAAIQAAABgAAAAUAAAAYEIAAPIaAAAoRwAAohwAABAAAAAmAAAACAAAAP//////////"/>
              </a:ext>
            </a:extLst>
          </p:cNvSpPr>
          <p:nvPr/>
        </p:nvSpPr>
        <p:spPr>
          <a:xfrm>
            <a:off x="10789920" y="4380230"/>
            <a:ext cx="777240" cy="274320"/>
          </a:xfrm>
          <a:prstGeom prst="roundRect">
            <a:avLst>
              <a:gd name="adj" fmla="val 16667"/>
            </a:avLst>
          </a:prstGeom>
          <a:solidFill>
            <a:srgbClr val="B45309"/>
          </a:solidFill>
          <a:ln>
            <a:noFill/>
          </a:ln>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p>
        </p:txBody>
      </p:sp>
      <p:sp>
        <p:nvSpPr>
          <p:cNvPr id="37" name="TextBox 36"/>
          <p:cNvSpPr>
            <a:extLst>
              <a:ext uri="smNativeData">
                <pr:smNativeData xmlns:pr="smNativeData" xmlns="smNativeData" val="SMDATA_15_ceEnahMAAAAlAAAAZAAAAE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z///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YEIAAPIaAAAoRwAAohwAABAgAAAmAAAACAAAAP//////////"/>
              </a:ext>
            </a:extLst>
          </p:cNvSpPr>
          <p:nvPr/>
        </p:nvSpPr>
        <p:spPr>
          <a:xfrm>
            <a:off x="10789920" y="4380230"/>
            <a:ext cx="777240" cy="274320"/>
          </a:xfrm>
          <a:prstGeom prst="rect">
            <a:avLst/>
          </a:prstGeom>
          <a:noFill/>
          <a:ln>
            <a:noFill/>
          </a:ln>
          <a:effectLst/>
        </p:spPr>
        <p:txBody>
          <a:bodyPr vert="horz" wrap="square" lIns="0" tIns="0" rIns="0" bIns="0" numCol="1" spcCol="215900" anchor="ctr"/>
          <a:lstStyle/>
          <a:p>
            <a:pPr algn="ctr">
              <a:defRPr lang="en-us"/>
            </a:pPr>
            <a:r>
              <a:rPr lang="en-us" sz="900" b="1" cap="none">
                <a:solidFill>
                  <a:srgbClr val="FFFFFF"/>
                </a:solidFill>
              </a:rPr>
              <a:t>High</a:t>
            </a:r>
            <a:endParaRPr lang="en-us" sz="900" b="1" cap="none">
              <a:solidFill>
                <a:srgbClr val="FFFFFF"/>
              </a:solidFill>
            </a:endParaRPr>
          </a:p>
        </p:txBody>
      </p:sp>
      <p:sp>
        <p:nvSpPr>
          <p:cNvPr id="38" name="TextBox 37"/>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z///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4CIAAIgdAAAQKQAAyB8AABAgAAAmAAAACAAAAP//////////"/>
              </a:ext>
            </a:extLst>
          </p:cNvSpPr>
          <p:nvPr/>
        </p:nvSpPr>
        <p:spPr>
          <a:xfrm>
            <a:off x="5669280" y="4800600"/>
            <a:ext cx="1005840" cy="365760"/>
          </a:xfrm>
          <a:prstGeom prst="rect">
            <a:avLst/>
          </a:prstGeom>
          <a:noFill/>
          <a:ln>
            <a:noFill/>
          </a:ln>
          <a:effectLst/>
        </p:spPr>
        <p:txBody>
          <a:bodyPr vert="horz" wrap="square" lIns="0" tIns="0" rIns="0" bIns="0" numCol="1" spcCol="215900" anchor="t"/>
          <a:lstStyle/>
          <a:p>
            <a:pPr algn="l">
              <a:defRPr lang="en-us"/>
            </a:pPr>
            <a:r>
              <a:rPr lang="en-us" sz="1100" b="1" cap="none">
                <a:solidFill>
                  <a:srgbClr val="0F172A"/>
                </a:solidFill>
                <a:latin typeface="Consolas" pitchFamily="3" charset="0"/>
                <a:ea typeface="Calibri" pitchFamily="2" charset="0"/>
                <a:cs typeface="Calibri" pitchFamily="2" charset="0"/>
              </a:rPr>
              <a:t>MEM-070</a:t>
            </a:r>
            <a:endParaRPr lang="en-us" sz="1100" b="1" cap="none">
              <a:solidFill>
                <a:srgbClr val="0F172A"/>
              </a:solidFill>
              <a:latin typeface="Consolas" pitchFamily="3" charset="0"/>
              <a:ea typeface="Calibri" pitchFamily="2" charset="0"/>
              <a:cs typeface="Calibri" pitchFamily="2" charset="0"/>
            </a:endParaRPr>
          </a:p>
        </p:txBody>
      </p:sp>
      <p:sp>
        <p:nvSpPr>
          <p:cNvPr id="39" name="TextBox 38"/>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BPyAH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WCkAAIgdAACILwAAyB8AABAgAAAmAAAACAAAAP//////////"/>
              </a:ext>
            </a:extLst>
          </p:cNvSpPr>
          <p:nvPr/>
        </p:nvSpPr>
        <p:spPr>
          <a:xfrm>
            <a:off x="6720840" y="4800600"/>
            <a:ext cx="1005840" cy="365760"/>
          </a:xfrm>
          <a:prstGeom prst="rect">
            <a:avLst/>
          </a:prstGeom>
          <a:noFill/>
          <a:ln>
            <a:noFill/>
          </a:ln>
          <a:effectLst/>
        </p:spPr>
        <p:txBody>
          <a:bodyPr vert="horz" wrap="square" lIns="0" tIns="0" rIns="0" bIns="0" numCol="1" spcCol="215900" anchor="t"/>
          <a:lstStyle/>
          <a:p>
            <a:pPr algn="l">
              <a:defRPr lang="en-us"/>
            </a:pPr>
            <a:r>
              <a:rPr lang="en-us" sz="1100" cap="none">
                <a:solidFill>
                  <a:srgbClr val="1A6B9A"/>
                </a:solidFill>
                <a:latin typeface="Consolas" pitchFamily="3" charset="0"/>
                <a:ea typeface="Calibri" pitchFamily="2" charset="0"/>
                <a:cs typeface="Calibri" pitchFamily="2" charset="0"/>
              </a:rPr>
              <a:t>CWE-119</a:t>
            </a:r>
            <a:endParaRPr lang="en-us" sz="1100" cap="none">
              <a:solidFill>
                <a:srgbClr val="1A6B9A"/>
              </a:solidFill>
              <a:latin typeface="Consolas" pitchFamily="3" charset="0"/>
              <a:ea typeface="Calibri" pitchFamily="2" charset="0"/>
              <a:cs typeface="Calibri" pitchFamily="2" charset="0"/>
            </a:endParaRPr>
          </a:p>
        </p:txBody>
      </p:sp>
      <p:sp>
        <p:nvSpPr>
          <p:cNvPr id="40" name="TextBox 39"/>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BAMI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0C8AAIgdAADQQQAAyB8AABAgAAAmAAAACAAAAP//////////"/>
              </a:ext>
            </a:extLst>
          </p:cNvSpPr>
          <p:nvPr/>
        </p:nvSpPr>
        <p:spPr>
          <a:xfrm>
            <a:off x="7772400" y="4800600"/>
            <a:ext cx="2926080" cy="365760"/>
          </a:xfrm>
          <a:prstGeom prst="rect">
            <a:avLst/>
          </a:prstGeom>
          <a:noFill/>
          <a:ln>
            <a:noFill/>
          </a:ln>
          <a:effectLst/>
        </p:spPr>
        <p:txBody>
          <a:bodyPr vert="horz" wrap="square" lIns="0" tIns="0" rIns="0" bIns="0" numCol="1" spcCol="215900" anchor="t"/>
          <a:lstStyle/>
          <a:p>
            <a:pPr algn="l">
              <a:defRPr lang="en-us"/>
            </a:pPr>
            <a:r>
              <a:rPr lang="en-us" sz="1100" cap="none">
                <a:solidFill>
                  <a:srgbClr val="475569"/>
                </a:solidFill>
              </a:rPr>
              <a:t>unsafe {} block (Rust)</a:t>
            </a:r>
            <a:endParaRPr lang="en-us" sz="1100" cap="none">
              <a:solidFill>
                <a:srgbClr val="475569"/>
              </a:solidFill>
            </a:endParaRPr>
          </a:p>
        </p:txBody>
      </p:sp>
      <p:sp>
        <p:nvSpPr>
          <p:cNvPr id="41" name="Rounded Rectangle 40"/>
          <p:cNvSpPr>
            <a:extLst>
              <a:ext uri="smNativeData">
                <pr:smNativeData xmlns:pr="smNativeData" xmlns="smNativeData" val="SMDATA_15_ceEnahMAAAAlAAAAZQAAAA0AAAAAkAAAAEgAAACQAAAASAAAAAAAAAABAAAAAAAAAAEAAABQAAAAhbacS3FV1T8AAAAAAADwvwAAAAAAAOA/AAAAAAAA4D8AAAAAAADgPwAAAAAAAOA/AAAAAAAA4D8AAAAAAADgPwAAAAAAAOA/AAAAAAAA4D8CAAAAjAAAAAEAAAAAAAAAtFMJACxn1gAAAAAAAAAAAAAAAAAAAAAAAAAAAAAAAAAAAAAAZAAAAAEAAABAAAAAAAAAAJz///9aAAAAAAAAAAEAAABQAAAAMGjPAAAAAAAAAAAAAAAAAAAAAAAAAAAAAAAAAAAAAAAAAAAAAAAAAAAAAAAAAAAAAAAAAAAAAAAAAAAAFAAAADwAAAAAAAAAAAAAAEBtxAAP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CABM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FMJACxn1gAwaM8AAAAAAAAAAAAAAAAAAAAAAAAAAAAAAAAAAAAAAEBtxAB/f38A5+bmA8zMzADAwP8Af39/AAAAAAAAAAAAAAAAAAAAAAAAAAAAIQAAABgAAAAUAAAAYEIAAMIdAAAoRwAAch8AABAAAAAmAAAACAAAAP//////////"/>
              </a:ext>
            </a:extLst>
          </p:cNvSpPr>
          <p:nvPr/>
        </p:nvSpPr>
        <p:spPr>
          <a:xfrm>
            <a:off x="10789920" y="4837430"/>
            <a:ext cx="777240" cy="274320"/>
          </a:xfrm>
          <a:prstGeom prst="roundRect">
            <a:avLst>
              <a:gd name="adj" fmla="val 16667"/>
            </a:avLst>
          </a:prstGeom>
          <a:solidFill>
            <a:srgbClr val="B45309"/>
          </a:solidFill>
          <a:ln>
            <a:noFill/>
          </a:ln>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p>
        </p:txBody>
      </p:sp>
      <p:sp>
        <p:nvSpPr>
          <p:cNvPr id="42" name="TextBox 41"/>
          <p:cNvSpPr>
            <a:extLst>
              <a:ext uri="smNativeData">
                <pr:smNativeData xmlns:pr="smNativeData" xmlns="smNativeData" val="SMDATA_15_ceEnahMAAAAlAAAAZAAAAE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BJHEkg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YEIAAMIdAAAoRwAAch8AABAgAAAmAAAACAAAAP//////////"/>
              </a:ext>
            </a:extLst>
          </p:cNvSpPr>
          <p:nvPr/>
        </p:nvSpPr>
        <p:spPr>
          <a:xfrm>
            <a:off x="10789920" y="4837430"/>
            <a:ext cx="777240" cy="274320"/>
          </a:xfrm>
          <a:prstGeom prst="rect">
            <a:avLst/>
          </a:prstGeom>
          <a:noFill/>
          <a:ln>
            <a:noFill/>
          </a:ln>
          <a:effectLst/>
        </p:spPr>
        <p:txBody>
          <a:bodyPr vert="horz" wrap="square" lIns="0" tIns="0" rIns="0" bIns="0" numCol="1" spcCol="215900" anchor="ctr"/>
          <a:lstStyle/>
          <a:p>
            <a:pPr algn="ctr">
              <a:defRPr lang="en-us"/>
            </a:pPr>
            <a:r>
              <a:rPr lang="en-us" sz="900" b="1" cap="none">
                <a:solidFill>
                  <a:srgbClr val="FFFFFF"/>
                </a:solidFill>
              </a:rPr>
              <a:t>High</a:t>
            </a:r>
            <a:endParaRPr lang="en-us" sz="900" b="1" cap="none">
              <a:solidFill>
                <a:srgbClr val="FFFFFF"/>
              </a:solidFill>
            </a:endParaRPr>
          </a:p>
        </p:txBody>
      </p:sp>
      <p:sp>
        <p:nvSpPr>
          <p:cNvPr id="43" name="TextBox 42"/>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BA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4CIAAFggAAAQKQAAmCIAABAgAAAmAAAACAAAAP//////////"/>
              </a:ext>
            </a:extLst>
          </p:cNvSpPr>
          <p:nvPr/>
        </p:nvSpPr>
        <p:spPr>
          <a:xfrm>
            <a:off x="5669280" y="5257800"/>
            <a:ext cx="1005840" cy="365760"/>
          </a:xfrm>
          <a:prstGeom prst="rect">
            <a:avLst/>
          </a:prstGeom>
          <a:noFill/>
          <a:ln>
            <a:noFill/>
          </a:ln>
          <a:effectLst/>
        </p:spPr>
        <p:txBody>
          <a:bodyPr vert="horz" wrap="square" lIns="0" tIns="0" rIns="0" bIns="0" numCol="1" spcCol="215900" anchor="t"/>
          <a:lstStyle/>
          <a:p>
            <a:pPr algn="l">
              <a:defRPr lang="en-us"/>
            </a:pPr>
            <a:r>
              <a:rPr lang="en-us" sz="1100" b="1" cap="none">
                <a:solidFill>
                  <a:srgbClr val="0F172A"/>
                </a:solidFill>
                <a:latin typeface="Consolas" pitchFamily="3" charset="0"/>
                <a:ea typeface="Calibri" pitchFamily="2" charset="0"/>
                <a:cs typeface="Calibri" pitchFamily="2" charset="0"/>
              </a:rPr>
              <a:t>MEM-073</a:t>
            </a:r>
            <a:endParaRPr lang="en-us" sz="1100" b="1" cap="none">
              <a:solidFill>
                <a:srgbClr val="0F172A"/>
              </a:solidFill>
              <a:latin typeface="Consolas" pitchFamily="3" charset="0"/>
              <a:ea typeface="Calibri" pitchFamily="2" charset="0"/>
              <a:cs typeface="Calibri" pitchFamily="2" charset="0"/>
            </a:endParaRPr>
          </a:p>
        </p:txBody>
      </p:sp>
      <p:sp>
        <p:nvSpPr>
          <p:cNvPr id="44" name="TextBox 43"/>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BEGc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WCkAAFggAACILwAAmCIAABAgAAAmAAAACAAAAP//////////"/>
              </a:ext>
            </a:extLst>
          </p:cNvSpPr>
          <p:nvPr/>
        </p:nvSpPr>
        <p:spPr>
          <a:xfrm>
            <a:off x="6720840" y="5257800"/>
            <a:ext cx="1005840" cy="365760"/>
          </a:xfrm>
          <a:prstGeom prst="rect">
            <a:avLst/>
          </a:prstGeom>
          <a:noFill/>
          <a:ln>
            <a:noFill/>
          </a:ln>
          <a:effectLst/>
        </p:spPr>
        <p:txBody>
          <a:bodyPr vert="horz" wrap="square" lIns="0" tIns="0" rIns="0" bIns="0" numCol="1" spcCol="215900" anchor="t"/>
          <a:lstStyle/>
          <a:p>
            <a:pPr algn="l">
              <a:defRPr lang="en-us"/>
            </a:pPr>
            <a:r>
              <a:rPr lang="en-us" sz="1100" cap="none">
                <a:solidFill>
                  <a:srgbClr val="1A6B9A"/>
                </a:solidFill>
                <a:latin typeface="Consolas" pitchFamily="3" charset="0"/>
                <a:ea typeface="Calibri" pitchFamily="2" charset="0"/>
                <a:cs typeface="Calibri" pitchFamily="2" charset="0"/>
              </a:rPr>
              <a:t>CWE-416</a:t>
            </a:r>
            <a:endParaRPr lang="en-us" sz="1100" cap="none">
              <a:solidFill>
                <a:srgbClr val="1A6B9A"/>
              </a:solidFill>
              <a:latin typeface="Consolas" pitchFamily="3" charset="0"/>
              <a:ea typeface="Calibri" pitchFamily="2" charset="0"/>
              <a:cs typeface="Calibri" pitchFamily="2" charset="0"/>
            </a:endParaRPr>
          </a:p>
        </p:txBody>
      </p:sp>
      <p:sp>
        <p:nvSpPr>
          <p:cNvPr id="45" name="TextBox 44"/>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BghGC4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0C8AAFggAADQQQAAmCIAABAgAAAmAAAACAAAAP//////////"/>
              </a:ext>
            </a:extLst>
          </p:cNvSpPr>
          <p:nvPr/>
        </p:nvSpPr>
        <p:spPr>
          <a:xfrm>
            <a:off x="7772400" y="5257800"/>
            <a:ext cx="2926080" cy="365760"/>
          </a:xfrm>
          <a:prstGeom prst="rect">
            <a:avLst/>
          </a:prstGeom>
          <a:noFill/>
          <a:ln>
            <a:noFill/>
          </a:ln>
          <a:effectLst/>
        </p:spPr>
        <p:txBody>
          <a:bodyPr vert="horz" wrap="square" lIns="0" tIns="0" rIns="0" bIns="0" numCol="1" spcCol="215900" anchor="t"/>
          <a:lstStyle/>
          <a:p>
            <a:pPr algn="l">
              <a:defRPr lang="en-us"/>
            </a:pPr>
            <a:r>
              <a:rPr lang="en-us" sz="1100" cap="none">
                <a:solidFill>
                  <a:srgbClr val="475569"/>
                </a:solidFill>
              </a:rPr>
              <a:t>Box::from_raw (Rust)</a:t>
            </a:r>
            <a:endParaRPr lang="en-us" sz="1100" cap="none">
              <a:solidFill>
                <a:srgbClr val="475569"/>
              </a:solidFill>
            </a:endParaRPr>
          </a:p>
        </p:txBody>
      </p:sp>
      <p:sp>
        <p:nvSpPr>
          <p:cNvPr id="46" name="Rounded Rectangle 45"/>
          <p:cNvSpPr>
            <a:extLst>
              <a:ext uri="smNativeData">
                <pr:smNativeData xmlns:pr="smNativeData" xmlns="smNativeData" val="SMDATA_15_ceEnahMAAAAlAAAAZQAAAA0AAAAAkAAAAEgAAACQAAAASAAAAAAAAAABAAAAAAAAAAEAAABQAAAAhbacS3FV1T8AAAAAAADwvwAAAAAAAOA/AAAAAAAA4D8AAAAAAADgPwAAAAAAAOA/AAAAAAAA4D8AAAAAAADgPwAAAAAAAOA/AAAAAAAA4D8CAAAAjAAAAAEAAAAAAAAAtFMJACxn1gAAAAAAAAAAAAAAAAAAAAAAAAAAAAAAAAAAAAAAZAAAAAEAAABAAAAAAAAAAJz///9aAAAAAAAAAAEAAABQAAAAMGjPAAAAAAAAAAAAAAAAAAAAAAAAAAAAAAAAAAAAAAAAAAAAAAAAAAAAAAAAAAAAAAAAAAAAAAAAAAAAFAAAADwAAAAAAAAAAAAAAEBtxAAP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FMJACxn1gAwaM8AAAAAAAAAAAAAAAAAAAAAAAAAAAAAAAAAAAAAAEBtxAB/f38A5+bmA8zMzADAwP8Af39/AAAAAAAAAAAAAAAAAAAAAAAAAAAAIQAAABgAAAAUAAAAYEIAAJIgAAAoRwAAQiIAABAAAAAmAAAACAAAAP//////////"/>
              </a:ext>
            </a:extLst>
          </p:cNvSpPr>
          <p:nvPr/>
        </p:nvSpPr>
        <p:spPr>
          <a:xfrm>
            <a:off x="10789920" y="5294630"/>
            <a:ext cx="777240" cy="274320"/>
          </a:xfrm>
          <a:prstGeom prst="roundRect">
            <a:avLst>
              <a:gd name="adj" fmla="val 16667"/>
            </a:avLst>
          </a:prstGeom>
          <a:solidFill>
            <a:srgbClr val="B45309"/>
          </a:solidFill>
          <a:ln>
            <a:noFill/>
          </a:ln>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p>
        </p:txBody>
      </p:sp>
      <p:sp>
        <p:nvSpPr>
          <p:cNvPr id="47" name="TextBox 46"/>
          <p:cNvSpPr>
            <a:extLst>
              <a:ext uri="smNativeData">
                <pr:smNativeData xmlns:pr="smNativeData" xmlns="smNativeData" val="SMDATA_15_ceEnahMAAAAlAAAAZAAAAE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BYtFi4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YEIAAJIgAAAoRwAAQiIAABAgAAAmAAAACAAAAP//////////"/>
              </a:ext>
            </a:extLst>
          </p:cNvSpPr>
          <p:nvPr/>
        </p:nvSpPr>
        <p:spPr>
          <a:xfrm>
            <a:off x="10789920" y="5294630"/>
            <a:ext cx="777240" cy="274320"/>
          </a:xfrm>
          <a:prstGeom prst="rect">
            <a:avLst/>
          </a:prstGeom>
          <a:noFill/>
          <a:ln>
            <a:noFill/>
          </a:ln>
          <a:effectLst/>
        </p:spPr>
        <p:txBody>
          <a:bodyPr vert="horz" wrap="square" lIns="0" tIns="0" rIns="0" bIns="0" numCol="1" spcCol="215900" anchor="ctr"/>
          <a:lstStyle/>
          <a:p>
            <a:pPr algn="ctr">
              <a:defRPr lang="en-us"/>
            </a:pPr>
            <a:r>
              <a:rPr lang="en-us" sz="900" b="1" cap="none">
                <a:solidFill>
                  <a:srgbClr val="FFFFFF"/>
                </a:solidFill>
              </a:rPr>
              <a:t>High</a:t>
            </a:r>
            <a:endParaRPr lang="en-us" sz="900" b="1" cap="none">
              <a:solidFill>
                <a:srgbClr val="FFFFFF"/>
              </a:solidFill>
            </a:endParaRPr>
          </a:p>
        </p:txBody>
      </p:sp>
      <p:sp>
        <p:nvSpPr>
          <p:cNvPr id="48" name="TextBox 47"/>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VFQk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YAMAAKgnAAAgJQAAWCkAABAgAAAmAAAACAAAAP//////////"/>
              </a:ext>
            </a:extLst>
          </p:cNvSpPr>
          <p:nvPr/>
        </p:nvSpPr>
        <p:spPr>
          <a:xfrm>
            <a:off x="548640" y="6446520"/>
            <a:ext cx="5486400" cy="274320"/>
          </a:xfrm>
          <a:prstGeom prst="rect">
            <a:avLst/>
          </a:prstGeom>
          <a:noFill/>
          <a:ln>
            <a:noFill/>
          </a:ln>
          <a:effectLst/>
        </p:spPr>
        <p:txBody>
          <a:bodyPr vert="horz" wrap="square" lIns="0" tIns="0" rIns="0" bIns="0" numCol="1" spcCol="215900" anchor="t"/>
          <a:lstStyle/>
          <a:p>
            <a:pPr algn="l">
              <a:defRPr lang="en-us"/>
            </a:pPr>
            <a:r>
              <a:rPr lang="en-us" sz="1000" cap="none">
                <a:solidFill>
                  <a:srgbClr val="475569"/>
                </a:solidFill>
              </a:rPr>
              <a:t>MAS — Multi-Agent Security Scanner</a:t>
            </a:r>
            <a:endParaRPr lang="en-us" sz="1000" cap="none">
              <a:solidFill>
                <a:srgbClr val="475569"/>
              </a:solidFill>
            </a:endParaRPr>
          </a:p>
        </p:txBody>
      </p:sp>
      <p:sp>
        <p:nvSpPr>
          <p:cNvPr id="49" name="TextBox 48"/>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BgLAAU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sEAAAKgnAABwRwAAWCkAABAgAAAmAAAACAAAAP//////////"/>
              </a:ext>
            </a:extLst>
          </p:cNvSpPr>
          <p:nvPr/>
        </p:nvSpPr>
        <p:spPr>
          <a:xfrm>
            <a:off x="10515600" y="6446520"/>
            <a:ext cx="1097280" cy="274320"/>
          </a:xfrm>
          <a:prstGeom prst="rect">
            <a:avLst/>
          </a:prstGeom>
          <a:noFill/>
          <a:ln>
            <a:noFill/>
          </a:ln>
          <a:effectLst/>
        </p:spPr>
        <p:txBody>
          <a:bodyPr vert="horz" wrap="square" lIns="0" tIns="0" rIns="0" bIns="0" numCol="1" spcCol="215900" anchor="t"/>
          <a:lstStyle/>
          <a:p>
            <a:pPr algn="r">
              <a:defRPr lang="en-us"/>
            </a:pPr>
            <a:r>
              <a:rPr lang="en-us" sz="1000" cap="none">
                <a:solidFill>
                  <a:srgbClr val="475569"/>
                </a:solidFill>
              </a:rPr>
              <a:t>7 / 11</a:t>
            </a:r>
            <a:endParaRPr lang="en-us" sz="1000" cap="none">
              <a:solidFill>
                <a:srgbClr val="475569"/>
              </a:solidFill>
            </a:endParaRPr>
          </a:p>
        </p:txBody>
      </p:sp>
    </p:spTree>
  </p:cSld>
  <p:clrMapOvr>
    <a:masterClrMapping/>
  </p:clrMapOvr>
  <p:timing>
    <p:tnLst>
      <p:par>
        <p:cTn id="1" dur="indefinite" restart="never" nodeType="tmRoot"/>
      </p:par>
    </p:tnLst>
  </p:timing>
</p:sld>
</file>

<file path=ppt/slides/slide8.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Rectangle 1"/>
          <p:cNvSpPr>
            <a:extLst>
              <a:ext uri="smNativeData">
                <pr:smNativeData xmlns:pr="smNativeData" xmlns="smNativeData" val="SMDATA_15_ceEnahMAAAAlAAAAZAAAAA0AAAAAkAAAAEgAAACQAAAASAAAAAAAAAABAAAAAAAAAAEAAABQAAAAAAAAAAAA4D8AAAAAAADgPwAAAAAAAOA/AAAAAAAA4D8AAAAAAADgPwAAAAAAAOA/AAAAAAAA4D8AAAAAAADgPwAAAAAAAOA/AAAAAAAA4D8CAAAAjAAAAAEAAAAAAAAA+Pr8ACxn1gAAAAAAAAAAAAAAAAAAAAAAAAAAAAAAAAAAAAAAZAAAAAEAAABAAAAAAAAAAJz///9aAAAAAAAAAAEAAABQAAAAMGjPAAAAAAAAAAAAAAAAAAAAAAAAAAAAAAAAAAAAAAAAAAAAAAAAAAAAAAAAAAAAAAAAAAAAAAAAAAAAFAAAADwAAAAAAAAAAAAAAEBtxAAP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Pr8ACxn1gAwaM8AAAAAAAAAAAAAAAAAAAAAAAAAAAAAAAAAAAAAAEBtxAB/f38A5+bmA8zMzADAwP8Af39/AAAAAAAAAAAAAAAAAAAAAAAAAAAAIQAAABgAAAAUAAAAAAAAAAAAAAAASwAAMCoAABAAAAAmAAAACAAAAP//////////"/>
              </a:ext>
            </a:extLst>
          </p:cNvSpPr>
          <p:nvPr/>
        </p:nvSpPr>
        <p:spPr>
          <a:xfrm>
            <a:off x="0" y="0"/>
            <a:ext cx="12192000" cy="6858000"/>
          </a:xfrm>
          <a:prstGeom prst="rect">
            <a:avLst/>
          </a:prstGeom>
          <a:solidFill>
            <a:srgbClr val="F8FAFC"/>
          </a:solidFill>
          <a:ln>
            <a:noFill/>
          </a:ln>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p>
        </p:txBody>
      </p:sp>
      <p:sp>
        <p:nvSpPr>
          <p:cNvPr id="3" name="Rectangle 2"/>
          <p:cNvSpPr>
            <a:extLst>
              <a:ext uri="smNativeData">
                <pr:smNativeData xmlns:pr="smNativeData" xmlns="smNativeData" val="SMDATA_15_ceEnahMAAAAlAAAAZAAAAA0AAAAAkAAAAEgAAACQAAAASAAAAAAAAAABAAAAAAAAAAEAAABQAAAAAAAAAAAA4D8AAAAAAADgPwAAAAAAAOA/AAAAAAAA4D8AAAAAAADgPwAAAAAAAOA/AAAAAAAA4D8AAAAAAADgPwAAAAAAAOA/AAAAAAAA4D8CAAAAjAAAAAEAAAAAAAAADZNzACxn1gAAAAAAAAAAAAAAAAAAAAAAAAAAAAAAAAAAAAAAZAAAAAEAAABAAAAAAAAAAJz///9aAAAAAAAAAAEAAABQAAAAMGjPAAAAAAAAAAAAAAAAAAAAAAAAAAAAAAAAAAAAAAAAAAAAAAAAAAAAAAAAAAAAAAAAAAAAAAAAAAAAFAAAADwAAAAAAAAAAAAAAEBtxAAP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BUQFRI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DZNzACxn1gAwaM8AAAAAAAAAAAAAAAAAAAAAAAAAAAAAAAAAAAAAAEBtxAB/f38A5+bmA8zMzADAwP8Af39/AAAAAAAAAAAAAAAAAAAAAAAAAAAAIQAAABgAAAAUAAAAYAMAAIgCAAAwBgAA3gIAABAAAAAmAAAACAAAAP//////////"/>
              </a:ext>
            </a:extLst>
          </p:cNvSpPr>
          <p:nvPr/>
        </p:nvSpPr>
        <p:spPr>
          <a:xfrm>
            <a:off x="548640" y="411480"/>
            <a:ext cx="457200" cy="54610"/>
          </a:xfrm>
          <a:prstGeom prst="rect">
            <a:avLst/>
          </a:prstGeom>
          <a:solidFill>
            <a:srgbClr val="0D9373"/>
          </a:solidFill>
          <a:ln>
            <a:noFill/>
          </a:ln>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p>
        </p:txBody>
      </p:sp>
      <p:sp>
        <p:nvSpPr>
          <p:cNvPr id="4" name="TextBox 3"/>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YAMAABgDAABgMAAAEAUAABAgAAAmAAAACAAAAP//////////"/>
              </a:ext>
            </a:extLst>
          </p:cNvSpPr>
          <p:nvPr/>
        </p:nvSpPr>
        <p:spPr>
          <a:xfrm>
            <a:off x="548640" y="502920"/>
            <a:ext cx="7315200" cy="320040"/>
          </a:xfrm>
          <a:prstGeom prst="rect">
            <a:avLst/>
          </a:prstGeom>
          <a:noFill/>
          <a:ln>
            <a:noFill/>
          </a:ln>
          <a:effectLst/>
        </p:spPr>
        <p:txBody>
          <a:bodyPr vert="horz" wrap="square" lIns="0" tIns="0" rIns="0" bIns="0" numCol="1" spcCol="215900" anchor="t"/>
          <a:lstStyle/>
          <a:p>
            <a:pPr algn="l">
              <a:defRPr lang="en-us"/>
            </a:pPr>
            <a:r>
              <a:rPr lang="en-us" sz="1100" b="1" cap="none">
                <a:solidFill>
                  <a:srgbClr val="0D9373"/>
                </a:solidFill>
              </a:rPr>
              <a:t>07 · LLM</a:t>
            </a:r>
            <a:endParaRPr lang="en-us" sz="1100" b="1" cap="none">
              <a:solidFill>
                <a:srgbClr val="0D9373"/>
              </a:solidFill>
            </a:endParaRPr>
          </a:p>
        </p:txBody>
      </p:sp>
      <p:sp>
        <p:nvSpPr>
          <p:cNvPr id="5" name="TextBox 4"/>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YAMAAMgEAADgRgAASAkAABAgAAAmAAAACAAAAP//////////"/>
              </a:ext>
            </a:extLst>
          </p:cNvSpPr>
          <p:nvPr/>
        </p:nvSpPr>
        <p:spPr>
          <a:xfrm>
            <a:off x="548640" y="777240"/>
            <a:ext cx="10972800" cy="731520"/>
          </a:xfrm>
          <a:prstGeom prst="rect">
            <a:avLst/>
          </a:prstGeom>
          <a:noFill/>
          <a:ln>
            <a:noFill/>
          </a:ln>
          <a:effectLst/>
        </p:spPr>
        <p:txBody>
          <a:bodyPr vert="horz" wrap="square" lIns="0" tIns="0" rIns="0" bIns="0" numCol="1" spcCol="215900" anchor="t"/>
          <a:lstStyle/>
          <a:p>
            <a:pPr algn="l">
              <a:defRPr lang="en-us"/>
            </a:pPr>
            <a:r>
              <a:rPr lang="en-us" sz="3200" b="1" cap="none">
                <a:solidFill>
                  <a:srgbClr val="0F172A"/>
                </a:solidFill>
              </a:rPr>
              <a:t>Deux modèles, deux usages</a:t>
            </a:r>
            <a:endParaRPr lang="en-us" sz="3200" b="1" cap="none">
              <a:solidFill>
                <a:srgbClr val="0F172A"/>
              </a:solidFill>
            </a:endParaRPr>
          </a:p>
        </p:txBody>
      </p:sp>
      <p:sp>
        <p:nvSpPr>
          <p:cNvPr id="6" name="TextBox 5"/>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YAMAALgIAADgRgAAiAsAABAgAAAmAAAACAAAAP//////////"/>
              </a:ext>
            </a:extLst>
          </p:cNvSpPr>
          <p:nvPr/>
        </p:nvSpPr>
        <p:spPr>
          <a:xfrm>
            <a:off x="548640" y="1417320"/>
            <a:ext cx="10972800" cy="457200"/>
          </a:xfrm>
          <a:prstGeom prst="rect">
            <a:avLst/>
          </a:prstGeom>
          <a:noFill/>
          <a:ln>
            <a:noFill/>
          </a:ln>
          <a:effectLst/>
        </p:spPr>
        <p:txBody>
          <a:bodyPr vert="horz" wrap="square" lIns="0" tIns="0" rIns="0" bIns="0" numCol="1" spcCol="215900" anchor="t"/>
          <a:lstStyle/>
          <a:p>
            <a:pPr algn="l">
              <a:defRPr lang="en-us"/>
            </a:pPr>
            <a:r>
              <a:rPr lang="en-us" sz="1400" cap="none">
                <a:solidFill>
                  <a:srgbClr val="475569"/>
                </a:solidFill>
              </a:rPr>
              <a:t>Fast pour le volume, Strong pour le raisonnement profond.</a:t>
            </a:r>
            <a:endParaRPr lang="en-us" sz="1400" cap="none">
              <a:solidFill>
                <a:srgbClr val="475569"/>
              </a:solidFill>
            </a:endParaRPr>
          </a:p>
        </p:txBody>
      </p:sp>
      <p:sp>
        <p:nvSpPr>
          <p:cNvPr id="7" name="Rounded Rectangle 6"/>
          <p:cNvSpPr>
            <a:extLst>
              <a:ext uri="smNativeData">
                <pr:smNativeData xmlns:pr="smNativeData" xmlns="smNativeData" val="SMDATA_15_ceEnahMAAAAlAAAAZQAAAA0AAAAAkAAAAEgAAACQAAAASAAAAAAAAAABAAAAAAAAAAEAAABQAAAAhbacS3FV1T8AAAAAAADwvwAAAAAAAOA/AAAAAAAA4D8AAAAAAADgPwAAAAAAAOA/AAAAAAAA4D8AAAAAAADgPwAAAAAAAOA/AAAAAAAA4D8CAAAAjAAAAAEAAAAAAAAA////ACxn1gAAAAAAAAAAAAAAAAAAAAAAAAAAAAAAAAAAAAAAZAAAAAEAAABAAAAAAAAAAJz///9aAAAAAAAAAAEAAABQAAAAMGjPAAAAAAAAAAAAAAAAAAAAAAAAAAAAAAAAAAAAAAAAAAAAAAAAAAAAAAAAAAAAAAAAAAAAAAAAAAAAFAAAADwAAAABAAAAAAAAAOLo8AAP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Cxn1gAwaM8AAAAAAAAAAAAAAAAAAAAAAAAAAAAAAAAAAAAAAOLo8AB/f38A5+bmA8zMzADAwP8Af39/AAAAAAAAAAAAAAAAAAAAAAAAAAAAIQAAABgAAAAUAAAAYAMAAIANAADYJAAAICUAABAAAAAmAAAACAAAAP//////////"/>
              </a:ext>
            </a:extLst>
          </p:cNvSpPr>
          <p:nvPr/>
        </p:nvSpPr>
        <p:spPr>
          <a:xfrm>
            <a:off x="548640" y="2194560"/>
            <a:ext cx="5440680" cy="3840480"/>
          </a:xfrm>
          <a:prstGeom prst="roundRect">
            <a:avLst>
              <a:gd name="adj" fmla="val 16667"/>
            </a:avLst>
          </a:prstGeom>
          <a:solidFill>
            <a:srgbClr val="FFFFFF"/>
          </a:solidFill>
          <a:ln w="9525" cap="flat" cmpd="sng" algn="ctr">
            <a:solidFill>
              <a:srgbClr val="E2E8F0"/>
            </a:solidFill>
            <a:prstDash val="solid"/>
            <a:headEnd type="none"/>
            <a:tailEnd type="none"/>
          </a:ln>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p>
        </p:txBody>
      </p:sp>
      <p:sp>
        <p:nvSpPr>
          <p:cNvPr id="8" name="TextBox 7"/>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BTFFNQ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WAUAAHgPAAA4FgAAuBEAABAgAAAmAAAACAAAAP//////////"/>
              </a:ext>
            </a:extLst>
          </p:cNvSpPr>
          <p:nvPr/>
        </p:nvSpPr>
        <p:spPr>
          <a:xfrm>
            <a:off x="868680" y="2514600"/>
            <a:ext cx="2743200" cy="365760"/>
          </a:xfrm>
          <a:prstGeom prst="rect">
            <a:avLst/>
          </a:prstGeom>
          <a:noFill/>
          <a:ln>
            <a:noFill/>
          </a:ln>
          <a:effectLst/>
        </p:spPr>
        <p:txBody>
          <a:bodyPr vert="horz" wrap="square" lIns="0" tIns="0" rIns="0" bIns="0" numCol="1" spcCol="215900" anchor="t"/>
          <a:lstStyle/>
          <a:p>
            <a:pPr algn="l">
              <a:defRPr lang="en-us"/>
            </a:pPr>
            <a:r>
              <a:rPr lang="en-us" sz="1100" b="1" cap="none">
                <a:solidFill>
                  <a:srgbClr val="7C3AED"/>
                </a:solidFill>
              </a:rPr>
              <a:t>FAST · GROQ</a:t>
            </a:r>
            <a:endParaRPr lang="en-us" sz="1100" b="1" cap="none">
              <a:solidFill>
                <a:srgbClr val="7C3AED"/>
              </a:solidFill>
            </a:endParaRPr>
          </a:p>
        </p:txBody>
      </p:sp>
      <p:sp>
        <p:nvSpPr>
          <p:cNvPr id="9" name="TextBox 8"/>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rEFU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WAUAALgRAAB4IQAAGBUAABAgAAAmAAAACAAAAP//////////"/>
              </a:ext>
            </a:extLst>
          </p:cNvSpPr>
          <p:nvPr/>
        </p:nvSpPr>
        <p:spPr>
          <a:xfrm>
            <a:off x="868680" y="2880360"/>
            <a:ext cx="4572000" cy="548640"/>
          </a:xfrm>
          <a:prstGeom prst="rect">
            <a:avLst/>
          </a:prstGeom>
          <a:noFill/>
          <a:ln>
            <a:noFill/>
          </a:ln>
          <a:effectLst/>
        </p:spPr>
        <p:txBody>
          <a:bodyPr vert="horz" wrap="square" lIns="0" tIns="0" rIns="0" bIns="0" numCol="1" spcCol="215900" anchor="t"/>
          <a:lstStyle/>
          <a:p>
            <a:pPr algn="l">
              <a:defRPr lang="en-us"/>
            </a:pPr>
            <a:r>
              <a:rPr lang="en-us" sz="2000" b="1" cap="none">
                <a:solidFill>
                  <a:srgbClr val="0F172A"/>
                </a:solidFill>
              </a:rPr>
              <a:t>Llama-3.1-8B-instant</a:t>
            </a:r>
            <a:endParaRPr lang="en-us" sz="2000" b="1" cap="none">
              <a:solidFill>
                <a:srgbClr val="0F172A"/>
              </a:solidFill>
            </a:endParaRPr>
          </a:p>
        </p:txBody>
      </p:sp>
      <p:sp>
        <p:nvSpPr>
          <p:cNvPr id="10" name="TextBox 9"/>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WAUAAGAVAAB4IQAAoBcAABAgAAAmAAAACAAAAP//////////"/>
              </a:ext>
            </a:extLst>
          </p:cNvSpPr>
          <p:nvPr/>
        </p:nvSpPr>
        <p:spPr>
          <a:xfrm>
            <a:off x="868680" y="3474720"/>
            <a:ext cx="4572000" cy="365760"/>
          </a:xfrm>
          <a:prstGeom prst="rect">
            <a:avLst/>
          </a:prstGeom>
          <a:noFill/>
          <a:ln>
            <a:noFill/>
          </a:ln>
          <a:effectLst/>
        </p:spPr>
        <p:txBody>
          <a:bodyPr vert="horz" wrap="square" lIns="0" tIns="0" rIns="0" bIns="0" numCol="1" spcCol="215900" anchor="t"/>
          <a:lstStyle/>
          <a:p>
            <a:pPr algn="l">
              <a:defRPr lang="en-us"/>
            </a:pPr>
            <a:r>
              <a:rPr lang="en-us" sz="1200" cap="none">
                <a:solidFill>
                  <a:srgbClr val="475569"/>
                </a:solidFill>
              </a:rPr>
              <a:t>Latence typique  ·  200–500 ms</a:t>
            </a:r>
            <a:endParaRPr lang="en-us" sz="1200" cap="none">
              <a:solidFill>
                <a:srgbClr val="475569"/>
              </a:solidFill>
            </a:endParaRPr>
          </a:p>
        </p:txBody>
      </p:sp>
      <p:sp>
        <p:nvSpPr>
          <p:cNvPr id="11" name="TextBox 10"/>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BnE8s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WAUAAHgYAAB4IQAAuBoAABAgAAAmAAAACAAAAP//////////"/>
              </a:ext>
            </a:extLst>
          </p:cNvSpPr>
          <p:nvPr/>
        </p:nvSpPr>
        <p:spPr>
          <a:xfrm>
            <a:off x="868680" y="3977640"/>
            <a:ext cx="4572000" cy="365760"/>
          </a:xfrm>
          <a:prstGeom prst="rect">
            <a:avLst/>
          </a:prstGeom>
          <a:noFill/>
          <a:ln>
            <a:noFill/>
          </a:ln>
          <a:effectLst/>
        </p:spPr>
        <p:txBody>
          <a:bodyPr vert="horz" wrap="square" lIns="0" tIns="0" rIns="0" bIns="0" numCol="1" spcCol="215900" anchor="t"/>
          <a:lstStyle/>
          <a:p>
            <a:pPr algn="l">
              <a:defRPr lang="en-us"/>
            </a:pPr>
            <a:r>
              <a:rPr lang="en-us" sz="1000" b="1" cap="none">
                <a:solidFill>
                  <a:srgbClr val="475569"/>
                </a:solidFill>
              </a:rPr>
              <a:t>UTILISÉ PAR</a:t>
            </a:r>
            <a:endParaRPr lang="en-us" sz="1000" b="1" cap="none">
              <a:solidFill>
                <a:srgbClr val="475569"/>
              </a:solidFill>
            </a:endParaRPr>
          </a:p>
        </p:txBody>
      </p:sp>
      <p:sp>
        <p:nvSpPr>
          <p:cNvPr id="12" name="TextBox 11"/>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WAUAAHAaAAAoIwAAsBwAABAgAAAmAAAACAAAAP//////////"/>
              </a:ext>
            </a:extLst>
          </p:cNvSpPr>
          <p:nvPr/>
        </p:nvSpPr>
        <p:spPr>
          <a:xfrm>
            <a:off x="868680" y="4297680"/>
            <a:ext cx="4846320" cy="365760"/>
          </a:xfrm>
          <a:prstGeom prst="rect">
            <a:avLst/>
          </a:prstGeom>
          <a:noFill/>
          <a:ln>
            <a:noFill/>
          </a:ln>
          <a:effectLst/>
        </p:spPr>
        <p:txBody>
          <a:bodyPr vert="horz" wrap="square" lIns="0" tIns="0" rIns="0" bIns="0" numCol="1" spcCol="215900" anchor="t"/>
          <a:lstStyle/>
          <a:p>
            <a:pPr algn="l">
              <a:defRPr lang="en-us"/>
            </a:pPr>
            <a:r>
              <a:rPr lang="en-us" sz="1200" cap="none">
                <a:solidFill>
                  <a:srgbClr val="0F172A"/>
                </a:solidFill>
              </a:rPr>
              <a:t>•  ExploitScorerAgent  ·  CVSS 3.1 + exploitabilité</a:t>
            </a:r>
            <a:endParaRPr lang="en-us" sz="1200" cap="none">
              <a:solidFill>
                <a:srgbClr val="0F172A"/>
              </a:solidFill>
            </a:endParaRPr>
          </a:p>
        </p:txBody>
      </p:sp>
      <p:sp>
        <p:nvSpPr>
          <p:cNvPr id="13" name="TextBox 12"/>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WAUAALAcAAAoIwAA8B4AABAgAAAmAAAACAAAAP//////////"/>
              </a:ext>
            </a:extLst>
          </p:cNvSpPr>
          <p:nvPr/>
        </p:nvSpPr>
        <p:spPr>
          <a:xfrm>
            <a:off x="868680" y="4663440"/>
            <a:ext cx="4846320" cy="365760"/>
          </a:xfrm>
          <a:prstGeom prst="rect">
            <a:avLst/>
          </a:prstGeom>
          <a:noFill/>
          <a:ln>
            <a:noFill/>
          </a:ln>
          <a:effectLst/>
        </p:spPr>
        <p:txBody>
          <a:bodyPr vert="horz" wrap="square" lIns="0" tIns="0" rIns="0" bIns="0" numCol="1" spcCol="215900" anchor="t"/>
          <a:lstStyle/>
          <a:p>
            <a:pPr algn="l">
              <a:defRPr lang="en-us"/>
            </a:pPr>
            <a:r>
              <a:rPr lang="en-us" sz="1200" cap="none">
                <a:solidFill>
                  <a:srgbClr val="0F172A"/>
                </a:solidFill>
              </a:rPr>
              <a:t>•  Tâches à fort volume, scoring rapide</a:t>
            </a:r>
            <a:endParaRPr lang="en-us" sz="1200" cap="none">
              <a:solidFill>
                <a:srgbClr val="0F172A"/>
              </a:solidFill>
            </a:endParaRPr>
          </a:p>
        </p:txBody>
      </p:sp>
      <p:sp>
        <p:nvSpPr>
          <p:cNvPr id="14" name="Rounded Rectangle 13"/>
          <p:cNvSpPr>
            <a:extLst>
              <a:ext uri="smNativeData">
                <pr:smNativeData xmlns:pr="smNativeData" xmlns="smNativeData" val="SMDATA_15_ceEnahMAAAAlAAAAZQAAAA0AAAAAkAAAAEgAAACQAAAASAAAAAAAAAABAAAAAAAAAAEAAABQAAAAhbacS3FV1T8AAAAAAADwvwAAAAAAAOA/AAAAAAAA4D8AAAAAAADgPwAAAAAAAOA/AAAAAAAA4D8AAAAAAADgPwAAAAAAAOA/AAAAAAAA4D8CAAAAjAAAAAEAAAAAAAAADxcqACxn1gAAAAAAAAAAAAAAAAAAAAAAAAAAAAAAAAAAAAAAZAAAAAEAAABAAAAAAAAAAJz///9aAAAAAAAAAAEAAABQAAAAMGjPAAAAAAAAAAAAAAAAAAAAAAAAAAAAAAAAAAAAAAAAAAAAAAAAAAAAAAAAAAAAAAAAAAAAAAAAAAAAFAAAADwAAAAAAAAAAAAAAEBtxAAP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EG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DxcqACxn1gAwaM8AAAAAAAAAAAAAAAAAAAAAAAAAAAAAAAAAAAAAAEBtxAB/f38A5+bmA8zMzADAwP8Af39/AAAAAAAAAAAAAAAAAAAAAAAAAAAAIQAAABgAAAAUAAAAIyYAAIANAACbRwAAICUAABAAAAAmAAAACAAAAP//////////"/>
              </a:ext>
            </a:extLst>
          </p:cNvSpPr>
          <p:nvPr/>
        </p:nvSpPr>
        <p:spPr>
          <a:xfrm>
            <a:off x="6199505" y="2194560"/>
            <a:ext cx="5440680" cy="3840480"/>
          </a:xfrm>
          <a:prstGeom prst="roundRect">
            <a:avLst>
              <a:gd name="adj" fmla="val 16667"/>
            </a:avLst>
          </a:prstGeom>
          <a:solidFill>
            <a:srgbClr val="0F172A"/>
          </a:solidFill>
          <a:ln>
            <a:noFill/>
          </a:ln>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p>
        </p:txBody>
      </p:sp>
      <p:sp>
        <p:nvSpPr>
          <p:cNvPr id="15" name="TextBox 14"/>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GygAAHgPAAD7OAAAuBEAABAgAAAmAAAACAAAAP//////////"/>
              </a:ext>
            </a:extLst>
          </p:cNvSpPr>
          <p:nvPr/>
        </p:nvSpPr>
        <p:spPr>
          <a:xfrm>
            <a:off x="6519545" y="2514600"/>
            <a:ext cx="2743200" cy="365760"/>
          </a:xfrm>
          <a:prstGeom prst="rect">
            <a:avLst/>
          </a:prstGeom>
          <a:noFill/>
          <a:ln>
            <a:noFill/>
          </a:ln>
          <a:effectLst/>
        </p:spPr>
        <p:txBody>
          <a:bodyPr vert="horz" wrap="square" lIns="0" tIns="0" rIns="0" bIns="0" numCol="1" spcCol="215900" anchor="t"/>
          <a:lstStyle/>
          <a:p>
            <a:pPr algn="l">
              <a:defRPr lang="en-us"/>
            </a:pPr>
            <a:r>
              <a:rPr lang="en-us" sz="1100" b="1" cap="none">
                <a:solidFill>
                  <a:srgbClr val="0D9373"/>
                </a:solidFill>
              </a:rPr>
              <a:t>STRONG · NVIDIA</a:t>
            </a:r>
            <a:endParaRPr lang="en-us" sz="1100" b="1" cap="none">
              <a:solidFill>
                <a:srgbClr val="0D9373"/>
              </a:solidFill>
            </a:endParaRPr>
          </a:p>
        </p:txBody>
      </p:sp>
      <p:sp>
        <p:nvSpPr>
          <p:cNvPr id="16" name="TextBox 15"/>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HA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GygAALgRAAA7RAAAGBUAABAgAAAmAAAACAAAAP//////////"/>
              </a:ext>
            </a:extLst>
          </p:cNvSpPr>
          <p:nvPr/>
        </p:nvSpPr>
        <p:spPr>
          <a:xfrm>
            <a:off x="6519545" y="2880360"/>
            <a:ext cx="4572000" cy="548640"/>
          </a:xfrm>
          <a:prstGeom prst="rect">
            <a:avLst/>
          </a:prstGeom>
          <a:noFill/>
          <a:ln>
            <a:noFill/>
          </a:ln>
          <a:effectLst/>
        </p:spPr>
        <p:txBody>
          <a:bodyPr vert="horz" wrap="square" lIns="0" tIns="0" rIns="0" bIns="0" numCol="1" spcCol="215900" anchor="t"/>
          <a:lstStyle/>
          <a:p>
            <a:pPr algn="l">
              <a:defRPr lang="en-us"/>
            </a:pPr>
            <a:r>
              <a:rPr lang="en-us" sz="2000" b="1" cap="none">
                <a:solidFill>
                  <a:srgbClr val="FFFFFF"/>
                </a:solidFill>
              </a:rPr>
              <a:t>Llama-3.1-70B-instruct</a:t>
            </a:r>
            <a:endParaRPr lang="en-us" sz="2000" b="1" cap="none">
              <a:solidFill>
                <a:srgbClr val="FFFFFF"/>
              </a:solidFill>
            </a:endParaRPr>
          </a:p>
        </p:txBody>
      </p:sp>
      <p:sp>
        <p:nvSpPr>
          <p:cNvPr id="17" name="TextBox 16"/>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ClAK4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GygAAGAVAAA7RAAAoBcAABAgAAAmAAAACAAAAP//////////"/>
              </a:ext>
            </a:extLst>
          </p:cNvSpPr>
          <p:nvPr/>
        </p:nvSpPr>
        <p:spPr>
          <a:xfrm>
            <a:off x="6519545" y="3474720"/>
            <a:ext cx="4572000" cy="365760"/>
          </a:xfrm>
          <a:prstGeom prst="rect">
            <a:avLst/>
          </a:prstGeom>
          <a:noFill/>
          <a:ln>
            <a:noFill/>
          </a:ln>
          <a:effectLst/>
        </p:spPr>
        <p:txBody>
          <a:bodyPr vert="horz" wrap="square" lIns="0" tIns="0" rIns="0" bIns="0" numCol="1" spcCol="215900" anchor="t"/>
          <a:lstStyle/>
          <a:p>
            <a:pPr algn="l">
              <a:defRPr lang="en-us"/>
            </a:pPr>
            <a:r>
              <a:rPr lang="en-us" sz="1200" cap="none">
                <a:solidFill>
                  <a:srgbClr val="CBD5E1"/>
                </a:solidFill>
              </a:rPr>
              <a:t>Latence typique  ·  1–3 s</a:t>
            </a:r>
            <a:endParaRPr lang="en-us" sz="1200" cap="none">
              <a:solidFill>
                <a:srgbClr val="CBD5E1"/>
              </a:solidFill>
            </a:endParaRPr>
          </a:p>
        </p:txBody>
      </p:sp>
      <p:sp>
        <p:nvSpPr>
          <p:cNvPr id="18" name="TextBox 17"/>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l0CXQ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GygAAHgYAAA7RAAAuBoAABAgAAAmAAAACAAAAP//////////"/>
              </a:ext>
            </a:extLst>
          </p:cNvSpPr>
          <p:nvPr/>
        </p:nvSpPr>
        <p:spPr>
          <a:xfrm>
            <a:off x="6519545" y="3977640"/>
            <a:ext cx="4572000" cy="365760"/>
          </a:xfrm>
          <a:prstGeom prst="rect">
            <a:avLst/>
          </a:prstGeom>
          <a:noFill/>
          <a:ln>
            <a:noFill/>
          </a:ln>
          <a:effectLst/>
        </p:spPr>
        <p:txBody>
          <a:bodyPr vert="horz" wrap="square" lIns="0" tIns="0" rIns="0" bIns="0" numCol="1" spcCol="215900" anchor="t"/>
          <a:lstStyle/>
          <a:p>
            <a:pPr algn="l">
              <a:defRPr lang="en-us"/>
            </a:pPr>
            <a:r>
              <a:rPr lang="en-us" sz="1000" b="1" cap="none">
                <a:solidFill>
                  <a:srgbClr val="0D9373"/>
                </a:solidFill>
              </a:rPr>
              <a:t>UTILISÉ PAR</a:t>
            </a:r>
            <a:endParaRPr lang="en-us" sz="1000" b="1" cap="none">
              <a:solidFill>
                <a:srgbClr val="0D9373"/>
              </a:solidFill>
            </a:endParaRPr>
          </a:p>
        </p:txBody>
      </p:sp>
      <p:sp>
        <p:nvSpPr>
          <p:cNvPr id="19" name="TextBox 18"/>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PpA+o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GygAAHAaAADrRQAAsBwAABAgAAAmAAAACAAAAP//////////"/>
              </a:ext>
            </a:extLst>
          </p:cNvSpPr>
          <p:nvPr/>
        </p:nvSpPr>
        <p:spPr>
          <a:xfrm>
            <a:off x="6519545" y="4297680"/>
            <a:ext cx="4846320" cy="365760"/>
          </a:xfrm>
          <a:prstGeom prst="rect">
            <a:avLst/>
          </a:prstGeom>
          <a:noFill/>
          <a:ln>
            <a:noFill/>
          </a:ln>
          <a:effectLst/>
        </p:spPr>
        <p:txBody>
          <a:bodyPr vert="horz" wrap="square" lIns="0" tIns="0" rIns="0" bIns="0" numCol="1" spcCol="215900" anchor="t"/>
          <a:lstStyle/>
          <a:p>
            <a:pPr algn="l">
              <a:defRPr lang="en-us"/>
            </a:pPr>
            <a:r>
              <a:rPr lang="en-us" sz="1200" cap="none">
                <a:solidFill>
                  <a:srgbClr val="FFFFFF"/>
                </a:solidFill>
              </a:rPr>
              <a:t>▸  SemanticAnalystAgent  ·  failles logiques + RAG</a:t>
            </a:r>
            <a:endParaRPr lang="en-us" sz="1200" cap="none">
              <a:solidFill>
                <a:srgbClr val="FFFFFF"/>
              </a:solidFill>
            </a:endParaRPr>
          </a:p>
        </p:txBody>
      </p:sp>
      <p:sp>
        <p:nvSpPr>
          <p:cNvPr id="20" name="TextBox 19"/>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TsBO0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GygAALAcAADrRQAA8B4AABAgAAAmAAAACAAAAP//////////"/>
              </a:ext>
            </a:extLst>
          </p:cNvSpPr>
          <p:nvPr/>
        </p:nvSpPr>
        <p:spPr>
          <a:xfrm>
            <a:off x="6519545" y="4663440"/>
            <a:ext cx="4846320" cy="365760"/>
          </a:xfrm>
          <a:prstGeom prst="rect">
            <a:avLst/>
          </a:prstGeom>
          <a:noFill/>
          <a:ln>
            <a:noFill/>
          </a:ln>
          <a:effectLst/>
        </p:spPr>
        <p:txBody>
          <a:bodyPr vert="horz" wrap="square" lIns="0" tIns="0" rIns="0" bIns="0" numCol="1" spcCol="215900" anchor="t"/>
          <a:lstStyle/>
          <a:p>
            <a:pPr algn="l">
              <a:defRPr lang="en-us"/>
            </a:pPr>
            <a:r>
              <a:rPr lang="en-us" sz="1200" cap="none">
                <a:solidFill>
                  <a:srgbClr val="FFFFFF"/>
                </a:solidFill>
              </a:rPr>
              <a:t>▸  PatcherAgent  ·  unified diffs corrigeant la vuln</a:t>
            </a:r>
            <a:endParaRPr lang="en-us" sz="1200" cap="none">
              <a:solidFill>
                <a:srgbClr val="FFFFFF"/>
              </a:solidFill>
            </a:endParaRPr>
          </a:p>
        </p:txBody>
      </p:sp>
      <p:sp>
        <p:nvSpPr>
          <p:cNvPr id="21" name="TextBox 20"/>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dHB0k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YAMAAKgnAAAgJQAAWCkAABAgAAAmAAAACAAAAP//////////"/>
              </a:ext>
            </a:extLst>
          </p:cNvSpPr>
          <p:nvPr/>
        </p:nvSpPr>
        <p:spPr>
          <a:xfrm>
            <a:off x="548640" y="6446520"/>
            <a:ext cx="5486400" cy="274320"/>
          </a:xfrm>
          <a:prstGeom prst="rect">
            <a:avLst/>
          </a:prstGeom>
          <a:noFill/>
          <a:ln>
            <a:noFill/>
          </a:ln>
          <a:effectLst/>
        </p:spPr>
        <p:txBody>
          <a:bodyPr vert="horz" wrap="square" lIns="0" tIns="0" rIns="0" bIns="0" numCol="1" spcCol="215900" anchor="t"/>
          <a:lstStyle/>
          <a:p>
            <a:pPr algn="l">
              <a:defRPr lang="en-us"/>
            </a:pPr>
            <a:r>
              <a:rPr lang="en-us" sz="1000" cap="none">
                <a:solidFill>
                  <a:srgbClr val="475569"/>
                </a:solidFill>
              </a:rPr>
              <a:t>MAS — Multi-Agent Security Scanner</a:t>
            </a:r>
            <a:endParaRPr lang="en-us" sz="1000" cap="none">
              <a:solidFill>
                <a:srgbClr val="475569"/>
              </a:solidFill>
            </a:endParaRPr>
          </a:p>
        </p:txBody>
      </p:sp>
      <p:sp>
        <p:nvSpPr>
          <p:cNvPr id="22" name="TextBox 21"/>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V+BYY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sEAAAKgnAABwRwAAWCkAABAgAAAmAAAACAAAAP//////////"/>
              </a:ext>
            </a:extLst>
          </p:cNvSpPr>
          <p:nvPr/>
        </p:nvSpPr>
        <p:spPr>
          <a:xfrm>
            <a:off x="10515600" y="6446520"/>
            <a:ext cx="1097280" cy="274320"/>
          </a:xfrm>
          <a:prstGeom prst="rect">
            <a:avLst/>
          </a:prstGeom>
          <a:noFill/>
          <a:ln>
            <a:noFill/>
          </a:ln>
          <a:effectLst/>
        </p:spPr>
        <p:txBody>
          <a:bodyPr vert="horz" wrap="square" lIns="0" tIns="0" rIns="0" bIns="0" numCol="1" spcCol="215900" anchor="t"/>
          <a:lstStyle/>
          <a:p>
            <a:pPr algn="r">
              <a:defRPr lang="en-us"/>
            </a:pPr>
            <a:r>
              <a:rPr lang="en-us" sz="1000" cap="none">
                <a:solidFill>
                  <a:srgbClr val="475569"/>
                </a:solidFill>
              </a:rPr>
              <a:t>8 / 11</a:t>
            </a:r>
            <a:endParaRPr lang="en-us" sz="1000" cap="none">
              <a:solidFill>
                <a:srgbClr val="475569"/>
              </a:solidFill>
            </a:endParaRPr>
          </a:p>
        </p:txBody>
      </p:sp>
    </p:spTree>
  </p:cSld>
  <p:clrMapOvr>
    <a:masterClrMapping/>
  </p:clrMapOvr>
  <p:timing>
    <p:tnLst>
      <p:par>
        <p:cTn id="1" dur="indefinite" restart="never" nodeType="tmRoot"/>
      </p:par>
    </p:tnLst>
  </p:timing>
</p:sld>
</file>

<file path=ppt/slides/slide9.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Rectangle 1"/>
          <p:cNvSpPr>
            <a:extLst>
              <a:ext uri="smNativeData">
                <pr:smNativeData xmlns:pr="smNativeData" xmlns="smNativeData" val="SMDATA_15_ceEnahMAAAAlAAAAZAAAAA0AAAAAkAAAAEgAAACQAAAASAAAAAAAAAABAAAAAAAAAAEAAABQAAAAAAAAAAAA4D8AAAAAAADgPwAAAAAAAOA/AAAAAAAA4D8AAAAAAADgPwAAAAAAAOA/AAAAAAAA4D8AAAAAAADgPwAAAAAAAOA/AAAAAAAA4D8CAAAAjAAAAAEAAAAAAAAA+Pr8ACxn1gAAAAAAAAAAAAAAAAAAAAAAAAAAAAAAAAAAAAAAZAAAAAEAAABAAAAAAAAAAJz///9aAAAAAAAAAAEAAABQAAAAMGjPAAAAAAAAAAAAAAAAAAAAAAAAAAAAAAAAAAAAAAAAAAAAAAAAAAAAAAAAAAAAAAAAAAAAAAAAAAAAFAAAADwAAAAAAAAAAAAAAEBtxAAP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Pr8ACxn1gAwaM8AAAAAAAAAAAAAAAAAAAAAAAAAAAAAAAAAAAAAAEBtxAB/f38A5+bmA8zMzADAwP8Af39/AAAAAAAAAAAAAAAAAAAAAAAAAAAAIQAAABgAAAAUAAAAAAAAAAAAAAAASwAAMCoAABAAAAAmAAAACAAAAP//////////"/>
              </a:ext>
            </a:extLst>
          </p:cNvSpPr>
          <p:nvPr/>
        </p:nvSpPr>
        <p:spPr>
          <a:xfrm>
            <a:off x="0" y="0"/>
            <a:ext cx="12192000" cy="6858000"/>
          </a:xfrm>
          <a:prstGeom prst="rect">
            <a:avLst/>
          </a:prstGeom>
          <a:solidFill>
            <a:srgbClr val="F8FAFC"/>
          </a:solidFill>
          <a:ln>
            <a:noFill/>
          </a:ln>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p>
        </p:txBody>
      </p:sp>
      <p:sp>
        <p:nvSpPr>
          <p:cNvPr id="3" name="Rectangle 2"/>
          <p:cNvSpPr>
            <a:extLst>
              <a:ext uri="smNativeData">
                <pr:smNativeData xmlns:pr="smNativeData" xmlns="smNativeData" val="SMDATA_15_ceEnahMAAAAlAAAAZAAAAA0AAAAAkAAAAEgAAACQAAAASAAAAAAAAAABAAAAAAAAAAEAAABQAAAAAAAAAAAA4D8AAAAAAADgPwAAAAAAAOA/AAAAAAAA4D8AAAAAAADgPwAAAAAAAOA/AAAAAAAA4D8AAAAAAADgPwAAAAAAAOA/AAAAAAAA4D8CAAAAjAAAAAEAAAAAAAAADZNzACxn1gAAAAAAAAAAAAAAAAAAAAAAAAAAAAAAAAAAAAAAZAAAAAEAAABAAAAAAAAAAJz///9aAAAAAAAAAAEAAABQAAAAMGjPAAAAAAAAAAAAAAAAAAAAAAAAAAAAAAAAAAAAAAAAAAAAAAAAAAAAAAAAAAAAAAAAAAAAAAAAAAAAFAAAADwAAAAAAAAAAAAAAEBtxAAP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DZNzACxn1gAwaM8AAAAAAAAAAAAAAAAAAAAAAAAAAAAAAAAAAAAAAEBtxAB/f38A5+bmA8zMzADAwP8Af39/AAAAAAAAAAAAAAAAAAAAAAAAAAAAIQAAABgAAAAUAAAAYAMAAIgCAAAwBgAA3gIAABAAAAAmAAAACAAAAP//////////"/>
              </a:ext>
            </a:extLst>
          </p:cNvSpPr>
          <p:nvPr/>
        </p:nvSpPr>
        <p:spPr>
          <a:xfrm>
            <a:off x="548640" y="411480"/>
            <a:ext cx="457200" cy="54610"/>
          </a:xfrm>
          <a:prstGeom prst="rect">
            <a:avLst/>
          </a:prstGeom>
          <a:solidFill>
            <a:srgbClr val="0D9373"/>
          </a:solidFill>
          <a:ln>
            <a:noFill/>
          </a:ln>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p>
        </p:txBody>
      </p:sp>
      <p:sp>
        <p:nvSpPr>
          <p:cNvPr id="4" name="TextBox 3"/>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YAMAABgDAABgMAAAEAUAABAgAAAmAAAACAAAAP//////////"/>
              </a:ext>
            </a:extLst>
          </p:cNvSpPr>
          <p:nvPr/>
        </p:nvSpPr>
        <p:spPr>
          <a:xfrm>
            <a:off x="548640" y="502920"/>
            <a:ext cx="7315200" cy="320040"/>
          </a:xfrm>
          <a:prstGeom prst="rect">
            <a:avLst/>
          </a:prstGeom>
          <a:noFill/>
          <a:ln>
            <a:noFill/>
          </a:ln>
          <a:effectLst/>
        </p:spPr>
        <p:txBody>
          <a:bodyPr vert="horz" wrap="square" lIns="0" tIns="0" rIns="0" bIns="0" numCol="1" spcCol="215900" anchor="t"/>
          <a:lstStyle/>
          <a:p>
            <a:pPr algn="l">
              <a:defRPr lang="en-us"/>
            </a:pPr>
            <a:r>
              <a:rPr lang="en-us" sz="1100" b="1" cap="none">
                <a:solidFill>
                  <a:srgbClr val="0D9373"/>
                </a:solidFill>
              </a:rPr>
              <a:t>08 · MÉMOIRE</a:t>
            </a:r>
            <a:endParaRPr lang="en-us" sz="1100" b="1" cap="none">
              <a:solidFill>
                <a:srgbClr val="0D9373"/>
              </a:solidFill>
            </a:endParaRPr>
          </a:p>
        </p:txBody>
      </p:sp>
      <p:sp>
        <p:nvSpPr>
          <p:cNvPr id="5" name="TextBox 4"/>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YAMAAMgEAADgRgAASAkAABAgAAAmAAAACAAAAP//////////"/>
              </a:ext>
            </a:extLst>
          </p:cNvSpPr>
          <p:nvPr/>
        </p:nvSpPr>
        <p:spPr>
          <a:xfrm>
            <a:off x="548640" y="777240"/>
            <a:ext cx="10972800" cy="731520"/>
          </a:xfrm>
          <a:prstGeom prst="rect">
            <a:avLst/>
          </a:prstGeom>
          <a:noFill/>
          <a:ln>
            <a:noFill/>
          </a:ln>
          <a:effectLst/>
        </p:spPr>
        <p:txBody>
          <a:bodyPr vert="horz" wrap="square" lIns="0" tIns="0" rIns="0" bIns="0" numCol="1" spcCol="215900" anchor="t"/>
          <a:lstStyle/>
          <a:p>
            <a:pPr algn="l">
              <a:defRPr lang="en-us"/>
            </a:pPr>
            <a:r>
              <a:rPr lang="en-us" sz="3200" b="1" cap="none">
                <a:solidFill>
                  <a:srgbClr val="0F172A"/>
                </a:solidFill>
              </a:rPr>
              <a:t>Trois couches de persistance</a:t>
            </a:r>
            <a:endParaRPr lang="en-us" sz="3200" b="1" cap="none">
              <a:solidFill>
                <a:srgbClr val="0F172A"/>
              </a:solidFill>
            </a:endParaRPr>
          </a:p>
        </p:txBody>
      </p:sp>
      <p:sp>
        <p:nvSpPr>
          <p:cNvPr id="6" name="TextBox 5"/>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IA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YAMAALgIAADgRgAAiAsAABAgAAAmAAAACAAAAP//////////"/>
              </a:ext>
            </a:extLst>
          </p:cNvSpPr>
          <p:nvPr/>
        </p:nvSpPr>
        <p:spPr>
          <a:xfrm>
            <a:off x="548640" y="1417320"/>
            <a:ext cx="10972800" cy="457200"/>
          </a:xfrm>
          <a:prstGeom prst="rect">
            <a:avLst/>
          </a:prstGeom>
          <a:noFill/>
          <a:ln>
            <a:noFill/>
          </a:ln>
          <a:effectLst/>
        </p:spPr>
        <p:txBody>
          <a:bodyPr vert="horz" wrap="square" lIns="0" tIns="0" rIns="0" bIns="0" numCol="1" spcCol="215900" anchor="t"/>
          <a:lstStyle/>
          <a:p>
            <a:pPr algn="l">
              <a:defRPr lang="en-us"/>
            </a:pPr>
            <a:r>
              <a:rPr lang="en-us" sz="1400" cap="none">
                <a:solidFill>
                  <a:srgbClr val="475569"/>
                </a:solidFill>
              </a:rPr>
              <a:t>SQLite pour l'identité, Qdrant pour la sémantique, RAM pour la session.</a:t>
            </a:r>
            <a:endParaRPr lang="en-us" sz="1400" cap="none">
              <a:solidFill>
                <a:srgbClr val="475569"/>
              </a:solidFill>
            </a:endParaRPr>
          </a:p>
        </p:txBody>
      </p:sp>
      <p:sp>
        <p:nvSpPr>
          <p:cNvPr id="7" name="Rounded Rectangle 6"/>
          <p:cNvSpPr>
            <a:extLst>
              <a:ext uri="smNativeData">
                <pr:smNativeData xmlns:pr="smNativeData" xmlns="smNativeData" val="SMDATA_15_ceEnahMAAAAlAAAAZQAAAA0AAAAAkAAAAEgAAACQAAAASAAAAAAAAAABAAAAAAAAAAEAAABQAAAAhbacS3FV1T8AAAAAAADwvwAAAAAAAOA/AAAAAAAA4D8AAAAAAADgPwAAAAAAAOA/AAAAAAAA4D8AAAAAAADgPwAAAAAAAOA/AAAAAAAA4D8CAAAAjAAAAAEAAAAAAAAA////ACxn1gAAAAAAAAAAAAAAAAAAAAAAAAAAAAAAAAAAAAAAZAAAAAEAAABAAAAAAAAAAJz///9aAAAAAAAAAAEAAABQAAAAMGjPAAAAAAAAAAAAAAAAAAAAAAAAAAAAAAAAAAAAAAAAAAAAAAAAAAAAAAAAAAAAAAAAAAAAAAAAAAAAFAAAADwAAAABAAAAAAAAAOLo8AAP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G0AAM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Cxn1gAwaM8AAAAAAAAAAAAAAAAAAAAAAAAAAAAAAAAAAAAAAOLo8AB/f38A5+bmA8zMzADAwP8Af39/AAAAAAAAAAAAAAAAAAAAAAAAAAAAIQAAABgAAAAUAAAAKQMAAIANAABhGQAAsCUAABAAAAAmAAAACAAAAP//////////"/>
              </a:ext>
            </a:extLst>
          </p:cNvSpPr>
          <p:nvPr/>
        </p:nvSpPr>
        <p:spPr>
          <a:xfrm>
            <a:off x="513715" y="2194560"/>
            <a:ext cx="3611880" cy="3931920"/>
          </a:xfrm>
          <a:prstGeom prst="roundRect">
            <a:avLst>
              <a:gd name="adj" fmla="val 16667"/>
            </a:avLst>
          </a:prstGeom>
          <a:solidFill>
            <a:srgbClr val="FFFFFF"/>
          </a:solidFill>
          <a:ln w="9525" cap="flat" cmpd="sng" algn="ctr">
            <a:solidFill>
              <a:srgbClr val="E2E8F0"/>
            </a:solidFill>
            <a:prstDash val="solid"/>
            <a:headEnd type="none"/>
            <a:tailEnd type="none"/>
          </a:ln>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p>
        </p:txBody>
      </p:sp>
      <p:sp>
        <p:nvSpPr>
          <p:cNvPr id="8" name="Rectangle 7"/>
          <p:cNvSpPr>
            <a:extLst>
              <a:ext uri="smNativeData">
                <pr:smNativeData xmlns:pr="smNativeData" xmlns="smNativeData" val="SMDATA_15_ceEnahMAAAAlAAAAZAAAAA0AAAAAkAAAAEgAAACQAAAASAAAAAAAAAABAAAAAAAAAAEAAABQAAAAAAAAAAAA4D8AAAAAAADgPwAAAAAAAOA/AAAAAAAA4D8AAAAAAADgPwAAAAAAAOA/AAAAAAAA4D8AAAAAAADgPwAAAAAAAOA/AAAAAAAA4D8CAAAAjAAAAAEAAAAAAAAADZNzACxn1gAAAAAAAAAAAAAAAAAAAAAAAAAAAAAAAAAAAAAAZAAAAAEAAABAAAAAAAAAAJz///9aAAAAAAAAAAEAAABQAAAAMGjPAAAAAAAAAAAAAAAAAAAAAAAAAAAAAAAAAAAAAAAAAAAAAAAAAAAAAAAAAAAAAAAAAAAAAAAAAAAAFAAAADwAAAAAAAAAAAAAAEBtxAAP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2Dgk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DZNzACxn1gAwaM8AAAAAAAAAAAAAAAAAAAAAAAAAAAAAAAAAAAAAAEBtxAB/f38A5+bmA8zMzADAwP8Af39/AAAAAAAAAAAAAAAAAAAAAAAAAAAAIQAAABgAAAAUAAAAKQMAAIANAABhGQAAcBEAABAAAAAmAAAACAAAAP//////////"/>
              </a:ext>
            </a:extLst>
          </p:cNvSpPr>
          <p:nvPr/>
        </p:nvSpPr>
        <p:spPr>
          <a:xfrm>
            <a:off x="513715" y="2194560"/>
            <a:ext cx="3611880" cy="640080"/>
          </a:xfrm>
          <a:prstGeom prst="rect">
            <a:avLst/>
          </a:prstGeom>
          <a:solidFill>
            <a:srgbClr val="0D9373"/>
          </a:solidFill>
          <a:ln>
            <a:noFill/>
          </a:ln>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p>
        </p:txBody>
      </p:sp>
      <p:sp>
        <p:nvSpPr>
          <p:cNvPr id="9" name="TextBox 8"/>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2QQAAFgOAACxFwAAmBAAABAgAAAmAAAACAAAAP//////////"/>
              </a:ext>
            </a:extLst>
          </p:cNvSpPr>
          <p:nvPr/>
        </p:nvSpPr>
        <p:spPr>
          <a:xfrm>
            <a:off x="788035" y="2331720"/>
            <a:ext cx="3063240" cy="365760"/>
          </a:xfrm>
          <a:prstGeom prst="rect">
            <a:avLst/>
          </a:prstGeom>
          <a:noFill/>
          <a:ln>
            <a:noFill/>
          </a:ln>
          <a:effectLst/>
        </p:spPr>
        <p:txBody>
          <a:bodyPr vert="horz" wrap="square" lIns="0" tIns="0" rIns="0" bIns="0" numCol="1" spcCol="215900" anchor="t"/>
          <a:lstStyle/>
          <a:p>
            <a:pPr algn="l">
              <a:defRPr lang="en-us"/>
            </a:pPr>
            <a:r>
              <a:rPr lang="en-us" sz="1000" b="1" cap="none">
                <a:solidFill>
                  <a:srgbClr val="FFFFFF"/>
                </a:solidFill>
              </a:rPr>
              <a:t>COUCHE 1</a:t>
            </a:r>
            <a:endParaRPr lang="en-us" sz="1000" b="1" cap="none">
              <a:solidFill>
                <a:srgbClr val="FFFFFF"/>
              </a:solidFill>
            </a:endParaRPr>
          </a:p>
        </p:txBody>
      </p:sp>
      <p:sp>
        <p:nvSpPr>
          <p:cNvPr id="10" name="TextBox 9"/>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2QQAAEgSAACxFwAAGBUAABAgAAAmAAAACAAAAP//////////"/>
              </a:ext>
            </a:extLst>
          </p:cNvSpPr>
          <p:nvPr/>
        </p:nvSpPr>
        <p:spPr>
          <a:xfrm>
            <a:off x="788035" y="2971800"/>
            <a:ext cx="3063240" cy="457200"/>
          </a:xfrm>
          <a:prstGeom prst="rect">
            <a:avLst/>
          </a:prstGeom>
          <a:noFill/>
          <a:ln>
            <a:noFill/>
          </a:ln>
          <a:effectLst/>
        </p:spPr>
        <p:txBody>
          <a:bodyPr vert="horz" wrap="square" lIns="0" tIns="0" rIns="0" bIns="0" numCol="1" spcCol="215900" anchor="t"/>
          <a:lstStyle/>
          <a:p>
            <a:pPr algn="l">
              <a:defRPr lang="en-us"/>
            </a:pPr>
            <a:r>
              <a:rPr lang="en-us" sz="2000" b="1" cap="none">
                <a:solidFill>
                  <a:srgbClr val="0F172A"/>
                </a:solidFill>
              </a:rPr>
              <a:t>SQLite</a:t>
            </a:r>
            <a:endParaRPr lang="en-us" sz="2000" b="1" cap="none">
              <a:solidFill>
                <a:srgbClr val="0F172A"/>
              </a:solidFill>
            </a:endParaRPr>
          </a:p>
        </p:txBody>
      </p:sp>
      <p:sp>
        <p:nvSpPr>
          <p:cNvPr id="11" name="TextBox 10"/>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2QQAAGAVAACxFwAAoBcAABAgAAAmAAAACAAAAP//////////"/>
              </a:ext>
            </a:extLst>
          </p:cNvSpPr>
          <p:nvPr/>
        </p:nvSpPr>
        <p:spPr>
          <a:xfrm>
            <a:off x="788035" y="3474720"/>
            <a:ext cx="3063240" cy="365760"/>
          </a:xfrm>
          <a:prstGeom prst="rect">
            <a:avLst/>
          </a:prstGeom>
          <a:noFill/>
          <a:ln>
            <a:noFill/>
          </a:ln>
          <a:effectLst/>
        </p:spPr>
        <p:txBody>
          <a:bodyPr vert="horz" wrap="square" lIns="0" tIns="0" rIns="0" bIns="0" numCol="1" spcCol="215900" anchor="t"/>
          <a:lstStyle/>
          <a:p>
            <a:pPr algn="l">
              <a:defRPr lang="en-us"/>
            </a:pPr>
            <a:r>
              <a:rPr lang="en-us" sz="1100" cap="none">
                <a:solidFill>
                  <a:srgbClr val="475569"/>
                </a:solidFill>
                <a:latin typeface="Consolas" pitchFamily="3" charset="0"/>
                <a:ea typeface="Calibri" pitchFamily="2" charset="0"/>
                <a:cs typeface="Calibri" pitchFamily="2" charset="0"/>
              </a:rPr>
              <a:t>.memory_cache.db</a:t>
            </a:r>
            <a:endParaRPr lang="en-us" sz="1100" cap="none">
              <a:solidFill>
                <a:srgbClr val="475569"/>
              </a:solidFill>
              <a:latin typeface="Consolas" pitchFamily="3" charset="0"/>
              <a:ea typeface="Calibri" pitchFamily="2" charset="0"/>
              <a:cs typeface="Calibri" pitchFamily="2" charset="0"/>
            </a:endParaRPr>
          </a:p>
        </p:txBody>
      </p:sp>
      <p:sp>
        <p:nvSpPr>
          <p:cNvPr id="12" name="TextBox 11"/>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MXoA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2QQAAHgYAACxFwAAKBoAABAgAAAmAAAACAAAAP//////////"/>
              </a:ext>
            </a:extLst>
          </p:cNvSpPr>
          <p:nvPr/>
        </p:nvSpPr>
        <p:spPr>
          <a:xfrm>
            <a:off x="788035" y="3977640"/>
            <a:ext cx="3063240" cy="274320"/>
          </a:xfrm>
          <a:prstGeom prst="rect">
            <a:avLst/>
          </a:prstGeom>
          <a:noFill/>
          <a:ln>
            <a:noFill/>
          </a:ln>
          <a:effectLst/>
        </p:spPr>
        <p:txBody>
          <a:bodyPr vert="horz" wrap="square" lIns="0" tIns="0" rIns="0" bIns="0" numCol="1" spcCol="215900" anchor="t"/>
          <a:lstStyle/>
          <a:p>
            <a:pPr algn="l">
              <a:defRPr lang="en-us"/>
            </a:pPr>
            <a:r>
              <a:rPr lang="en-us" sz="900" b="1" cap="none">
                <a:solidFill>
                  <a:srgbClr val="475569"/>
                </a:solidFill>
              </a:rPr>
              <a:t>CONTENU</a:t>
            </a:r>
            <a:endParaRPr lang="en-us" sz="900" b="1" cap="none">
              <a:solidFill>
                <a:srgbClr val="475569"/>
              </a:solidFill>
            </a:endParaRPr>
          </a:p>
        </p:txBody>
      </p:sp>
      <p:sp>
        <p:nvSpPr>
          <p:cNvPr id="13" name="TextBox 12"/>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BwAHY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2QQAAHAaAACxFwAAaBwAABAgAAAmAAAACAAAAP//////////"/>
              </a:ext>
            </a:extLst>
          </p:cNvSpPr>
          <p:nvPr/>
        </p:nvSpPr>
        <p:spPr>
          <a:xfrm>
            <a:off x="788035" y="4297680"/>
            <a:ext cx="3063240" cy="320040"/>
          </a:xfrm>
          <a:prstGeom prst="rect">
            <a:avLst/>
          </a:prstGeom>
          <a:noFill/>
          <a:ln>
            <a:noFill/>
          </a:ln>
          <a:effectLst/>
        </p:spPr>
        <p:txBody>
          <a:bodyPr vert="horz" wrap="square" lIns="0" tIns="0" rIns="0" bIns="0" numCol="1" spcCol="215900" anchor="t"/>
          <a:lstStyle/>
          <a:p>
            <a:pPr algn="l">
              <a:defRPr lang="en-us"/>
            </a:pPr>
            <a:r>
              <a:rPr lang="en-us" sz="1100" cap="none">
                <a:solidFill>
                  <a:srgbClr val="0F172A"/>
                </a:solidFill>
              </a:rPr>
              <a:t>•  users</a:t>
            </a:r>
            <a:endParaRPr lang="en-us" sz="1100" cap="none">
              <a:solidFill>
                <a:srgbClr val="0F172A"/>
              </a:solidFill>
            </a:endParaRPr>
          </a:p>
        </p:txBody>
      </p:sp>
      <p:sp>
        <p:nvSpPr>
          <p:cNvPr id="14" name="TextBox 13"/>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2QQAAGgcAACxFwAAYB4AABAgAAAmAAAACAAAAP//////////"/>
              </a:ext>
            </a:extLst>
          </p:cNvSpPr>
          <p:nvPr/>
        </p:nvSpPr>
        <p:spPr>
          <a:xfrm>
            <a:off x="788035" y="4617720"/>
            <a:ext cx="3063240" cy="320040"/>
          </a:xfrm>
          <a:prstGeom prst="rect">
            <a:avLst/>
          </a:prstGeom>
          <a:noFill/>
          <a:ln>
            <a:noFill/>
          </a:ln>
          <a:effectLst/>
        </p:spPr>
        <p:txBody>
          <a:bodyPr vert="horz" wrap="square" lIns="0" tIns="0" rIns="0" bIns="0" numCol="1" spcCol="215900" anchor="t"/>
          <a:lstStyle/>
          <a:p>
            <a:pPr algn="l">
              <a:defRPr lang="en-us"/>
            </a:pPr>
            <a:r>
              <a:rPr lang="en-us" sz="1100" cap="none">
                <a:solidFill>
                  <a:srgbClr val="0F172A"/>
                </a:solidFill>
              </a:rPr>
              <a:t>•  user_projects</a:t>
            </a:r>
            <a:endParaRPr lang="en-us" sz="1100" cap="none">
              <a:solidFill>
                <a:srgbClr val="0F172A"/>
              </a:solidFill>
            </a:endParaRPr>
          </a:p>
        </p:txBody>
      </p:sp>
      <p:sp>
        <p:nvSpPr>
          <p:cNvPr id="15" name="TextBox 14"/>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2QQAAGAeAACxFwAAWCAAABAgAAAmAAAACAAAAP//////////"/>
              </a:ext>
            </a:extLst>
          </p:cNvSpPr>
          <p:nvPr/>
        </p:nvSpPr>
        <p:spPr>
          <a:xfrm>
            <a:off x="788035" y="4937760"/>
            <a:ext cx="3063240" cy="320040"/>
          </a:xfrm>
          <a:prstGeom prst="rect">
            <a:avLst/>
          </a:prstGeom>
          <a:noFill/>
          <a:ln>
            <a:noFill/>
          </a:ln>
          <a:effectLst/>
        </p:spPr>
        <p:txBody>
          <a:bodyPr vert="horz" wrap="square" lIns="0" tIns="0" rIns="0" bIns="0" numCol="1" spcCol="215900" anchor="t"/>
          <a:lstStyle/>
          <a:p>
            <a:pPr algn="l">
              <a:defRPr lang="en-us"/>
            </a:pPr>
            <a:r>
              <a:rPr lang="en-us" sz="1100" cap="none">
                <a:solidFill>
                  <a:srgbClr val="0F172A"/>
                </a:solidFill>
              </a:rPr>
              <a:t>•  scan_history (JSON)</a:t>
            </a:r>
            <a:endParaRPr lang="en-us" sz="1100" cap="none">
              <a:solidFill>
                <a:srgbClr val="0F172A"/>
              </a:solidFill>
            </a:endParaRPr>
          </a:p>
        </p:txBody>
      </p:sp>
      <p:sp>
        <p:nvSpPr>
          <p:cNvPr id="16" name="TextBox 15"/>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jECMo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2QQAAOggAACxFwAAaCUAABAgAAAmAAAACAAAAP//////////"/>
              </a:ext>
            </a:extLst>
          </p:cNvSpPr>
          <p:nvPr/>
        </p:nvSpPr>
        <p:spPr>
          <a:xfrm>
            <a:off x="788035" y="5349240"/>
            <a:ext cx="3063240" cy="731520"/>
          </a:xfrm>
          <a:prstGeom prst="rect">
            <a:avLst/>
          </a:prstGeom>
          <a:noFill/>
          <a:ln>
            <a:noFill/>
          </a:ln>
          <a:effectLst/>
        </p:spPr>
        <p:txBody>
          <a:bodyPr vert="horz" wrap="square" lIns="0" tIns="0" rIns="0" bIns="0" numCol="1" spcCol="215900" anchor="t"/>
          <a:lstStyle/>
          <a:p>
            <a:pPr algn="l">
              <a:defRPr lang="en-us"/>
            </a:pPr>
            <a:r>
              <a:rPr lang="en-us" sz="1100" cap="none">
                <a:solidFill>
                  <a:srgbClr val="475569"/>
                </a:solidFill>
              </a:rPr>
              <a:t>Identité utilisateurs, projets et</a:t>
            </a:r>
            <a:endParaRPr lang="en-us" sz="1100" cap="none">
              <a:solidFill>
                <a:srgbClr val="475569"/>
              </a:solidFill>
            </a:endParaRPr>
          </a:p>
          <a:p>
            <a:pPr algn="l">
              <a:defRPr lang="en-us"/>
            </a:pPr>
            <a:r>
              <a:rPr lang="en-us" sz="1100" cap="none">
                <a:solidFill>
                  <a:srgbClr val="475569"/>
                </a:solidFill>
              </a:rPr>
              <a:t>historique des scans.</a:t>
            </a:r>
            <a:endParaRPr lang="en-us" sz="1100" cap="none">
              <a:solidFill>
                <a:srgbClr val="475569"/>
              </a:solidFill>
            </a:endParaRPr>
          </a:p>
        </p:txBody>
      </p:sp>
      <p:sp>
        <p:nvSpPr>
          <p:cNvPr id="17" name="Rounded Rectangle 16"/>
          <p:cNvSpPr>
            <a:extLst>
              <a:ext uri="smNativeData">
                <pr:smNativeData xmlns:pr="smNativeData" xmlns="smNativeData" val="SMDATA_15_ceEnahMAAAAlAAAAZQAAAA0AAAAAkAAAAEgAAACQAAAASAAAAAAAAAABAAAAAAAAAAEAAABQAAAAhbacS3FV1T8AAAAAAADwvwAAAAAAAOA/AAAAAAAA4D8AAAAAAADgPwAAAAAAAOA/AAAAAAAA4D8AAAAAAADgPwAAAAAAAOA/AAAAAAAA4D8CAAAAjAAAAAEAAAAAAAAA////ACxn1gAAAAAAAAAAAAAAAAAAAAAAAAAAAAAAAAAAAAAAZAAAAAEAAABAAAAAAAAAAJz///9aAAAAAAAAAAEAAABQAAAAMGjPAAAAAAAAAAAAAAAAAAAAAAAAAAAAAAAAAAAAAAAAAAAAAAAAAAAAAAAAAAAAAAAAAAAAAAAAAAAAFAAAADwAAAABAAAAAAAAAOLo8AAP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CDTM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Cxn1gAwaM8AAAAAAAAAAAAAAAAAAAAAAAAAAAAAAAAAAAAAAOLo8AB/f38A5+bmA8zMzADAwP8Af39/AAAAAAAAAAAAAAAAAAAAAAAAAAAAIQAAABgAAAAUAAAAZBoAAIANAACcMAAAsCUAABAAAAAmAAAACAAAAP//////////"/>
              </a:ext>
            </a:extLst>
          </p:cNvSpPr>
          <p:nvPr/>
        </p:nvSpPr>
        <p:spPr>
          <a:xfrm>
            <a:off x="4290060" y="2194560"/>
            <a:ext cx="3611880" cy="3931920"/>
          </a:xfrm>
          <a:prstGeom prst="roundRect">
            <a:avLst>
              <a:gd name="adj" fmla="val 16667"/>
            </a:avLst>
          </a:prstGeom>
          <a:solidFill>
            <a:srgbClr val="FFFFFF"/>
          </a:solidFill>
          <a:ln w="9525" cap="flat" cmpd="sng" algn="ctr">
            <a:solidFill>
              <a:srgbClr val="E2E8F0"/>
            </a:solidFill>
            <a:prstDash val="solid"/>
            <a:headEnd type="none"/>
            <a:tailEnd type="none"/>
          </a:ln>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p>
        </p:txBody>
      </p:sp>
      <p:sp>
        <p:nvSpPr>
          <p:cNvPr id="18" name="Rectangle 17"/>
          <p:cNvSpPr>
            <a:extLst>
              <a:ext uri="smNativeData">
                <pr:smNativeData xmlns:pr="smNativeData" xmlns="smNativeData" val="SMDATA_15_ceEnahMAAAAlAAAAZAAAAA0AAAAAkAAAAEgAAACQAAAASAAAAAAAAAABAAAAAAAAAAEAAABQAAAAAAAAAAAA4D8AAAAAAADgPwAAAAAAAOA/AAAAAAAA4D8AAAAAAADgPwAAAAAAAOA/AAAAAAAA4D8AAAAAAADgPwAAAAAAAOA/AAAAAAAA4D8CAAAAjAAAAAEAAAAAAAAAfDrtACxn1gAAAAAAAAAAAAAAAAAAAAAAAAAAAAAAAAAAAAAAZAAAAAEAAABAAAAAAAAAAJz///9aAAAAAAAAAAEAAABQAAAAMGjPAAAAAAAAAAAAAAAAAAAAAAAAAAAAAAAAAAAAAAAAAAAAAAAAAAAAAAAAAAAAAAAAAAAAAAAAAAAAFAAAADwAAAAAAAAAAAAAAEBtxAAP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DY0Ev4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fDrtACxn1gAwaM8AAAAAAAAAAAAAAAAAAAAAAAAAAAAAAAAAAAAAAEBtxAB/f38A5+bmA8zMzADAwP8Af39/AAAAAAAAAAAAAAAAAAAAAAAAAAAAIQAAABgAAAAUAAAAZBoAAIANAACcMAAAcBEAABAAAAAmAAAACAAAAP//////////"/>
              </a:ext>
            </a:extLst>
          </p:cNvSpPr>
          <p:nvPr/>
        </p:nvSpPr>
        <p:spPr>
          <a:xfrm>
            <a:off x="4290060" y="2194560"/>
            <a:ext cx="3611880" cy="640080"/>
          </a:xfrm>
          <a:prstGeom prst="rect">
            <a:avLst/>
          </a:prstGeom>
          <a:solidFill>
            <a:srgbClr val="7C3AED"/>
          </a:solidFill>
          <a:ln>
            <a:noFill/>
          </a:ln>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p>
        </p:txBody>
      </p:sp>
      <p:sp>
        <p:nvSpPr>
          <p:cNvPr id="19" name="TextBox 18"/>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BACo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FBwAAFgOAADsLgAAmBAAABAgAAAmAAAACAAAAP//////////"/>
              </a:ext>
            </a:extLst>
          </p:cNvSpPr>
          <p:nvPr/>
        </p:nvSpPr>
        <p:spPr>
          <a:xfrm>
            <a:off x="4564380" y="2331720"/>
            <a:ext cx="3063240" cy="365760"/>
          </a:xfrm>
          <a:prstGeom prst="rect">
            <a:avLst/>
          </a:prstGeom>
          <a:noFill/>
          <a:ln>
            <a:noFill/>
          </a:ln>
          <a:effectLst/>
        </p:spPr>
        <p:txBody>
          <a:bodyPr vert="horz" wrap="square" lIns="0" tIns="0" rIns="0" bIns="0" numCol="1" spcCol="215900" anchor="t"/>
          <a:lstStyle/>
          <a:p>
            <a:pPr algn="l">
              <a:defRPr lang="en-us"/>
            </a:pPr>
            <a:r>
              <a:rPr lang="en-us" sz="1000" b="1" cap="none">
                <a:solidFill>
                  <a:srgbClr val="FFFFFF"/>
                </a:solidFill>
              </a:rPr>
              <a:t>COUCHE 2</a:t>
            </a:r>
            <a:endParaRPr lang="en-us" sz="1000" b="1" cap="none">
              <a:solidFill>
                <a:srgbClr val="FFFFFF"/>
              </a:solidFill>
            </a:endParaRPr>
          </a:p>
        </p:txBody>
      </p:sp>
      <p:sp>
        <p:nvSpPr>
          <p:cNvPr id="20" name="TextBox 19"/>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FBwAAEgSAADsLgAAGBUAABAgAAAmAAAACAAAAP//////////"/>
              </a:ext>
            </a:extLst>
          </p:cNvSpPr>
          <p:nvPr/>
        </p:nvSpPr>
        <p:spPr>
          <a:xfrm>
            <a:off x="4564380" y="2971800"/>
            <a:ext cx="3063240" cy="457200"/>
          </a:xfrm>
          <a:prstGeom prst="rect">
            <a:avLst/>
          </a:prstGeom>
          <a:noFill/>
          <a:ln>
            <a:noFill/>
          </a:ln>
          <a:effectLst/>
        </p:spPr>
        <p:txBody>
          <a:bodyPr vert="horz" wrap="square" lIns="0" tIns="0" rIns="0" bIns="0" numCol="1" spcCol="215900" anchor="t"/>
          <a:lstStyle/>
          <a:p>
            <a:pPr algn="l">
              <a:defRPr lang="en-us"/>
            </a:pPr>
            <a:r>
              <a:rPr lang="en-us" sz="2000" b="1" cap="none">
                <a:solidFill>
                  <a:srgbClr val="0F172A"/>
                </a:solidFill>
              </a:rPr>
              <a:t>Qdrant</a:t>
            </a:r>
            <a:endParaRPr lang="en-us" sz="2000" b="1" cap="none">
              <a:solidFill>
                <a:srgbClr val="0F172A"/>
              </a:solidFill>
            </a:endParaRPr>
          </a:p>
        </p:txBody>
      </p:sp>
      <p:sp>
        <p:nvSpPr>
          <p:cNvPr id="21" name="TextBox 20"/>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FBwAAGAVAADsLgAAoBcAABAgAAAmAAAACAAAAP//////////"/>
              </a:ext>
            </a:extLst>
          </p:cNvSpPr>
          <p:nvPr/>
        </p:nvSpPr>
        <p:spPr>
          <a:xfrm>
            <a:off x="4564380" y="3474720"/>
            <a:ext cx="3063240" cy="365760"/>
          </a:xfrm>
          <a:prstGeom prst="rect">
            <a:avLst/>
          </a:prstGeom>
          <a:noFill/>
          <a:ln>
            <a:noFill/>
          </a:ln>
          <a:effectLst/>
        </p:spPr>
        <p:txBody>
          <a:bodyPr vert="horz" wrap="square" lIns="0" tIns="0" rIns="0" bIns="0" numCol="1" spcCol="215900" anchor="t"/>
          <a:lstStyle/>
          <a:p>
            <a:pPr algn="l">
              <a:defRPr lang="en-us"/>
            </a:pPr>
            <a:r>
              <a:rPr lang="en-us" sz="1100" cap="none">
                <a:solidFill>
                  <a:srgbClr val="475569"/>
                </a:solidFill>
                <a:latin typeface="Consolas" pitchFamily="3" charset="0"/>
                <a:ea typeface="Calibri" pitchFamily="2" charset="0"/>
                <a:cs typeface="Calibri" pitchFamily="2" charset="0"/>
              </a:rPr>
              <a:t>vector store · 384 dim</a:t>
            </a:r>
            <a:endParaRPr lang="en-us" sz="1100" cap="none">
              <a:solidFill>
                <a:srgbClr val="475569"/>
              </a:solidFill>
              <a:latin typeface="Consolas" pitchFamily="3" charset="0"/>
              <a:ea typeface="Calibri" pitchFamily="2" charset="0"/>
              <a:cs typeface="Calibri" pitchFamily="2" charset="0"/>
            </a:endParaRPr>
          </a:p>
        </p:txBody>
      </p:sp>
      <p:sp>
        <p:nvSpPr>
          <p:cNvPr id="22" name="TextBox 21"/>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z6+P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FBwAAHgYAADsLgAAKBoAABAgAAAmAAAACAAAAP//////////"/>
              </a:ext>
            </a:extLst>
          </p:cNvSpPr>
          <p:nvPr/>
        </p:nvSpPr>
        <p:spPr>
          <a:xfrm>
            <a:off x="4564380" y="3977640"/>
            <a:ext cx="3063240" cy="274320"/>
          </a:xfrm>
          <a:prstGeom prst="rect">
            <a:avLst/>
          </a:prstGeom>
          <a:noFill/>
          <a:ln>
            <a:noFill/>
          </a:ln>
          <a:effectLst/>
        </p:spPr>
        <p:txBody>
          <a:bodyPr vert="horz" wrap="square" lIns="0" tIns="0" rIns="0" bIns="0" numCol="1" spcCol="215900" anchor="t"/>
          <a:lstStyle/>
          <a:p>
            <a:pPr algn="l">
              <a:defRPr lang="en-us"/>
            </a:pPr>
            <a:r>
              <a:rPr lang="en-us" sz="900" b="1" cap="none">
                <a:solidFill>
                  <a:srgbClr val="475569"/>
                </a:solidFill>
              </a:rPr>
              <a:t>CONTENU</a:t>
            </a:r>
            <a:endParaRPr lang="en-us" sz="900" b="1" cap="none">
              <a:solidFill>
                <a:srgbClr val="475569"/>
              </a:solidFill>
            </a:endParaRPr>
          </a:p>
        </p:txBody>
      </p:sp>
      <p:sp>
        <p:nvSpPr>
          <p:cNvPr id="23" name="TextBox 22"/>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z6+P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FBwAAHAaAADsLgAAaBwAABAgAAAmAAAACAAAAP//////////"/>
              </a:ext>
            </a:extLst>
          </p:cNvSpPr>
          <p:nvPr/>
        </p:nvSpPr>
        <p:spPr>
          <a:xfrm>
            <a:off x="4564380" y="4297680"/>
            <a:ext cx="3063240" cy="320040"/>
          </a:xfrm>
          <a:prstGeom prst="rect">
            <a:avLst/>
          </a:prstGeom>
          <a:noFill/>
          <a:ln>
            <a:noFill/>
          </a:ln>
          <a:effectLst/>
        </p:spPr>
        <p:txBody>
          <a:bodyPr vert="horz" wrap="square" lIns="0" tIns="0" rIns="0" bIns="0" numCol="1" spcCol="215900" anchor="t"/>
          <a:lstStyle/>
          <a:p>
            <a:pPr algn="l">
              <a:defRPr lang="en-us"/>
            </a:pPr>
            <a:r>
              <a:rPr lang="en-us" sz="1100" cap="none">
                <a:solidFill>
                  <a:srgbClr val="0F172A"/>
                </a:solidFill>
              </a:rPr>
              <a:t>•  vuln_patterns (Sentence-BERT)</a:t>
            </a:r>
            <a:endParaRPr lang="en-us" sz="1100" cap="none">
              <a:solidFill>
                <a:srgbClr val="0F172A"/>
              </a:solidFill>
            </a:endParaRPr>
          </a:p>
        </p:txBody>
      </p:sp>
      <p:sp>
        <p:nvSpPr>
          <p:cNvPr id="24" name="TextBox 23"/>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z6+P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FBwAAGgcAADsLgAAYB4AABAgAAAmAAAACAAAAP//////////"/>
              </a:ext>
            </a:extLst>
          </p:cNvSpPr>
          <p:nvPr/>
        </p:nvSpPr>
        <p:spPr>
          <a:xfrm>
            <a:off x="4564380" y="4617720"/>
            <a:ext cx="3063240" cy="320040"/>
          </a:xfrm>
          <a:prstGeom prst="rect">
            <a:avLst/>
          </a:prstGeom>
          <a:noFill/>
          <a:ln>
            <a:noFill/>
          </a:ln>
          <a:effectLst/>
        </p:spPr>
        <p:txBody>
          <a:bodyPr vert="horz" wrap="square" lIns="0" tIns="0" rIns="0" bIns="0" numCol="1" spcCol="215900" anchor="t"/>
          <a:lstStyle/>
          <a:p>
            <a:pPr algn="l">
              <a:defRPr lang="en-us"/>
            </a:pPr>
            <a:r>
              <a:rPr lang="en-us" sz="1100" cap="none">
                <a:solidFill>
                  <a:srgbClr val="0F172A"/>
                </a:solidFill>
              </a:rPr>
              <a:t>•  patches par CWE</a:t>
            </a:r>
            <a:endParaRPr lang="en-us" sz="1100" cap="none">
              <a:solidFill>
                <a:srgbClr val="0F172A"/>
              </a:solidFill>
            </a:endParaRPr>
          </a:p>
        </p:txBody>
      </p:sp>
      <p:sp>
        <p:nvSpPr>
          <p:cNvPr id="25" name="TextBox 24"/>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z6+P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FBwAAOggAADsLgAAaCUAABAgAAAmAAAACAAAAP//////////"/>
              </a:ext>
            </a:extLst>
          </p:cNvSpPr>
          <p:nvPr/>
        </p:nvSpPr>
        <p:spPr>
          <a:xfrm>
            <a:off x="4564380" y="5349240"/>
            <a:ext cx="3063240" cy="731520"/>
          </a:xfrm>
          <a:prstGeom prst="rect">
            <a:avLst/>
          </a:prstGeom>
          <a:noFill/>
          <a:ln>
            <a:noFill/>
          </a:ln>
          <a:effectLst/>
        </p:spPr>
        <p:txBody>
          <a:bodyPr vert="horz" wrap="square" lIns="0" tIns="0" rIns="0" bIns="0" numCol="1" spcCol="215900" anchor="t"/>
          <a:lstStyle/>
          <a:p>
            <a:pPr algn="l">
              <a:defRPr lang="en-us"/>
            </a:pPr>
            <a:r>
              <a:rPr lang="en-us" sz="1100" cap="none">
                <a:solidFill>
                  <a:srgbClr val="475569"/>
                </a:solidFill>
              </a:rPr>
              <a:t>RAG pour SemanticAnalyst &amp; Patcher.</a:t>
            </a:r>
            <a:endParaRPr lang="en-us" sz="1100" cap="none">
              <a:solidFill>
                <a:srgbClr val="475569"/>
              </a:solidFill>
            </a:endParaRPr>
          </a:p>
          <a:p>
            <a:pPr algn="l">
              <a:defRPr lang="en-us"/>
            </a:pPr>
            <a:r>
              <a:rPr lang="en-us" sz="1100" cap="none">
                <a:solidFill>
                  <a:srgbClr val="475569"/>
                </a:solidFill>
              </a:rPr>
              <a:t>Apprentissage des patches validés.</a:t>
            </a:r>
            <a:endParaRPr lang="en-us" sz="1100" cap="none">
              <a:solidFill>
                <a:srgbClr val="475569"/>
              </a:solidFill>
            </a:endParaRPr>
          </a:p>
        </p:txBody>
      </p:sp>
      <p:sp>
        <p:nvSpPr>
          <p:cNvPr id="26" name="Rounded Rectangle 25"/>
          <p:cNvSpPr>
            <a:extLst>
              <a:ext uri="smNativeData">
                <pr:smNativeData xmlns:pr="smNativeData" xmlns="smNativeData" val="SMDATA_15_ceEnahMAAAAlAAAAZQAAAA0AAAAAkAAAAEgAAACQAAAASAAAAAAAAAABAAAAAAAAAAEAAABQAAAAhbacS3FV1T8AAAAAAADwvwAAAAAAAOA/AAAAAAAA4D8AAAAAAADgPwAAAAAAAOA/AAAAAAAA4D8AAAAAAADgPwAAAAAAAOA/AAAAAAAA4D8CAAAAjAAAAAEAAAAAAAAA////ACxn1gAAAAAAAAAAAAAAAAAAAAAAAAAAAAAAAAAAAAAAZAAAAAEAAABAAAAAAAAAAJz///9aAAAAAAAAAAEAAABQAAAAMGjPAAAAAAAAAAAAAAAAAAAAAAAAAAAAAAAAAAAAAAAAAAAAAAAAAAAAAAAAAAAAAAAAAAAAAAAAAAAAFAAAADwAAAABAAAAAAAAAOLo8AAP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z6+P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Cxn1gAwaM8AAAAAAAAAAAAAAAAAAAAAAAAAAAAAAAAAAAAAAOLo8AB/f38A5+bmA8zMzADAwP8Af39/AAAAAAAAAAAAAAAAAAAAAAAAAAAAIQAAABgAAAAUAAAAnzEAAIANAADXRwAAsCUAABAAAAAmAAAACAAAAP//////////"/>
              </a:ext>
            </a:extLst>
          </p:cNvSpPr>
          <p:nvPr/>
        </p:nvSpPr>
        <p:spPr>
          <a:xfrm>
            <a:off x="8066405" y="2194560"/>
            <a:ext cx="3611880" cy="3931920"/>
          </a:xfrm>
          <a:prstGeom prst="roundRect">
            <a:avLst>
              <a:gd name="adj" fmla="val 16667"/>
            </a:avLst>
          </a:prstGeom>
          <a:solidFill>
            <a:srgbClr val="FFFFFF"/>
          </a:solidFill>
          <a:ln w="9525" cap="flat" cmpd="sng" algn="ctr">
            <a:solidFill>
              <a:srgbClr val="E2E8F0"/>
            </a:solidFill>
            <a:prstDash val="solid"/>
            <a:headEnd type="none"/>
            <a:tailEnd type="none"/>
          </a:ln>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p>
        </p:txBody>
      </p:sp>
      <p:sp>
        <p:nvSpPr>
          <p:cNvPr id="27" name="Rectangle 26"/>
          <p:cNvSpPr>
            <a:extLst>
              <a:ext uri="smNativeData">
                <pr:smNativeData xmlns:pr="smNativeData" xmlns="smNativeData" val="SMDATA_15_ceEnahMAAAAlAAAAZAAAAA0AAAAAkAAAAEgAAACQAAAASAAAAAAAAAABAAAAAAAAAAEAAABQAAAAAAAAAAAA4D8AAAAAAADgPwAAAAAAAOA/AAAAAAAA4D8AAAAAAADgPwAAAAAAAOA/AAAAAAAA4D8AAAAAAADgPwAAAAAAAOA/AAAAAAAA4D8CAAAAjAAAAAEAAAAAAAAAtFMJACxn1gAAAAAAAAAAAAAAAAAAAAAAAAAAAAAAAAAAAAAAZAAAAAEAAABAAAAAAAAAAJz///9aAAAAAAAAAAEAAABQAAAAMGjPAAAAAAAAAAAAAAAAAAAAAAAAAAAAAAAAAAAAAAAAAAAAAAAAAAAAAAAAAAAAAAAAAAAAAAAAAAAAFAAAADwAAAAAAAAAAAAAAEBtxAAP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z6+P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FMJACxn1gAwaM8AAAAAAAAAAAAAAAAAAAAAAAAAAAAAAAAAAAAAAEBtxAB/f38A5+bmA8zMzADAwP8Af39/AAAAAAAAAAAAAAAAAAAAAAAAAAAAIQAAABgAAAAUAAAAnzEAAIANAADXRwAAcBEAABAAAAAmAAAACAAAAP//////////"/>
              </a:ext>
            </a:extLst>
          </p:cNvSpPr>
          <p:nvPr/>
        </p:nvSpPr>
        <p:spPr>
          <a:xfrm>
            <a:off x="8066405" y="2194560"/>
            <a:ext cx="3611880" cy="640080"/>
          </a:xfrm>
          <a:prstGeom prst="rect">
            <a:avLst/>
          </a:prstGeom>
          <a:solidFill>
            <a:srgbClr val="B45309"/>
          </a:solidFill>
          <a:ln>
            <a:noFill/>
          </a:ln>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p>
        </p:txBody>
      </p:sp>
      <p:sp>
        <p:nvSpPr>
          <p:cNvPr id="28" name="TextBox 27"/>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z6+P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TzMAAFgOAAAnRgAAmBAAABAgAAAmAAAACAAAAP//////////"/>
              </a:ext>
            </a:extLst>
          </p:cNvSpPr>
          <p:nvPr/>
        </p:nvSpPr>
        <p:spPr>
          <a:xfrm>
            <a:off x="8340725" y="2331720"/>
            <a:ext cx="3063240" cy="365760"/>
          </a:xfrm>
          <a:prstGeom prst="rect">
            <a:avLst/>
          </a:prstGeom>
          <a:noFill/>
          <a:ln>
            <a:noFill/>
          </a:ln>
          <a:effectLst/>
        </p:spPr>
        <p:txBody>
          <a:bodyPr vert="horz" wrap="square" lIns="0" tIns="0" rIns="0" bIns="0" numCol="1" spcCol="215900" anchor="t"/>
          <a:lstStyle/>
          <a:p>
            <a:pPr algn="l">
              <a:defRPr lang="en-us"/>
            </a:pPr>
            <a:r>
              <a:rPr lang="en-us" sz="1000" b="1" cap="none">
                <a:solidFill>
                  <a:srgbClr val="FFFFFF"/>
                </a:solidFill>
              </a:rPr>
              <a:t>COUCHE 3</a:t>
            </a:r>
            <a:endParaRPr lang="en-us" sz="1000" b="1" cap="none">
              <a:solidFill>
                <a:srgbClr val="FFFFFF"/>
              </a:solidFill>
            </a:endParaRPr>
          </a:p>
        </p:txBody>
      </p:sp>
      <p:sp>
        <p:nvSpPr>
          <p:cNvPr id="29" name="TextBox 28"/>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z6+P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TzMAAEgSAAAnRgAAGBUAABAgAAAmAAAACAAAAP//////////"/>
              </a:ext>
            </a:extLst>
          </p:cNvSpPr>
          <p:nvPr/>
        </p:nvSpPr>
        <p:spPr>
          <a:xfrm>
            <a:off x="8340725" y="2971800"/>
            <a:ext cx="3063240" cy="457200"/>
          </a:xfrm>
          <a:prstGeom prst="rect">
            <a:avLst/>
          </a:prstGeom>
          <a:noFill/>
          <a:ln>
            <a:noFill/>
          </a:ln>
          <a:effectLst/>
        </p:spPr>
        <p:txBody>
          <a:bodyPr vert="horz" wrap="square" lIns="0" tIns="0" rIns="0" bIns="0" numCol="1" spcCol="215900" anchor="t"/>
          <a:lstStyle/>
          <a:p>
            <a:pPr algn="l">
              <a:defRPr lang="en-us"/>
            </a:pPr>
            <a:r>
              <a:rPr lang="en-us" sz="2000" b="1" cap="none">
                <a:solidFill>
                  <a:srgbClr val="0F172A"/>
                </a:solidFill>
              </a:rPr>
              <a:t>Session RAM</a:t>
            </a:r>
            <a:endParaRPr lang="en-us" sz="2000" b="1" cap="none">
              <a:solidFill>
                <a:srgbClr val="0F172A"/>
              </a:solidFill>
            </a:endParaRPr>
          </a:p>
        </p:txBody>
      </p:sp>
      <p:sp>
        <p:nvSpPr>
          <p:cNvPr id="30" name="TextBox 29"/>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z6+P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TzMAAGAVAAAnRgAAoBcAABAgAAAmAAAACAAAAP//////////"/>
              </a:ext>
            </a:extLst>
          </p:cNvSpPr>
          <p:nvPr/>
        </p:nvSpPr>
        <p:spPr>
          <a:xfrm>
            <a:off x="8340725" y="3474720"/>
            <a:ext cx="3063240" cy="365760"/>
          </a:xfrm>
          <a:prstGeom prst="rect">
            <a:avLst/>
          </a:prstGeom>
          <a:noFill/>
          <a:ln>
            <a:noFill/>
          </a:ln>
          <a:effectLst/>
        </p:spPr>
        <p:txBody>
          <a:bodyPr vert="horz" wrap="square" lIns="0" tIns="0" rIns="0" bIns="0" numCol="1" spcCol="215900" anchor="t"/>
          <a:lstStyle/>
          <a:p>
            <a:pPr algn="l">
              <a:defRPr lang="en-us"/>
            </a:pPr>
            <a:r>
              <a:rPr lang="en-us" sz="1100" cap="none">
                <a:solidFill>
                  <a:srgbClr val="475569"/>
                </a:solidFill>
                <a:latin typeface="Consolas" pitchFamily="3" charset="0"/>
                <a:ea typeface="Calibri" pitchFamily="2" charset="0"/>
                <a:cs typeface="Calibri" pitchFamily="2" charset="0"/>
              </a:rPr>
              <a:t>in-process</a:t>
            </a:r>
            <a:endParaRPr lang="en-us" sz="1100" cap="none">
              <a:solidFill>
                <a:srgbClr val="475569"/>
              </a:solidFill>
              <a:latin typeface="Consolas" pitchFamily="3" charset="0"/>
              <a:ea typeface="Calibri" pitchFamily="2" charset="0"/>
              <a:cs typeface="Calibri" pitchFamily="2" charset="0"/>
            </a:endParaRPr>
          </a:p>
        </p:txBody>
      </p:sp>
      <p:sp>
        <p:nvSpPr>
          <p:cNvPr id="31" name="TextBox 30"/>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z6+P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TzMAAHgYAAAnRgAAKBoAABAgAAAmAAAACAAAAP//////////"/>
              </a:ext>
            </a:extLst>
          </p:cNvSpPr>
          <p:nvPr/>
        </p:nvSpPr>
        <p:spPr>
          <a:xfrm>
            <a:off x="8340725" y="3977640"/>
            <a:ext cx="3063240" cy="274320"/>
          </a:xfrm>
          <a:prstGeom prst="rect">
            <a:avLst/>
          </a:prstGeom>
          <a:noFill/>
          <a:ln>
            <a:noFill/>
          </a:ln>
          <a:effectLst/>
        </p:spPr>
        <p:txBody>
          <a:bodyPr vert="horz" wrap="square" lIns="0" tIns="0" rIns="0" bIns="0" numCol="1" spcCol="215900" anchor="t"/>
          <a:lstStyle/>
          <a:p>
            <a:pPr algn="l">
              <a:defRPr lang="en-us"/>
            </a:pPr>
            <a:r>
              <a:rPr lang="en-us" sz="900" b="1" cap="none">
                <a:solidFill>
                  <a:srgbClr val="475569"/>
                </a:solidFill>
              </a:rPr>
              <a:t>CONTENU</a:t>
            </a:r>
            <a:endParaRPr lang="en-us" sz="900" b="1" cap="none">
              <a:solidFill>
                <a:srgbClr val="475569"/>
              </a:solidFill>
            </a:endParaRPr>
          </a:p>
        </p:txBody>
      </p:sp>
      <p:sp>
        <p:nvSpPr>
          <p:cNvPr id="32" name="TextBox 31"/>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z6+P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TzMAAHAaAAAnRgAAaBwAABAgAAAmAAAACAAAAP//////////"/>
              </a:ext>
            </a:extLst>
          </p:cNvSpPr>
          <p:nvPr/>
        </p:nvSpPr>
        <p:spPr>
          <a:xfrm>
            <a:off x="8340725" y="4297680"/>
            <a:ext cx="3063240" cy="320040"/>
          </a:xfrm>
          <a:prstGeom prst="rect">
            <a:avLst/>
          </a:prstGeom>
          <a:noFill/>
          <a:ln>
            <a:noFill/>
          </a:ln>
          <a:effectLst/>
        </p:spPr>
        <p:txBody>
          <a:bodyPr vert="horz" wrap="square" lIns="0" tIns="0" rIns="0" bIns="0" numCol="1" spcCol="215900" anchor="t"/>
          <a:lstStyle/>
          <a:p>
            <a:pPr algn="l">
              <a:defRPr lang="en-us"/>
            </a:pPr>
            <a:r>
              <a:rPr lang="en-us" sz="1100" cap="none">
                <a:solidFill>
                  <a:srgbClr val="0F172A"/>
                </a:solidFill>
              </a:rPr>
              <a:t>•  SessionMemory</a:t>
            </a:r>
            <a:endParaRPr lang="en-us" sz="1100" cap="none">
              <a:solidFill>
                <a:srgbClr val="0F172A"/>
              </a:solidFill>
            </a:endParaRPr>
          </a:p>
        </p:txBody>
      </p:sp>
      <p:sp>
        <p:nvSpPr>
          <p:cNvPr id="33" name="TextBox 32"/>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z6+P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TzMAAGgcAAAnRgAAYB4AABAgAAAmAAAACAAAAP//////////"/>
              </a:ext>
            </a:extLst>
          </p:cNvSpPr>
          <p:nvPr/>
        </p:nvSpPr>
        <p:spPr>
          <a:xfrm>
            <a:off x="8340725" y="4617720"/>
            <a:ext cx="3063240" cy="320040"/>
          </a:xfrm>
          <a:prstGeom prst="rect">
            <a:avLst/>
          </a:prstGeom>
          <a:noFill/>
          <a:ln>
            <a:noFill/>
          </a:ln>
          <a:effectLst/>
        </p:spPr>
        <p:txBody>
          <a:bodyPr vert="horz" wrap="square" lIns="0" tIns="0" rIns="0" bIns="0" numCol="1" spcCol="215900" anchor="t"/>
          <a:lstStyle/>
          <a:p>
            <a:pPr algn="l">
              <a:defRPr lang="en-us"/>
            </a:pPr>
            <a:r>
              <a:rPr lang="en-us" sz="1100" cap="none">
                <a:solidFill>
                  <a:srgbClr val="0F172A"/>
                </a:solidFill>
              </a:rPr>
              <a:t>•  non persistante</a:t>
            </a:r>
            <a:endParaRPr lang="en-us" sz="1100" cap="none">
              <a:solidFill>
                <a:srgbClr val="0F172A"/>
              </a:solidFill>
            </a:endParaRPr>
          </a:p>
        </p:txBody>
      </p:sp>
      <p:sp>
        <p:nvSpPr>
          <p:cNvPr id="34" name="TextBox 33"/>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z6+P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TzMAAOggAAAnRgAAaCUAABAgAAAmAAAACAAAAP//////////"/>
              </a:ext>
            </a:extLst>
          </p:cNvSpPr>
          <p:nvPr/>
        </p:nvSpPr>
        <p:spPr>
          <a:xfrm>
            <a:off x="8340725" y="5349240"/>
            <a:ext cx="3063240" cy="731520"/>
          </a:xfrm>
          <a:prstGeom prst="rect">
            <a:avLst/>
          </a:prstGeom>
          <a:noFill/>
          <a:ln>
            <a:noFill/>
          </a:ln>
          <a:effectLst/>
        </p:spPr>
        <p:txBody>
          <a:bodyPr vert="horz" wrap="square" lIns="0" tIns="0" rIns="0" bIns="0" numCol="1" spcCol="215900" anchor="t"/>
          <a:lstStyle/>
          <a:p>
            <a:pPr algn="l">
              <a:defRPr lang="en-us"/>
            </a:pPr>
            <a:r>
              <a:rPr lang="en-us" sz="1100" cap="none">
                <a:solidFill>
                  <a:srgbClr val="475569"/>
                </a:solidFill>
              </a:rPr>
              <a:t>Cache court terme dans le process</a:t>
            </a:r>
            <a:endParaRPr lang="en-us" sz="1100" cap="none">
              <a:solidFill>
                <a:srgbClr val="475569"/>
              </a:solidFill>
            </a:endParaRPr>
          </a:p>
          <a:p>
            <a:pPr algn="l">
              <a:defRPr lang="en-us"/>
            </a:pPr>
            <a:r>
              <a:rPr lang="en-us" sz="1100" cap="none">
                <a:solidFill>
                  <a:srgbClr val="475569"/>
                </a:solidFill>
              </a:rPr>
              <a:t>FastAPI pendant un scan.</a:t>
            </a:r>
            <a:endParaRPr lang="en-us" sz="1100" cap="none">
              <a:solidFill>
                <a:srgbClr val="475569"/>
              </a:solidFill>
            </a:endParaRPr>
          </a:p>
        </p:txBody>
      </p:sp>
      <p:sp>
        <p:nvSpPr>
          <p:cNvPr id="35" name="TextBox 34"/>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z6+P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YAMAAKgnAAAgJQAAWCkAABAgAAAmAAAACAAAAP//////////"/>
              </a:ext>
            </a:extLst>
          </p:cNvSpPr>
          <p:nvPr/>
        </p:nvSpPr>
        <p:spPr>
          <a:xfrm>
            <a:off x="548640" y="6446520"/>
            <a:ext cx="5486400" cy="274320"/>
          </a:xfrm>
          <a:prstGeom prst="rect">
            <a:avLst/>
          </a:prstGeom>
          <a:noFill/>
          <a:ln>
            <a:noFill/>
          </a:ln>
          <a:effectLst/>
        </p:spPr>
        <p:txBody>
          <a:bodyPr vert="horz" wrap="square" lIns="0" tIns="0" rIns="0" bIns="0" numCol="1" spcCol="215900" anchor="t"/>
          <a:lstStyle/>
          <a:p>
            <a:pPr algn="l">
              <a:defRPr lang="en-us"/>
            </a:pPr>
            <a:r>
              <a:rPr lang="en-us" sz="1000" cap="none">
                <a:solidFill>
                  <a:srgbClr val="475569"/>
                </a:solidFill>
              </a:rPr>
              <a:t>MAS — Multi-Agent Security Scanner</a:t>
            </a:r>
            <a:endParaRPr lang="en-us" sz="1000" cap="none">
              <a:solidFill>
                <a:srgbClr val="475569"/>
              </a:solidFill>
            </a:endParaRPr>
          </a:p>
        </p:txBody>
      </p:sp>
      <p:sp>
        <p:nvSpPr>
          <p:cNvPr id="36" name="TextBox 35"/>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z6+P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sEAAAKgnAABwRwAAWCkAABAgAAAmAAAACAAAAP//////////"/>
              </a:ext>
            </a:extLst>
          </p:cNvSpPr>
          <p:nvPr/>
        </p:nvSpPr>
        <p:spPr>
          <a:xfrm>
            <a:off x="10515600" y="6446520"/>
            <a:ext cx="1097280" cy="274320"/>
          </a:xfrm>
          <a:prstGeom prst="rect">
            <a:avLst/>
          </a:prstGeom>
          <a:noFill/>
          <a:ln>
            <a:noFill/>
          </a:ln>
          <a:effectLst/>
        </p:spPr>
        <p:txBody>
          <a:bodyPr vert="horz" wrap="square" lIns="0" tIns="0" rIns="0" bIns="0" numCol="1" spcCol="215900" anchor="t"/>
          <a:lstStyle/>
          <a:p>
            <a:pPr algn="r">
              <a:defRPr lang="en-us"/>
            </a:pPr>
            <a:r>
              <a:rPr lang="en-us" sz="1000" cap="none">
                <a:solidFill>
                  <a:srgbClr val="475569"/>
                </a:solidFill>
              </a:rPr>
              <a:t>9 / 11</a:t>
            </a:r>
            <a:endParaRPr lang="en-us" sz="1000" cap="none">
              <a:solidFill>
                <a:srgbClr val="475569"/>
              </a:solidFill>
            </a:endParaRPr>
          </a:p>
        </p:txBody>
      </p:sp>
    </p:spTree>
  </p:cSld>
  <p:clrMapOvr>
    <a:masterClrMapping/>
  </p:clrMapOvr>
  <p:timing>
    <p:tnLst>
      <p:par>
        <p:cTn id="1" dur="indefinite" restart="never" nodeType="tmRoot"/>
      </p:par>
    </p:tnLst>
  </p:timing>
</p:sld>
</file>

<file path=ppt/slides/slide10.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Rectangle 1"/>
          <p:cNvSpPr>
            <a:extLst>
              <a:ext uri="smNativeData">
                <pr:smNativeData xmlns:pr="smNativeData" xmlns="smNativeData" val="SMDATA_15_ceEnahMAAAAlAAAAZAAAAA0AAAAAkAAAAEgAAACQAAAASAAAAAAAAAABAAAAAAAAAAEAAABQAAAAAAAAAAAA4D8AAAAAAADgPwAAAAAAAOA/AAAAAAAA4D8AAAAAAADgPwAAAAAAAOA/AAAAAAAA4D8AAAAAAADgPwAAAAAAAOA/AAAAAAAA4D8CAAAAjAAAAAEAAAAAAAAA+Pr8ACxn1gAAAAAAAAAAAAAAAAAAAAAAAAAAAAAAAAAAAAAAZAAAAAEAAABAAAAAAAAAAJz///9aAAAAAAAAAAEAAABQAAAAMGjPAAAAAAAAAAAAAAAAAAAAAAAAAAAAAAAAAAAAAAAAAAAAAAAAAAAAAAAAAAAAAAAAAAAAAAAAAAAAFAAAADwAAAAAAAAAAAAAAEBtxAAP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z6+P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Pr8ACxn1gAwaM8AAAAAAAAAAAAAAAAAAAAAAAAAAAAAAAAAAAAAAEBtxAB/f38A5+bmA8zMzADAwP8Af39/AAAAAAAAAAAAAAAAAAAAAAAAAAAAIQAAABgAAAAUAAAAAAAAAAAAAAAASwAAMCoAABAAAAAmAAAACAAAAP//////////"/>
              </a:ext>
            </a:extLst>
          </p:cNvSpPr>
          <p:nvPr/>
        </p:nvSpPr>
        <p:spPr>
          <a:xfrm>
            <a:off x="0" y="0"/>
            <a:ext cx="12192000" cy="6858000"/>
          </a:xfrm>
          <a:prstGeom prst="rect">
            <a:avLst/>
          </a:prstGeom>
          <a:solidFill>
            <a:srgbClr val="F8FAFC"/>
          </a:solidFill>
          <a:ln>
            <a:noFill/>
          </a:ln>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p>
        </p:txBody>
      </p:sp>
      <p:sp>
        <p:nvSpPr>
          <p:cNvPr id="3" name="Rectangle 2"/>
          <p:cNvSpPr>
            <a:extLst>
              <a:ext uri="smNativeData">
                <pr:smNativeData xmlns:pr="smNativeData" xmlns="smNativeData" val="SMDATA_15_ceEnahMAAAAlAAAAZAAAAA0AAAAAkAAAAEgAAACQAAAASAAAAAAAAAABAAAAAAAAAAEAAABQAAAAAAAAAAAA4D8AAAAAAADgPwAAAAAAAOA/AAAAAAAA4D8AAAAAAADgPwAAAAAAAOA/AAAAAAAA4D8AAAAAAADgPwAAAAAAAOA/AAAAAAAA4D8CAAAAjAAAAAEAAAAAAAAADZNzACxn1gAAAAAAAAAAAAAAAAAAAAAAAAAAAAAAAAAAAAAAZAAAAAEAAABAAAAAAAAAAJz///9aAAAAAAAAAAEAAABQAAAAMGjPAAAAAAAAAAAAAAAAAAAAAAAAAAAAAAAAAAAAAAAAAAAAAAAAAAAAAAAAAAAAAAAAAAAAAAAAAAAAFAAAADwAAAAAAAAAAAAAAEBtxAAP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z6+P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DZNzACxn1gAwaM8AAAAAAAAAAAAAAAAAAAAAAAAAAAAAAAAAAAAAAEBtxAB/f38A5+bmA8zMzADAwP8Af39/AAAAAAAAAAAAAAAAAAAAAAAAAAAAIQAAABgAAAAUAAAAYAMAAIgCAAAwBgAA3gIAABAAAAAmAAAACAAAAP//////////"/>
              </a:ext>
            </a:extLst>
          </p:cNvSpPr>
          <p:nvPr/>
        </p:nvSpPr>
        <p:spPr>
          <a:xfrm>
            <a:off x="548640" y="411480"/>
            <a:ext cx="457200" cy="54610"/>
          </a:xfrm>
          <a:prstGeom prst="rect">
            <a:avLst/>
          </a:prstGeom>
          <a:solidFill>
            <a:srgbClr val="0D9373"/>
          </a:solidFill>
          <a:ln>
            <a:noFill/>
          </a:ln>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p>
        </p:txBody>
      </p:sp>
      <p:sp>
        <p:nvSpPr>
          <p:cNvPr id="4" name="TextBox 3"/>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z6+P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YAMAABgDAABgMAAAEAUAABAgAAAmAAAACAAAAP//////////"/>
              </a:ext>
            </a:extLst>
          </p:cNvSpPr>
          <p:nvPr/>
        </p:nvSpPr>
        <p:spPr>
          <a:xfrm>
            <a:off x="548640" y="502920"/>
            <a:ext cx="7315200" cy="320040"/>
          </a:xfrm>
          <a:prstGeom prst="rect">
            <a:avLst/>
          </a:prstGeom>
          <a:noFill/>
          <a:ln>
            <a:noFill/>
          </a:ln>
          <a:effectLst/>
        </p:spPr>
        <p:txBody>
          <a:bodyPr vert="horz" wrap="square" lIns="0" tIns="0" rIns="0" bIns="0" numCol="1" spcCol="215900" anchor="t"/>
          <a:lstStyle/>
          <a:p>
            <a:pPr algn="l">
              <a:defRPr lang="en-us"/>
            </a:pPr>
            <a:r>
              <a:rPr lang="en-us" sz="1100" b="1" cap="none">
                <a:solidFill>
                  <a:srgbClr val="0D9373"/>
                </a:solidFill>
              </a:rPr>
              <a:t>09 · STACK</a:t>
            </a:r>
            <a:endParaRPr lang="en-us" sz="1100" b="1" cap="none">
              <a:solidFill>
                <a:srgbClr val="0D9373"/>
              </a:solidFill>
            </a:endParaRPr>
          </a:p>
        </p:txBody>
      </p:sp>
      <p:sp>
        <p:nvSpPr>
          <p:cNvPr id="5" name="TextBox 4"/>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z6+P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YAMAAMgEAADgRgAASAkAABAgAAAmAAAACAAAAP//////////"/>
              </a:ext>
            </a:extLst>
          </p:cNvSpPr>
          <p:nvPr/>
        </p:nvSpPr>
        <p:spPr>
          <a:xfrm>
            <a:off x="548640" y="777240"/>
            <a:ext cx="10972800" cy="731520"/>
          </a:xfrm>
          <a:prstGeom prst="rect">
            <a:avLst/>
          </a:prstGeom>
          <a:noFill/>
          <a:ln>
            <a:noFill/>
          </a:ln>
          <a:effectLst/>
        </p:spPr>
        <p:txBody>
          <a:bodyPr vert="horz" wrap="square" lIns="0" tIns="0" rIns="0" bIns="0" numCol="1" spcCol="215900" anchor="t"/>
          <a:lstStyle/>
          <a:p>
            <a:pPr algn="l">
              <a:defRPr lang="en-us"/>
            </a:pPr>
            <a:r>
              <a:rPr lang="en-us" sz="3200" b="1" cap="none">
                <a:solidFill>
                  <a:srgbClr val="0F172A"/>
                </a:solidFill>
              </a:rPr>
              <a:t>Technologies utilisées</a:t>
            </a:r>
            <a:endParaRPr lang="en-us" sz="3200" b="1" cap="none">
              <a:solidFill>
                <a:srgbClr val="0F172A"/>
              </a:solidFill>
            </a:endParaRPr>
          </a:p>
        </p:txBody>
      </p:sp>
      <p:sp>
        <p:nvSpPr>
          <p:cNvPr id="6" name="TextBox 5"/>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z6+P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YAMAALgIAADgRgAAiAsAABAgAAAmAAAACAAAAP//////////"/>
              </a:ext>
            </a:extLst>
          </p:cNvSpPr>
          <p:nvPr/>
        </p:nvSpPr>
        <p:spPr>
          <a:xfrm>
            <a:off x="548640" y="1417320"/>
            <a:ext cx="10972800" cy="457200"/>
          </a:xfrm>
          <a:prstGeom prst="rect">
            <a:avLst/>
          </a:prstGeom>
          <a:noFill/>
          <a:ln>
            <a:noFill/>
          </a:ln>
          <a:effectLst/>
        </p:spPr>
        <p:txBody>
          <a:bodyPr vert="horz" wrap="square" lIns="0" tIns="0" rIns="0" bIns="0" numCol="1" spcCol="215900" anchor="t"/>
          <a:lstStyle/>
          <a:p>
            <a:pPr algn="l">
              <a:defRPr lang="en-us"/>
            </a:pPr>
            <a:r>
              <a:rPr lang="en-us" sz="1400" cap="none">
                <a:solidFill>
                  <a:srgbClr val="475569"/>
                </a:solidFill>
              </a:rPr>
              <a:t>Choix techniques et leur rôle dans le pipeline.</a:t>
            </a:r>
            <a:endParaRPr lang="en-us" sz="1400" cap="none">
              <a:solidFill>
                <a:srgbClr val="475569"/>
              </a:solidFill>
            </a:endParaRPr>
          </a:p>
        </p:txBody>
      </p:sp>
      <p:sp>
        <p:nvSpPr>
          <p:cNvPr id="7" name="Rounded Rectangle 6"/>
          <p:cNvSpPr>
            <a:extLst>
              <a:ext uri="smNativeData">
                <pr:smNativeData xmlns:pr="smNativeData" xmlns="smNativeData" val="SMDATA_15_ceEnahMAAAAlAAAAZQAAAA0AAAAAkAAAAEgAAACQAAAASAAAAAAAAAABAAAAAAAAAAEAAABQAAAAhbacS3FV1T8AAAAAAADwvwAAAAAAAOA/AAAAAAAA4D8AAAAAAADgPwAAAAAAAOA/AAAAAAAA4D8AAAAAAADgPwAAAAAAAOA/AAAAAAAA4D8CAAAAjAAAAAEAAAAAAAAA////ACxn1gAAAAAAAAAAAAAAAAAAAAAAAAAAAAAAAAAAAAAAZAAAAAEAAABAAAAAAAAAAJz///9aAAAAAAAAAAEAAABQAAAAMGjPAAAAAAAAAAAAAAAAAAAAAAAAAAAAAAAAAAAAAAAAAAAAAAAAAAAAAAAAAAAAAAAAAAAAAAAAAAAAFAAAADwAAAABAAAAAAAAAOLo8AAP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z6+P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Cxn1gAwaM8AAAAAAAAAAAAAAAAAAAAAAAAAAAAAAAAAAAAAAOLo8AB/f38A5+bmA8zMzADAwP8Af39/AAAAAAAAAAAAAAAAAAAAAAAAAAAAIQAAABgAAAAUAAAA6AIAAIANAABoGQAACBkAABAAAAAmAAAACAAAAP//////////"/>
              </a:ext>
            </a:extLst>
          </p:cNvSpPr>
          <p:nvPr/>
        </p:nvSpPr>
        <p:spPr>
          <a:xfrm>
            <a:off x="472440" y="2194560"/>
            <a:ext cx="3657600" cy="1874520"/>
          </a:xfrm>
          <a:prstGeom prst="roundRect">
            <a:avLst>
              <a:gd name="adj" fmla="val 16667"/>
            </a:avLst>
          </a:prstGeom>
          <a:solidFill>
            <a:srgbClr val="FFFFFF"/>
          </a:solidFill>
          <a:ln w="9525" cap="flat" cmpd="sng" algn="ctr">
            <a:solidFill>
              <a:srgbClr val="E2E8F0"/>
            </a:solidFill>
            <a:prstDash val="solid"/>
            <a:headEnd type="none"/>
            <a:tailEnd type="none"/>
          </a:ln>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p>
        </p:txBody>
      </p:sp>
      <p:sp>
        <p:nvSpPr>
          <p:cNvPr id="8" name="TextBox 8"/>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z6+P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4AQAADAPAAAAGAAAABIAABAgAAAmAAAACAAAAP//////////"/>
              </a:ext>
            </a:extLst>
          </p:cNvSpPr>
          <p:nvPr/>
        </p:nvSpPr>
        <p:spPr>
          <a:xfrm>
            <a:off x="792480" y="2468880"/>
            <a:ext cx="3108960" cy="457200"/>
          </a:xfrm>
          <a:prstGeom prst="rect">
            <a:avLst/>
          </a:prstGeom>
          <a:noFill/>
          <a:ln>
            <a:noFill/>
          </a:ln>
          <a:effectLst/>
        </p:spPr>
        <p:txBody>
          <a:bodyPr vert="horz" wrap="square" lIns="0" tIns="0" rIns="0" bIns="0" numCol="1" spcCol="215900" anchor="t"/>
          <a:lstStyle/>
          <a:p>
            <a:pPr algn="l">
              <a:defRPr lang="en-us"/>
            </a:pPr>
            <a:r>
              <a:rPr lang="en-us" sz="1700" b="1" cap="none">
                <a:solidFill>
                  <a:srgbClr val="0F172A"/>
                </a:solidFill>
              </a:rPr>
              <a:t>FastAPI</a:t>
            </a:r>
            <a:endParaRPr lang="en-us" sz="1700" b="1" cap="none">
              <a:solidFill>
                <a:srgbClr val="0F172A"/>
              </a:solidFill>
            </a:endParaRPr>
          </a:p>
        </p:txBody>
      </p:sp>
      <p:sp>
        <p:nvSpPr>
          <p:cNvPr id="9" name="TextBox 9"/>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z6+P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4AQAAAASAAAAGAAA+BMAABAgAAAmAAAACAAAAP//////////"/>
              </a:ext>
            </a:extLst>
          </p:cNvSpPr>
          <p:nvPr/>
        </p:nvSpPr>
        <p:spPr>
          <a:xfrm>
            <a:off x="792480" y="2926080"/>
            <a:ext cx="3108960" cy="320040"/>
          </a:xfrm>
          <a:prstGeom prst="rect">
            <a:avLst/>
          </a:prstGeom>
          <a:noFill/>
          <a:ln>
            <a:noFill/>
          </a:ln>
          <a:effectLst/>
        </p:spPr>
        <p:txBody>
          <a:bodyPr vert="horz" wrap="square" lIns="0" tIns="0" rIns="0" bIns="0" numCol="1" spcCol="215900" anchor="t"/>
          <a:lstStyle/>
          <a:p>
            <a:pPr algn="l">
              <a:defRPr lang="en-us"/>
            </a:pPr>
            <a:r>
              <a:rPr lang="en-us" sz="1000" b="1" cap="none">
                <a:solidFill>
                  <a:srgbClr val="0D9373"/>
                </a:solidFill>
                <a:latin typeface="Consolas" pitchFamily="3" charset="0"/>
                <a:ea typeface="Calibri" pitchFamily="2" charset="0"/>
                <a:cs typeface="Calibri" pitchFamily="2" charset="0"/>
              </a:rPr>
              <a:t>v 0.136</a:t>
            </a:r>
            <a:endParaRPr lang="en-us" sz="1000" b="1" cap="none">
              <a:solidFill>
                <a:srgbClr val="0D9373"/>
              </a:solidFill>
              <a:latin typeface="Consolas" pitchFamily="3" charset="0"/>
              <a:ea typeface="Calibri" pitchFamily="2" charset="0"/>
              <a:cs typeface="Calibri" pitchFamily="2" charset="0"/>
            </a:endParaRPr>
          </a:p>
        </p:txBody>
      </p:sp>
      <p:sp>
        <p:nvSpPr>
          <p:cNvPr id="10" name="TextBox 10"/>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z6+P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4AQAAEAUAAAAGAAAwBgAABAgAAAmAAAACAAAAP//////////"/>
              </a:ext>
            </a:extLst>
          </p:cNvSpPr>
          <p:nvPr/>
        </p:nvSpPr>
        <p:spPr>
          <a:xfrm>
            <a:off x="792480" y="3291840"/>
            <a:ext cx="3108960" cy="731520"/>
          </a:xfrm>
          <a:prstGeom prst="rect">
            <a:avLst/>
          </a:prstGeom>
          <a:noFill/>
          <a:ln>
            <a:noFill/>
          </a:ln>
          <a:effectLst/>
        </p:spPr>
        <p:txBody>
          <a:bodyPr vert="horz" wrap="square" lIns="0" tIns="0" rIns="0" bIns="0" numCol="1" spcCol="215900" anchor="t"/>
          <a:lstStyle/>
          <a:p>
            <a:pPr algn="l">
              <a:defRPr lang="en-us"/>
            </a:pPr>
            <a:r>
              <a:rPr lang="en-us" sz="1100" cap="none">
                <a:solidFill>
                  <a:srgbClr val="475569"/>
                </a:solidFill>
              </a:rPr>
              <a:t>API REST asynchrone avec</a:t>
            </a:r>
            <a:endParaRPr lang="en-us" sz="1100" cap="none">
              <a:solidFill>
                <a:srgbClr val="475569"/>
              </a:solidFill>
            </a:endParaRPr>
          </a:p>
          <a:p>
            <a:pPr algn="l">
              <a:defRPr lang="en-us"/>
            </a:pPr>
            <a:r>
              <a:rPr lang="en-us" sz="1100" cap="none">
                <a:solidFill>
                  <a:srgbClr val="475569"/>
                </a:solidFill>
              </a:rPr>
              <a:t>background tasks</a:t>
            </a:r>
            <a:endParaRPr lang="en-us" sz="1100" cap="none">
              <a:solidFill>
                <a:srgbClr val="475569"/>
              </a:solidFill>
            </a:endParaRPr>
          </a:p>
        </p:txBody>
      </p:sp>
      <p:sp>
        <p:nvSpPr>
          <p:cNvPr id="11" name="Rounded Rectangle 11"/>
          <p:cNvSpPr>
            <a:extLst>
              <a:ext uri="smNativeData">
                <pr:smNativeData xmlns:pr="smNativeData" xmlns="smNativeData" val="SMDATA_15_ceEnahMAAAAlAAAAZQAAAA0AAAAAkAAAAEgAAACQAAAASAAAAAAAAAABAAAAAAAAAAEAAABQAAAAhbacS3FV1T8AAAAAAADwvwAAAAAAAOA/AAAAAAAA4D8AAAAAAADgPwAAAAAAAOA/AAAAAAAA4D8AAAAAAADgPwAAAAAAAOA/AAAAAAAA4D8CAAAAjAAAAAEAAAAAAAAA////ACxn1gAAAAAAAAAAAAAAAAAAAAAAAAAAAAAAAAAAAAAAZAAAAAEAAABAAAAAAAAAAJz///9aAAAAAAAAAAEAAABQAAAAMGjPAAAAAAAAAAAAAAAAAAAAAAAAAAAAAAAAAAAAAAAAAAAAAAAAAAAAAAAAAAAAAAAAAAAAAAAAAAAAFAAAADwAAAABAAAAAAAAAOLo8AAP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z6+P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Cxn1gAwaM8AAAAAAAAAAAAAAAAAAAAAAAAAAAAAAAAAAAAAAOLo8AB/f38A5+bmA8zMzADAwP8Af39/AAAAAAAAAAAAAAAAAAAAAAAAAAAAIQAAABgAAAAUAAAAQBoAAIANAADAMAAACBkAABAAAAAmAAAACAAAAP//////////"/>
              </a:ext>
            </a:extLst>
          </p:cNvSpPr>
          <p:nvPr/>
        </p:nvSpPr>
        <p:spPr>
          <a:xfrm>
            <a:off x="4267200" y="2194560"/>
            <a:ext cx="3657600" cy="1874520"/>
          </a:xfrm>
          <a:prstGeom prst="roundRect">
            <a:avLst>
              <a:gd name="adj" fmla="val 16667"/>
            </a:avLst>
          </a:prstGeom>
          <a:solidFill>
            <a:srgbClr val="FFFFFF"/>
          </a:solidFill>
          <a:ln w="9525" cap="flat" cmpd="sng" algn="ctr">
            <a:solidFill>
              <a:srgbClr val="E2E8F0"/>
            </a:solidFill>
            <a:prstDash val="solid"/>
            <a:headEnd type="none"/>
            <a:tailEnd type="none"/>
          </a:ln>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p>
        </p:txBody>
      </p:sp>
      <p:sp>
        <p:nvSpPr>
          <p:cNvPr id="12" name="TextBox 13"/>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z6+P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OBwAADAPAABYLwAAABIAABAgAAAmAAAACAAAAP//////////"/>
              </a:ext>
            </a:extLst>
          </p:cNvSpPr>
          <p:nvPr/>
        </p:nvSpPr>
        <p:spPr>
          <a:xfrm>
            <a:off x="4587240" y="2468880"/>
            <a:ext cx="3108960" cy="457200"/>
          </a:xfrm>
          <a:prstGeom prst="rect">
            <a:avLst/>
          </a:prstGeom>
          <a:noFill/>
          <a:ln>
            <a:noFill/>
          </a:ln>
          <a:effectLst/>
        </p:spPr>
        <p:txBody>
          <a:bodyPr vert="horz" wrap="square" lIns="0" tIns="0" rIns="0" bIns="0" numCol="1" spcCol="215900" anchor="t"/>
          <a:lstStyle/>
          <a:p>
            <a:pPr algn="l">
              <a:defRPr lang="en-us"/>
            </a:pPr>
            <a:r>
              <a:rPr lang="en-us" sz="1700" b="1" cap="none">
                <a:solidFill>
                  <a:srgbClr val="0F172A"/>
                </a:solidFill>
              </a:rPr>
              <a:t>LangGraph</a:t>
            </a:r>
            <a:endParaRPr lang="en-us" sz="1700" b="1" cap="none">
              <a:solidFill>
                <a:srgbClr val="0F172A"/>
              </a:solidFill>
            </a:endParaRPr>
          </a:p>
        </p:txBody>
      </p:sp>
      <p:sp>
        <p:nvSpPr>
          <p:cNvPr id="13" name="TextBox 14"/>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z6+P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OBwAAAASAABYLwAA+BMAABAgAAAmAAAACAAAAP//////////"/>
              </a:ext>
            </a:extLst>
          </p:cNvSpPr>
          <p:nvPr/>
        </p:nvSpPr>
        <p:spPr>
          <a:xfrm>
            <a:off x="4587240" y="2926080"/>
            <a:ext cx="3108960" cy="320040"/>
          </a:xfrm>
          <a:prstGeom prst="rect">
            <a:avLst/>
          </a:prstGeom>
          <a:noFill/>
          <a:ln>
            <a:noFill/>
          </a:ln>
          <a:effectLst/>
        </p:spPr>
        <p:txBody>
          <a:bodyPr vert="horz" wrap="square" lIns="0" tIns="0" rIns="0" bIns="0" numCol="1" spcCol="215900" anchor="t"/>
          <a:lstStyle/>
          <a:p>
            <a:pPr algn="l">
              <a:defRPr lang="en-us"/>
            </a:pPr>
            <a:r>
              <a:rPr lang="en-us" sz="1000" b="1" cap="none">
                <a:solidFill>
                  <a:srgbClr val="7C3AED"/>
                </a:solidFill>
                <a:latin typeface="Consolas" pitchFamily="3" charset="0"/>
                <a:ea typeface="Calibri" pitchFamily="2" charset="0"/>
                <a:cs typeface="Calibri" pitchFamily="2" charset="0"/>
              </a:rPr>
              <a:t>v 1.2</a:t>
            </a:r>
            <a:endParaRPr lang="en-us" sz="1000" b="1" cap="none">
              <a:solidFill>
                <a:srgbClr val="7C3AED"/>
              </a:solidFill>
              <a:latin typeface="Consolas" pitchFamily="3" charset="0"/>
              <a:ea typeface="Calibri" pitchFamily="2" charset="0"/>
              <a:cs typeface="Calibri" pitchFamily="2" charset="0"/>
            </a:endParaRPr>
          </a:p>
        </p:txBody>
      </p:sp>
      <p:sp>
        <p:nvSpPr>
          <p:cNvPr id="14" name="TextBox 15"/>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z6+P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OBwAAEAUAABYLwAAwBgAABAgAAAmAAAACAAAAP//////////"/>
              </a:ext>
            </a:extLst>
          </p:cNvSpPr>
          <p:nvPr/>
        </p:nvSpPr>
        <p:spPr>
          <a:xfrm>
            <a:off x="4587240" y="3291840"/>
            <a:ext cx="3108960" cy="731520"/>
          </a:xfrm>
          <a:prstGeom prst="rect">
            <a:avLst/>
          </a:prstGeom>
          <a:noFill/>
          <a:ln>
            <a:noFill/>
          </a:ln>
          <a:effectLst/>
        </p:spPr>
        <p:txBody>
          <a:bodyPr vert="horz" wrap="square" lIns="0" tIns="0" rIns="0" bIns="0" numCol="1" spcCol="215900" anchor="t"/>
          <a:lstStyle/>
          <a:p>
            <a:pPr algn="l">
              <a:defRPr lang="en-us"/>
            </a:pPr>
            <a:r>
              <a:rPr lang="en-us" sz="1100" cap="none">
                <a:solidFill>
                  <a:srgbClr val="475569"/>
                </a:solidFill>
              </a:rPr>
              <a:t>Orchestration conditionnelle</a:t>
            </a:r>
            <a:endParaRPr lang="en-us" sz="1100" cap="none">
              <a:solidFill>
                <a:srgbClr val="475569"/>
              </a:solidFill>
            </a:endParaRPr>
          </a:p>
          <a:p>
            <a:pPr algn="l">
              <a:defRPr lang="en-us"/>
            </a:pPr>
            <a:r>
              <a:rPr lang="en-us" sz="1100" cap="none">
                <a:solidFill>
                  <a:srgbClr val="475569"/>
                </a:solidFill>
              </a:rPr>
              <a:t>du pipeline d'agents</a:t>
            </a:r>
            <a:endParaRPr lang="en-us" sz="1100" cap="none">
              <a:solidFill>
                <a:srgbClr val="475569"/>
              </a:solidFill>
            </a:endParaRPr>
          </a:p>
        </p:txBody>
      </p:sp>
      <p:sp>
        <p:nvSpPr>
          <p:cNvPr id="15" name="Rounded Rectangle 16"/>
          <p:cNvSpPr>
            <a:extLst>
              <a:ext uri="smNativeData">
                <pr:smNativeData xmlns:pr="smNativeData" xmlns="smNativeData" val="SMDATA_15_ceEnahMAAAAlAAAAZQAAAA0AAAAAkAAAAEgAAACQAAAASAAAAAAAAAABAAAAAAAAAAEAAABQAAAAhbacS3FV1T8AAAAAAADwvwAAAAAAAOA/AAAAAAAA4D8AAAAAAADgPwAAAAAAAOA/AAAAAAAA4D8AAAAAAADgPwAAAAAAAOA/AAAAAAAA4D8CAAAAjAAAAAEAAAAAAAAA////ACxn1gAAAAAAAAAAAAAAAAAAAAAAAAAAAAAAAAAAAAAAZAAAAAEAAABAAAAAAAAAAJz///9aAAAAAAAAAAEAAABQAAAAMGjPAAAAAAAAAAAAAAAAAAAAAAAAAAAAAAAAAAAAAAAAAAAAAAAAAAAAAAAAAAAAAAAAAAAAAAAAAAAAFAAAADwAAAABAAAAAAAAAOLo8AAP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z6+P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Cxn1gAwaM8AAAAAAAAAAAAAAAAAAAAAAAAAAAAAAAAAAAAAAOLo8AB/f38A5+bmA8zMzADAwP8Af39/AAAAAAAAAAAAAAAAAAAAAAAAAAAAIQAAABgAAAAUAAAAmDEAAIANAAAYSAAACBkAABAAAAAmAAAACAAAAP//////////"/>
              </a:ext>
            </a:extLst>
          </p:cNvSpPr>
          <p:nvPr/>
        </p:nvSpPr>
        <p:spPr>
          <a:xfrm>
            <a:off x="8061960" y="2194560"/>
            <a:ext cx="3657600" cy="1874520"/>
          </a:xfrm>
          <a:prstGeom prst="roundRect">
            <a:avLst>
              <a:gd name="adj" fmla="val 16667"/>
            </a:avLst>
          </a:prstGeom>
          <a:solidFill>
            <a:srgbClr val="FFFFFF"/>
          </a:solidFill>
          <a:ln w="9525" cap="flat" cmpd="sng" algn="ctr">
            <a:solidFill>
              <a:srgbClr val="E2E8F0"/>
            </a:solidFill>
            <a:prstDash val="solid"/>
            <a:headEnd type="none"/>
            <a:tailEnd type="none"/>
          </a:ln>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p>
        </p:txBody>
      </p:sp>
      <p:sp>
        <p:nvSpPr>
          <p:cNvPr id="16" name="TextBox 18"/>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z6+P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kDMAADAPAACwRgAAABIAABAgAAAmAAAACAAAAP//////////"/>
              </a:ext>
            </a:extLst>
          </p:cNvSpPr>
          <p:nvPr/>
        </p:nvSpPr>
        <p:spPr>
          <a:xfrm>
            <a:off x="8382000" y="2468880"/>
            <a:ext cx="3108960" cy="457200"/>
          </a:xfrm>
          <a:prstGeom prst="rect">
            <a:avLst/>
          </a:prstGeom>
          <a:noFill/>
          <a:ln>
            <a:noFill/>
          </a:ln>
          <a:effectLst/>
        </p:spPr>
        <p:txBody>
          <a:bodyPr vert="horz" wrap="square" lIns="0" tIns="0" rIns="0" bIns="0" numCol="1" spcCol="215900" anchor="t"/>
          <a:lstStyle/>
          <a:p>
            <a:pPr algn="l">
              <a:defRPr lang="en-us"/>
            </a:pPr>
            <a:r>
              <a:rPr lang="en-us" sz="1700" b="1" cap="none">
                <a:solidFill>
                  <a:srgbClr val="0F172A"/>
                </a:solidFill>
              </a:rPr>
              <a:t>Groq + NVIDIA</a:t>
            </a:r>
            <a:endParaRPr lang="en-us" sz="1700" b="1" cap="none">
              <a:solidFill>
                <a:srgbClr val="0F172A"/>
              </a:solidFill>
            </a:endParaRPr>
          </a:p>
        </p:txBody>
      </p:sp>
      <p:sp>
        <p:nvSpPr>
          <p:cNvPr id="17" name="TextBox 19"/>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z6+P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kDMAAAASAACwRgAA+BMAABAgAAAmAAAACAAAAP//////////"/>
              </a:ext>
            </a:extLst>
          </p:cNvSpPr>
          <p:nvPr/>
        </p:nvSpPr>
        <p:spPr>
          <a:xfrm>
            <a:off x="8382000" y="2926080"/>
            <a:ext cx="3108960" cy="320040"/>
          </a:xfrm>
          <a:prstGeom prst="rect">
            <a:avLst/>
          </a:prstGeom>
          <a:noFill/>
          <a:ln>
            <a:noFill/>
          </a:ln>
          <a:effectLst/>
        </p:spPr>
        <p:txBody>
          <a:bodyPr vert="horz" wrap="square" lIns="0" tIns="0" rIns="0" bIns="0" numCol="1" spcCol="215900" anchor="t"/>
          <a:lstStyle/>
          <a:p>
            <a:pPr algn="l">
              <a:defRPr lang="en-us"/>
            </a:pPr>
            <a:r>
              <a:rPr lang="en-us" sz="1000" b="1" cap="none">
                <a:solidFill>
                  <a:srgbClr val="1A6B9A"/>
                </a:solidFill>
                <a:latin typeface="Consolas" pitchFamily="3" charset="0"/>
                <a:ea typeface="Calibri" pitchFamily="2" charset="0"/>
                <a:cs typeface="Calibri" pitchFamily="2" charset="0"/>
              </a:rPr>
              <a:t>v —</a:t>
            </a:r>
            <a:endParaRPr lang="en-us" sz="1000" b="1" cap="none">
              <a:solidFill>
                <a:srgbClr val="1A6B9A"/>
              </a:solidFill>
              <a:latin typeface="Consolas" pitchFamily="3" charset="0"/>
              <a:ea typeface="Calibri" pitchFamily="2" charset="0"/>
              <a:cs typeface="Calibri" pitchFamily="2" charset="0"/>
            </a:endParaRPr>
          </a:p>
        </p:txBody>
      </p:sp>
      <p:sp>
        <p:nvSpPr>
          <p:cNvPr id="18" name="TextBox 20"/>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z6+P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kDMAAEAUAACwRgAAwBgAABAgAAAmAAAACAAAAP//////////"/>
              </a:ext>
            </a:extLst>
          </p:cNvSpPr>
          <p:nvPr/>
        </p:nvSpPr>
        <p:spPr>
          <a:xfrm>
            <a:off x="8382000" y="3291840"/>
            <a:ext cx="3108960" cy="731520"/>
          </a:xfrm>
          <a:prstGeom prst="rect">
            <a:avLst/>
          </a:prstGeom>
          <a:noFill/>
          <a:ln>
            <a:noFill/>
          </a:ln>
          <a:effectLst/>
        </p:spPr>
        <p:txBody>
          <a:bodyPr vert="horz" wrap="square" lIns="0" tIns="0" rIns="0" bIns="0" numCol="1" spcCol="215900" anchor="t"/>
          <a:lstStyle/>
          <a:p>
            <a:pPr algn="l">
              <a:defRPr lang="en-us"/>
            </a:pPr>
            <a:r>
              <a:rPr lang="en-us" sz="1100" cap="none">
                <a:solidFill>
                  <a:srgbClr val="475569"/>
                </a:solidFill>
              </a:rPr>
              <a:t>Llama-3.1 8B (fast)</a:t>
            </a:r>
            <a:endParaRPr lang="en-us" sz="1100" cap="none">
              <a:solidFill>
                <a:srgbClr val="475569"/>
              </a:solidFill>
            </a:endParaRPr>
          </a:p>
          <a:p>
            <a:pPr algn="l">
              <a:defRPr lang="en-us"/>
            </a:pPr>
            <a:r>
              <a:rPr lang="en-us" sz="1100" cap="none">
                <a:solidFill>
                  <a:srgbClr val="475569"/>
                </a:solidFill>
              </a:rPr>
              <a:t>et 70B (strong)</a:t>
            </a:r>
            <a:endParaRPr lang="en-us" sz="1100" cap="none">
              <a:solidFill>
                <a:srgbClr val="475569"/>
              </a:solidFill>
            </a:endParaRPr>
          </a:p>
        </p:txBody>
      </p:sp>
      <p:sp>
        <p:nvSpPr>
          <p:cNvPr id="19" name="Rounded Rectangle 21"/>
          <p:cNvSpPr>
            <a:extLst>
              <a:ext uri="smNativeData">
                <pr:smNativeData xmlns:pr="smNativeData" xmlns="smNativeData" val="SMDATA_15_ceEnahMAAAAlAAAAZQAAAA0AAAAAkAAAAEgAAACQAAAASAAAAAAAAAABAAAAAAAAAAEAAABQAAAAhbacS3FV1T8AAAAAAADwvwAAAAAAAOA/AAAAAAAA4D8AAAAAAADgPwAAAAAAAOA/AAAAAAAA4D8AAAAAAADgPwAAAAAAAOA/AAAAAAAA4D8CAAAAjAAAAAEAAAAAAAAA////ACxn1gAAAAAAAAAAAAAAAAAAAAAAAAAAAAAAAAAAAAAAZAAAAAEAAABAAAAAAAAAAJz///9aAAAAAAAAAAEAAABQAAAAMGjPAAAAAAAAAAAAAAAAAAAAAAAAAAAAAAAAAAAAAAAAAAAAAAAAAAAAAAAAAAAAAAAAAAAAAAAAAAAAFAAAADwAAAABAAAAAAAAAOLo8AAP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z6+P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Cxn1gAwaM8AAAAAAAAAAAAAAAAAAAAAAAAAAAAAAAAAAAAAAOLo8AB/f38A5+bmA8zMzADAwP8Af39/AAAAAAAAAAAAAAAAAAAAAAAAAAAAIQAAABgAAAAUAAAA6AIAAOAZAABoGQAAaCUAABAAAAAmAAAACAAAAP//////////"/>
              </a:ext>
            </a:extLst>
          </p:cNvSpPr>
          <p:nvPr/>
        </p:nvSpPr>
        <p:spPr>
          <a:xfrm>
            <a:off x="472440" y="4206240"/>
            <a:ext cx="3657600" cy="1874520"/>
          </a:xfrm>
          <a:prstGeom prst="roundRect">
            <a:avLst>
              <a:gd name="adj" fmla="val 16667"/>
            </a:avLst>
          </a:prstGeom>
          <a:solidFill>
            <a:srgbClr val="FFFFFF"/>
          </a:solidFill>
          <a:ln w="9525" cap="flat" cmpd="sng" algn="ctr">
            <a:solidFill>
              <a:srgbClr val="E2E8F0"/>
            </a:solidFill>
            <a:prstDash val="solid"/>
            <a:headEnd type="none"/>
            <a:tailEnd type="none"/>
          </a:ln>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p>
        </p:txBody>
      </p:sp>
      <p:sp>
        <p:nvSpPr>
          <p:cNvPr id="20" name="TextBox 23"/>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z6+P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4AQAAJAbAAAAGAAAYB4AABAgAAAmAAAACAAAAP//////////"/>
              </a:ext>
            </a:extLst>
          </p:cNvSpPr>
          <p:nvPr/>
        </p:nvSpPr>
        <p:spPr>
          <a:xfrm>
            <a:off x="792480" y="4480560"/>
            <a:ext cx="3108960" cy="457200"/>
          </a:xfrm>
          <a:prstGeom prst="rect">
            <a:avLst/>
          </a:prstGeom>
          <a:noFill/>
          <a:ln>
            <a:noFill/>
          </a:ln>
          <a:effectLst/>
        </p:spPr>
        <p:txBody>
          <a:bodyPr vert="horz" wrap="square" lIns="0" tIns="0" rIns="0" bIns="0" numCol="1" spcCol="215900" anchor="t"/>
          <a:lstStyle/>
          <a:p>
            <a:pPr algn="l">
              <a:defRPr lang="en-us"/>
            </a:pPr>
            <a:r>
              <a:rPr lang="en-us" sz="1700" b="1" cap="none">
                <a:solidFill>
                  <a:srgbClr val="0F172A"/>
                </a:solidFill>
              </a:rPr>
              <a:t>Semgrep</a:t>
            </a:r>
            <a:endParaRPr lang="en-us" sz="1700" b="1" cap="none">
              <a:solidFill>
                <a:srgbClr val="0F172A"/>
              </a:solidFill>
            </a:endParaRPr>
          </a:p>
        </p:txBody>
      </p:sp>
      <p:sp>
        <p:nvSpPr>
          <p:cNvPr id="21" name="TextBox 24"/>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z6+P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4AQAAGAeAAAAGAAAWCAAABAgAAAmAAAACAAAAP//////////"/>
              </a:ext>
            </a:extLst>
          </p:cNvSpPr>
          <p:nvPr/>
        </p:nvSpPr>
        <p:spPr>
          <a:xfrm>
            <a:off x="792480" y="4937760"/>
            <a:ext cx="3108960" cy="320040"/>
          </a:xfrm>
          <a:prstGeom prst="rect">
            <a:avLst/>
          </a:prstGeom>
          <a:noFill/>
          <a:ln>
            <a:noFill/>
          </a:ln>
          <a:effectLst/>
        </p:spPr>
        <p:txBody>
          <a:bodyPr vert="horz" wrap="square" lIns="0" tIns="0" rIns="0" bIns="0" numCol="1" spcCol="215900" anchor="t"/>
          <a:lstStyle/>
          <a:p>
            <a:pPr algn="l">
              <a:defRPr lang="en-us"/>
            </a:pPr>
            <a:r>
              <a:rPr lang="en-us" sz="1000" b="1" cap="none">
                <a:solidFill>
                  <a:srgbClr val="B45309"/>
                </a:solidFill>
                <a:latin typeface="Consolas" pitchFamily="3" charset="0"/>
                <a:ea typeface="Calibri" pitchFamily="2" charset="0"/>
                <a:cs typeface="Calibri" pitchFamily="2" charset="0"/>
              </a:rPr>
              <a:t>v 1.163</a:t>
            </a:r>
            <a:endParaRPr lang="en-us" sz="1000" b="1" cap="none">
              <a:solidFill>
                <a:srgbClr val="B45309"/>
              </a:solidFill>
              <a:latin typeface="Consolas" pitchFamily="3" charset="0"/>
              <a:ea typeface="Calibri" pitchFamily="2" charset="0"/>
              <a:cs typeface="Calibri" pitchFamily="2" charset="0"/>
            </a:endParaRPr>
          </a:p>
        </p:txBody>
      </p:sp>
      <p:sp>
        <p:nvSpPr>
          <p:cNvPr id="22" name="TextBox 25"/>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z6+P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4AQAAKAgAAAAGAAAICUAABAgAAAmAAAACAAAAP//////////"/>
              </a:ext>
            </a:extLst>
          </p:cNvSpPr>
          <p:nvPr/>
        </p:nvSpPr>
        <p:spPr>
          <a:xfrm>
            <a:off x="792480" y="5303520"/>
            <a:ext cx="3108960" cy="731520"/>
          </a:xfrm>
          <a:prstGeom prst="rect">
            <a:avLst/>
          </a:prstGeom>
          <a:noFill/>
          <a:ln>
            <a:noFill/>
          </a:ln>
          <a:effectLst/>
        </p:spPr>
        <p:txBody>
          <a:bodyPr vert="horz" wrap="square" lIns="0" tIns="0" rIns="0" bIns="0" numCol="1" spcCol="215900" anchor="t"/>
          <a:lstStyle/>
          <a:p>
            <a:pPr algn="l">
              <a:defRPr lang="en-us"/>
            </a:pPr>
            <a:r>
              <a:rPr lang="en-us" sz="1100" cap="none">
                <a:solidFill>
                  <a:srgbClr val="475569"/>
                </a:solidFill>
              </a:rPr>
              <a:t>Analyse statique multi-langage</a:t>
            </a:r>
            <a:endParaRPr lang="en-us" sz="1100" cap="none">
              <a:solidFill>
                <a:srgbClr val="475569"/>
              </a:solidFill>
            </a:endParaRPr>
          </a:p>
          <a:p>
            <a:pPr algn="l">
              <a:defRPr lang="en-us"/>
            </a:pPr>
            <a:r>
              <a:rPr lang="en-us" sz="1100" cap="none">
                <a:solidFill>
                  <a:srgbClr val="475569"/>
                </a:solidFill>
              </a:rPr>
              <a:t>règles OWASP Top 10</a:t>
            </a:r>
            <a:endParaRPr lang="en-us" sz="1100" cap="none">
              <a:solidFill>
                <a:srgbClr val="475569"/>
              </a:solidFill>
            </a:endParaRPr>
          </a:p>
        </p:txBody>
      </p:sp>
      <p:sp>
        <p:nvSpPr>
          <p:cNvPr id="23" name="Rounded Rectangle 26"/>
          <p:cNvSpPr>
            <a:extLst>
              <a:ext uri="smNativeData">
                <pr:smNativeData xmlns:pr="smNativeData" xmlns="smNativeData" val="SMDATA_15_ceEnahMAAAAlAAAAZQAAAA0AAAAAkAAAAEgAAACQAAAASAAAAAAAAAABAAAAAAAAAAEAAABQAAAAhbacS3FV1T8AAAAAAADwvwAAAAAAAOA/AAAAAAAA4D8AAAAAAADgPwAAAAAAAOA/AAAAAAAA4D8AAAAAAADgPwAAAAAAAOA/AAAAAAAA4D8CAAAAjAAAAAEAAAAAAAAA////ACxn1gAAAAAAAAAAAAAAAAAAAAAAAAAAAAAAAAAAAAAAZAAAAAEAAABAAAAAAAAAAJz///9aAAAAAAAAAAEAAABQAAAAMGjPAAAAAAAAAAAAAAAAAAAAAAAAAAAAAAAAAAAAAAAAAAAAAAAAAAAAAAAAAAAAAAAAAAAAAAAAAAAAFAAAADwAAAABAAAAAAAAAOLo8AAP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z6+P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Cxn1gAwaM8AAAAAAAAAAAAAAAAAAAAAAAAAAAAAAAAAAAAAAOLo8AB/f38A5+bmA8zMzADAwP8Af39/AAAAAAAAAAAAAAAAAAAAAAAAAAAAIQAAABgAAAAUAAAAQBoAAOAZAADAMAAAaCUAABAAAAAmAAAACAAAAP//////////"/>
              </a:ext>
            </a:extLst>
          </p:cNvSpPr>
          <p:nvPr/>
        </p:nvSpPr>
        <p:spPr>
          <a:xfrm>
            <a:off x="4267200" y="4206240"/>
            <a:ext cx="3657600" cy="1874520"/>
          </a:xfrm>
          <a:prstGeom prst="roundRect">
            <a:avLst>
              <a:gd name="adj" fmla="val 16667"/>
            </a:avLst>
          </a:prstGeom>
          <a:solidFill>
            <a:srgbClr val="FFFFFF"/>
          </a:solidFill>
          <a:ln w="9525" cap="flat" cmpd="sng" algn="ctr">
            <a:solidFill>
              <a:srgbClr val="E2E8F0"/>
            </a:solidFill>
            <a:prstDash val="solid"/>
            <a:headEnd type="none"/>
            <a:tailEnd type="none"/>
          </a:ln>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p>
        </p:txBody>
      </p:sp>
      <p:sp>
        <p:nvSpPr>
          <p:cNvPr id="24" name="TextBox 28"/>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z6+P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OBwAAJAbAABYLwAAYB4AABAgAAAmAAAACAAAAP//////////"/>
              </a:ext>
            </a:extLst>
          </p:cNvSpPr>
          <p:nvPr/>
        </p:nvSpPr>
        <p:spPr>
          <a:xfrm>
            <a:off x="4587240" y="4480560"/>
            <a:ext cx="3108960" cy="457200"/>
          </a:xfrm>
          <a:prstGeom prst="rect">
            <a:avLst/>
          </a:prstGeom>
          <a:noFill/>
          <a:ln>
            <a:noFill/>
          </a:ln>
          <a:effectLst/>
        </p:spPr>
        <p:txBody>
          <a:bodyPr vert="horz" wrap="square" lIns="0" tIns="0" rIns="0" bIns="0" numCol="1" spcCol="215900" anchor="t"/>
          <a:lstStyle/>
          <a:p>
            <a:pPr algn="l">
              <a:defRPr lang="en-us"/>
            </a:pPr>
            <a:r>
              <a:rPr lang="en-us" sz="1700" b="1" cap="none">
                <a:solidFill>
                  <a:srgbClr val="0F172A"/>
                </a:solidFill>
              </a:rPr>
              <a:t>Qdrant</a:t>
            </a:r>
            <a:endParaRPr lang="en-us" sz="1700" b="1" cap="none">
              <a:solidFill>
                <a:srgbClr val="0F172A"/>
              </a:solidFill>
            </a:endParaRPr>
          </a:p>
        </p:txBody>
      </p:sp>
      <p:sp>
        <p:nvSpPr>
          <p:cNvPr id="25" name="TextBox 29"/>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z6+P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OBwAAGAeAABYLwAAWCAAABAgAAAmAAAACAAAAP//////////"/>
              </a:ext>
            </a:extLst>
          </p:cNvSpPr>
          <p:nvPr/>
        </p:nvSpPr>
        <p:spPr>
          <a:xfrm>
            <a:off x="4587240" y="4937760"/>
            <a:ext cx="3108960" cy="320040"/>
          </a:xfrm>
          <a:prstGeom prst="rect">
            <a:avLst/>
          </a:prstGeom>
          <a:noFill/>
          <a:ln>
            <a:noFill/>
          </a:ln>
          <a:effectLst/>
        </p:spPr>
        <p:txBody>
          <a:bodyPr vert="horz" wrap="square" lIns="0" tIns="0" rIns="0" bIns="0" numCol="1" spcCol="215900" anchor="t"/>
          <a:lstStyle/>
          <a:p>
            <a:pPr algn="l">
              <a:defRPr lang="en-us"/>
            </a:pPr>
            <a:r>
              <a:rPr lang="en-us" sz="1000" b="1" cap="none">
                <a:solidFill>
                  <a:srgbClr val="7C3AED"/>
                </a:solidFill>
                <a:latin typeface="Consolas" pitchFamily="3" charset="0"/>
                <a:ea typeface="Calibri" pitchFamily="2" charset="0"/>
                <a:cs typeface="Calibri" pitchFamily="2" charset="0"/>
              </a:rPr>
              <a:t>v 1.18</a:t>
            </a:r>
            <a:endParaRPr lang="en-us" sz="1000" b="1" cap="none">
              <a:solidFill>
                <a:srgbClr val="7C3AED"/>
              </a:solidFill>
              <a:latin typeface="Consolas" pitchFamily="3" charset="0"/>
              <a:ea typeface="Calibri" pitchFamily="2" charset="0"/>
              <a:cs typeface="Calibri" pitchFamily="2" charset="0"/>
            </a:endParaRPr>
          </a:p>
        </p:txBody>
      </p:sp>
      <p:sp>
        <p:nvSpPr>
          <p:cNvPr id="26" name="TextBox 30"/>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z6+P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OBwAAKAgAABYLwAAICUAABAgAAAmAAAACAAAAP//////////"/>
              </a:ext>
            </a:extLst>
          </p:cNvSpPr>
          <p:nvPr/>
        </p:nvSpPr>
        <p:spPr>
          <a:xfrm>
            <a:off x="4587240" y="5303520"/>
            <a:ext cx="3108960" cy="731520"/>
          </a:xfrm>
          <a:prstGeom prst="rect">
            <a:avLst/>
          </a:prstGeom>
          <a:noFill/>
          <a:ln>
            <a:noFill/>
          </a:ln>
          <a:effectLst/>
        </p:spPr>
        <p:txBody>
          <a:bodyPr vert="horz" wrap="square" lIns="0" tIns="0" rIns="0" bIns="0" numCol="1" spcCol="215900" anchor="t"/>
          <a:lstStyle/>
          <a:p>
            <a:pPr algn="l">
              <a:defRPr lang="en-us"/>
            </a:pPr>
            <a:r>
              <a:rPr lang="en-us" sz="1100" cap="none">
                <a:solidFill>
                  <a:srgbClr val="475569"/>
                </a:solidFill>
              </a:rPr>
              <a:t>Vector store pour</a:t>
            </a:r>
            <a:endParaRPr lang="en-us" sz="1100" cap="none">
              <a:solidFill>
                <a:srgbClr val="475569"/>
              </a:solidFill>
            </a:endParaRPr>
          </a:p>
          <a:p>
            <a:pPr algn="l">
              <a:defRPr lang="en-us"/>
            </a:pPr>
            <a:r>
              <a:rPr lang="en-us" sz="1100" cap="none">
                <a:solidFill>
                  <a:srgbClr val="475569"/>
                </a:solidFill>
              </a:rPr>
              <a:t>les patterns sémantiques</a:t>
            </a:r>
            <a:endParaRPr lang="en-us" sz="1100" cap="none">
              <a:solidFill>
                <a:srgbClr val="475569"/>
              </a:solidFill>
            </a:endParaRPr>
          </a:p>
        </p:txBody>
      </p:sp>
      <p:sp>
        <p:nvSpPr>
          <p:cNvPr id="27" name="Rounded Rectangle 31"/>
          <p:cNvSpPr>
            <a:extLst>
              <a:ext uri="smNativeData">
                <pr:smNativeData xmlns:pr="smNativeData" xmlns="smNativeData" val="SMDATA_15_ceEnahMAAAAlAAAAZQAAAA0AAAAAkAAAAEgAAACQAAAASAAAAAAAAAABAAAAAAAAAAEAAABQAAAAhbacS3FV1T8AAAAAAADwvwAAAAAAAOA/AAAAAAAA4D8AAAAAAADgPwAAAAAAAOA/AAAAAAAA4D8AAAAAAADgPwAAAAAAAOA/AAAAAAAA4D8CAAAAjAAAAAEAAAAAAAAA////ACxn1gAAAAAAAAAAAAAAAAAAAAAAAAAAAAAAAAAAAAAAZAAAAAEAAABAAAAAAAAAAJz///9aAAAAAAAAAAEAAABQAAAAMGjPAAAAAAAAAAAAAAAAAAAAAAAAAAAAAAAAAAAAAAAAAAAAAAAAAAAAAAAAAAAAAAAAAAAAAAAAAAAAFAAAADwAAAABAAAAAAAAAOLo8AAP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z6+P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Cxn1gAwaM8AAAAAAAAAAAAAAAAAAAAAAAAAAAAAAAAAAAAAAOLo8AB/f38A5+bmA8zMzADAwP8Af39/AAAAAAAAAAAAAAAAAAAAAAAAAAAAIQAAABgAAAAUAAAAmDEAAOAZAAAYSAAAaCUAABAAAAAmAAAACAAAAP//////////"/>
              </a:ext>
            </a:extLst>
          </p:cNvSpPr>
          <p:nvPr/>
        </p:nvSpPr>
        <p:spPr>
          <a:xfrm>
            <a:off x="8061960" y="4206240"/>
            <a:ext cx="3657600" cy="1874520"/>
          </a:xfrm>
          <a:prstGeom prst="roundRect">
            <a:avLst>
              <a:gd name="adj" fmla="val 16667"/>
            </a:avLst>
          </a:prstGeom>
          <a:solidFill>
            <a:srgbClr val="FFFFFF"/>
          </a:solidFill>
          <a:ln w="9525" cap="flat" cmpd="sng" algn="ctr">
            <a:solidFill>
              <a:srgbClr val="E2E8F0"/>
            </a:solidFill>
            <a:prstDash val="solid"/>
            <a:headEnd type="none"/>
            <a:tailEnd type="none"/>
          </a:ln>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p>
        </p:txBody>
      </p:sp>
      <p:sp>
        <p:nvSpPr>
          <p:cNvPr id="28" name="TextBox 33"/>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z6+P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kDMAAJAbAACwRgAAYB4AABAgAAAmAAAACAAAAP//////////"/>
              </a:ext>
            </a:extLst>
          </p:cNvSpPr>
          <p:nvPr/>
        </p:nvSpPr>
        <p:spPr>
          <a:xfrm>
            <a:off x="8382000" y="4480560"/>
            <a:ext cx="3108960" cy="457200"/>
          </a:xfrm>
          <a:prstGeom prst="rect">
            <a:avLst/>
          </a:prstGeom>
          <a:noFill/>
          <a:ln>
            <a:noFill/>
          </a:ln>
          <a:effectLst/>
        </p:spPr>
        <p:txBody>
          <a:bodyPr vert="horz" wrap="square" lIns="0" tIns="0" rIns="0" bIns="0" numCol="1" spcCol="215900" anchor="t"/>
          <a:lstStyle/>
          <a:p>
            <a:pPr algn="l">
              <a:defRPr lang="en-us"/>
            </a:pPr>
            <a:r>
              <a:rPr lang="en-us" sz="1700" b="1" cap="none">
                <a:solidFill>
                  <a:srgbClr val="0F172A"/>
                </a:solidFill>
              </a:rPr>
              <a:t>Rust</a:t>
            </a:r>
            <a:endParaRPr lang="en-us" sz="1700" b="1" cap="none">
              <a:solidFill>
                <a:srgbClr val="0F172A"/>
              </a:solidFill>
            </a:endParaRPr>
          </a:p>
        </p:txBody>
      </p:sp>
      <p:sp>
        <p:nvSpPr>
          <p:cNvPr id="29" name="TextBox 34"/>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z6+P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kDMAAGAeAACwRgAAWCAAABAgAAAmAAAACAAAAP//////////"/>
              </a:ext>
            </a:extLst>
          </p:cNvSpPr>
          <p:nvPr/>
        </p:nvSpPr>
        <p:spPr>
          <a:xfrm>
            <a:off x="8382000" y="4937760"/>
            <a:ext cx="3108960" cy="320040"/>
          </a:xfrm>
          <a:prstGeom prst="rect">
            <a:avLst/>
          </a:prstGeom>
          <a:noFill/>
          <a:ln>
            <a:noFill/>
          </a:ln>
          <a:effectLst/>
        </p:spPr>
        <p:txBody>
          <a:bodyPr vert="horz" wrap="square" lIns="0" tIns="0" rIns="0" bIns="0" numCol="1" spcCol="215900" anchor="t"/>
          <a:lstStyle/>
          <a:p>
            <a:pPr algn="l">
              <a:defRPr lang="en-us"/>
            </a:pPr>
            <a:r>
              <a:rPr lang="en-us" sz="1000" b="1" cap="none">
                <a:solidFill>
                  <a:srgbClr val="1A6B9A"/>
                </a:solidFill>
                <a:latin typeface="Consolas" pitchFamily="3" charset="0"/>
                <a:ea typeface="Calibri" pitchFamily="2" charset="0"/>
                <a:cs typeface="Calibri" pitchFamily="2" charset="0"/>
              </a:rPr>
              <a:t>v stable</a:t>
            </a:r>
            <a:endParaRPr lang="en-us" sz="1000" b="1" cap="none">
              <a:solidFill>
                <a:srgbClr val="1A6B9A"/>
              </a:solidFill>
              <a:latin typeface="Consolas" pitchFamily="3" charset="0"/>
              <a:ea typeface="Calibri" pitchFamily="2" charset="0"/>
              <a:cs typeface="Calibri" pitchFamily="2" charset="0"/>
            </a:endParaRPr>
          </a:p>
        </p:txBody>
      </p:sp>
      <p:sp>
        <p:nvSpPr>
          <p:cNvPr id="30" name="TextBox 35"/>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z6+P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kDMAAKAgAACwRgAAICUAABAgAAAmAAAACAAAAP//////////"/>
              </a:ext>
            </a:extLst>
          </p:cNvSpPr>
          <p:nvPr/>
        </p:nvSpPr>
        <p:spPr>
          <a:xfrm>
            <a:off x="8382000" y="5303520"/>
            <a:ext cx="3108960" cy="731520"/>
          </a:xfrm>
          <a:prstGeom prst="rect">
            <a:avLst/>
          </a:prstGeom>
          <a:noFill/>
          <a:ln>
            <a:noFill/>
          </a:ln>
          <a:effectLst/>
        </p:spPr>
        <p:txBody>
          <a:bodyPr vert="horz" wrap="square" lIns="0" tIns="0" rIns="0" bIns="0" numCol="1" spcCol="215900" anchor="t"/>
          <a:lstStyle/>
          <a:p>
            <a:pPr algn="l">
              <a:defRPr lang="en-us"/>
            </a:pPr>
            <a:r>
              <a:rPr lang="en-us" sz="1100" cap="none">
                <a:solidFill>
                  <a:srgbClr val="475569"/>
                </a:solidFill>
              </a:rPr>
              <a:t>Memory safety engine</a:t>
            </a:r>
            <a:endParaRPr lang="en-us" sz="1100" cap="none">
              <a:solidFill>
                <a:srgbClr val="475569"/>
              </a:solidFill>
            </a:endParaRPr>
          </a:p>
          <a:p>
            <a:pPr algn="l">
              <a:defRPr lang="en-us"/>
            </a:pPr>
            <a:r>
              <a:rPr lang="en-us" sz="1100" cap="none">
                <a:solidFill>
                  <a:srgbClr val="475569"/>
                </a:solidFill>
              </a:rPr>
              <a:t>20 règles compilées natif</a:t>
            </a:r>
            <a:endParaRPr lang="en-us" sz="1100" cap="none">
              <a:solidFill>
                <a:srgbClr val="475569"/>
              </a:solidFill>
            </a:endParaRPr>
          </a:p>
        </p:txBody>
      </p:sp>
      <p:sp>
        <p:nvSpPr>
          <p:cNvPr id="31" name="TextBox 36"/>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z6+P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YAMAAKgnAAAgJQAAWCkAABAgAAAmAAAACAAAAP//////////"/>
              </a:ext>
            </a:extLst>
          </p:cNvSpPr>
          <p:nvPr/>
        </p:nvSpPr>
        <p:spPr>
          <a:xfrm>
            <a:off x="548640" y="6446520"/>
            <a:ext cx="5486400" cy="274320"/>
          </a:xfrm>
          <a:prstGeom prst="rect">
            <a:avLst/>
          </a:prstGeom>
          <a:noFill/>
          <a:ln>
            <a:noFill/>
          </a:ln>
          <a:effectLst/>
        </p:spPr>
        <p:txBody>
          <a:bodyPr vert="horz" wrap="square" lIns="0" tIns="0" rIns="0" bIns="0" numCol="1" spcCol="215900" anchor="t"/>
          <a:lstStyle/>
          <a:p>
            <a:pPr algn="l">
              <a:defRPr lang="en-us"/>
            </a:pPr>
            <a:r>
              <a:rPr lang="en-us" sz="1000" cap="none">
                <a:solidFill>
                  <a:srgbClr val="475569"/>
                </a:solidFill>
              </a:rPr>
              <a:t>MAS — Multi-Agent Security Scanner</a:t>
            </a:r>
            <a:endParaRPr lang="en-us" sz="1000" cap="none">
              <a:solidFill>
                <a:srgbClr val="475569"/>
              </a:solidFill>
            </a:endParaRPr>
          </a:p>
        </p:txBody>
      </p:sp>
      <p:sp>
        <p:nvSpPr>
          <p:cNvPr id="32" name="TextBox 37"/>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z6+P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sEAAAKgnAABwRwAAWCkAABAgAAAmAAAACAAAAP//////////"/>
              </a:ext>
            </a:extLst>
          </p:cNvSpPr>
          <p:nvPr/>
        </p:nvSpPr>
        <p:spPr>
          <a:xfrm>
            <a:off x="10515600" y="6446520"/>
            <a:ext cx="1097280" cy="274320"/>
          </a:xfrm>
          <a:prstGeom prst="rect">
            <a:avLst/>
          </a:prstGeom>
          <a:noFill/>
          <a:ln>
            <a:noFill/>
          </a:ln>
          <a:effectLst/>
        </p:spPr>
        <p:txBody>
          <a:bodyPr vert="horz" wrap="square" lIns="0" tIns="0" rIns="0" bIns="0" numCol="1" spcCol="215900" anchor="t"/>
          <a:lstStyle/>
          <a:p>
            <a:pPr algn="r">
              <a:defRPr lang="en-us"/>
            </a:pPr>
            <a:r>
              <a:rPr lang="en-us" sz="1000" cap="none">
                <a:solidFill>
                  <a:srgbClr val="475569"/>
                </a:solidFill>
              </a:rPr>
              <a:t>10 / 11</a:t>
            </a:r>
            <a:endParaRPr lang="en-us" sz="1000" cap="none">
              <a:solidFill>
                <a:srgbClr val="475569"/>
              </a:solidFill>
            </a:endParaRPr>
          </a:p>
        </p:txBody>
      </p:sp>
    </p:spTree>
  </p:cSld>
  <p:clrMapOvr>
    <a:masterClrMapping/>
  </p:clrMapOvr>
  <p:timing>
    <p:tnLst>
      <p:par>
        <p:cTn id="1" dur="indefinite" restart="never" nodeType="tmRoot"/>
      </p:par>
    </p:tnLst>
  </p:timing>
</p:sld>
</file>

<file path=ppt/slides/slide11.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Rectangle 1"/>
          <p:cNvSpPr>
            <a:extLst>
              <a:ext uri="smNativeData">
                <pr:smNativeData xmlns:pr="smNativeData" xmlns="smNativeData" val="SMDATA_15_ceEnahMAAAAlAAAAZAAAAA0AAAAAkAAAAEgAAACQAAAASAAAAAAAAAABAAAAAAAAAAEAAABQAAAAAAAAAAAA4D8AAAAAAADgPwAAAAAAAOA/AAAAAAAA4D8AAAAAAADgPwAAAAAAAOA/AAAAAAAA4D8AAAAAAADgPwAAAAAAAOA/AAAAAAAA4D8CAAAAjAAAAAEAAAAAAAAADxcqACxn1gAAAAAAAAAAAAAAAAAAAAAAAAAAAAAAAAAAAAAAZAAAAAEAAABAAAAAAAAAAJz///9aAAAAAAAAAAEAAABQAAAAMGjPAAAAAAAAAAAAAAAAAAAAAAAAAAAAAAAAAAAAAAAAAAAAAAAAAAAAAAAAAAAAAAAAAAAAAAAAAAAAFAAAADwAAAAAAAAAAAAAAEBtxAAP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z6+P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DxcqACxn1gAwaM8AAAAAAAAAAAAAAAAAAAAAAAAAAAAAAAAAAAAAAEBtxAB/f38A5+bmA8zMzADAwP8Af39/AAAAAAAAAAAAAAAAAAAAAAAAAAAAIQAAABgAAAAUAAAAAAAAAAAAAAAASwAAMCoAABAAAAAmAAAACAAAAP//////////"/>
              </a:ext>
            </a:extLst>
          </p:cNvSpPr>
          <p:nvPr/>
        </p:nvSpPr>
        <p:spPr>
          <a:xfrm>
            <a:off x="0" y="0"/>
            <a:ext cx="12192000" cy="6858000"/>
          </a:xfrm>
          <a:prstGeom prst="rect">
            <a:avLst/>
          </a:prstGeom>
          <a:solidFill>
            <a:srgbClr val="0F172A"/>
          </a:solidFill>
          <a:ln>
            <a:noFill/>
          </a:ln>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p>
        </p:txBody>
      </p:sp>
      <p:sp>
        <p:nvSpPr>
          <p:cNvPr id="3" name="Oval 2"/>
          <p:cNvSpPr>
            <a:extLst>
              <a:ext uri="smNativeData">
                <pr:smNativeData xmlns:pr="smNativeData" xmlns="smNativeData" val="SMDATA_15_ceEnahMAAAAlAAAAZgAAAA0AAAAAkAAAAEgAAACQAAAASAAAAAAAAAABAAAAAAAAAAEAAABQAAAAAAAAAAAA8D8AAAAAAADwPwAAAAAAAOA/AAAAAAAA4D8AAAAAAADgPwAAAAAAAOA/AAAAAAAA4D8AAAAAAADgPwAAAAAAAOA/AAAAAAAA4D8CAAAAjAAAAAEAAAAAAAAACm5XACxn1gAAAAAAAAAAAAAAAAAAAAAAAAAAAAAAAAAAAAAAZAAAAAEAAABAAAAAAAAAAJz///9aAAAAAAAAAAEAAABQAAAAMGjPAAAAAAAAAAAAAAAAAAAAAAAAAAAAAAAAAAAAAAAAAAAAAAAAAAAAAAAAAAAAAAAAAAAAAAAAAAAAFAAAADwAAAAAAAAAAAAAAEBtxAAP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z6+P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Cm5XACxn1gAwaM8AAAAAAAAAAAAAAAAAAAAAAAAAAAAAAAAAAAAAAEBtxAB/f38A5+bmA8zMzADAwP8Af39/AAAAAAAAAAAAAAAAAAAAAAAAAAAAIQAAABgAAAAUAAAAgOn//4AWAACAFgAAgEMAABAAAAAmAAAACAAAAP//////////"/>
              </a:ext>
            </a:extLst>
          </p:cNvSpPr>
          <p:nvPr/>
        </p:nvSpPr>
        <p:spPr>
          <a:xfrm>
            <a:off x="-3657600" y="3657600"/>
            <a:ext cx="7315200" cy="7315200"/>
          </a:xfrm>
          <a:prstGeom prst="ellipse">
            <a:avLst/>
          </a:prstGeom>
          <a:solidFill>
            <a:srgbClr val="0A6E57"/>
          </a:solidFill>
          <a:ln>
            <a:noFill/>
          </a:ln>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p>
        </p:txBody>
      </p:sp>
      <p:sp>
        <p:nvSpPr>
          <p:cNvPr id="4" name="TextBox 3"/>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z6+P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gAQAAIAEAABgFQAAwAYAABAgAAAmAAAACAAAAP//////////"/>
              </a:ext>
            </a:extLst>
          </p:cNvSpPr>
          <p:nvPr/>
        </p:nvSpPr>
        <p:spPr>
          <a:xfrm>
            <a:off x="731520" y="731520"/>
            <a:ext cx="2743200" cy="365760"/>
          </a:xfrm>
          <a:prstGeom prst="rect">
            <a:avLst/>
          </a:prstGeom>
          <a:noFill/>
          <a:ln>
            <a:noFill/>
          </a:ln>
          <a:effectLst/>
        </p:spPr>
        <p:txBody>
          <a:bodyPr vert="horz" wrap="square" lIns="0" tIns="0" rIns="0" bIns="0" numCol="1" spcCol="215900" anchor="t"/>
          <a:lstStyle/>
          <a:p>
            <a:pPr algn="l">
              <a:defRPr lang="en-us"/>
            </a:pPr>
            <a:r>
              <a:rPr lang="en-us" sz="1100" b="1" cap="none">
                <a:solidFill>
                  <a:srgbClr val="0D9373"/>
                </a:solidFill>
              </a:rPr>
              <a:t>CONCLUSION</a:t>
            </a:r>
            <a:endParaRPr lang="en-us" sz="1100" b="1" cap="none">
              <a:solidFill>
                <a:srgbClr val="0D9373"/>
              </a:solidFill>
            </a:endParaRPr>
          </a:p>
        </p:txBody>
      </p:sp>
      <p:sp>
        <p:nvSpPr>
          <p:cNvPr id="5" name="TextBox 4"/>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z6+P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gAQAAFAHAAAASAAAEA4AABAgAAAmAAAACAAAAP//////////"/>
              </a:ext>
            </a:extLst>
          </p:cNvSpPr>
          <p:nvPr/>
        </p:nvSpPr>
        <p:spPr>
          <a:xfrm>
            <a:off x="731520" y="1188720"/>
            <a:ext cx="10972800" cy="1097280"/>
          </a:xfrm>
          <a:prstGeom prst="rect">
            <a:avLst/>
          </a:prstGeom>
          <a:noFill/>
          <a:ln>
            <a:noFill/>
          </a:ln>
          <a:effectLst/>
        </p:spPr>
        <p:txBody>
          <a:bodyPr vert="horz" wrap="square" lIns="0" tIns="0" rIns="0" bIns="0" numCol="1" spcCol="215900" anchor="t"/>
          <a:lstStyle/>
          <a:p>
            <a:pPr algn="l">
              <a:defRPr lang="en-us"/>
            </a:pPr>
            <a:r>
              <a:rPr lang="en-us" sz="4000" b="1" cap="none">
                <a:solidFill>
                  <a:srgbClr val="FFFFFF"/>
                </a:solidFill>
              </a:rPr>
              <a:t>Ce que MAS apporte</a:t>
            </a:r>
            <a:endParaRPr lang="en-us" sz="4000" b="1" cap="none">
              <a:solidFill>
                <a:srgbClr val="FFFFFF"/>
              </a:solidFill>
            </a:endParaRPr>
          </a:p>
        </p:txBody>
      </p:sp>
      <p:sp>
        <p:nvSpPr>
          <p:cNvPr id="6" name="TextBox 6"/>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6AUAAG0QAADIQwAArRIAABAgAAAmAAAACAAAAP//////////"/>
              </a:ext>
            </a:extLst>
          </p:cNvSpPr>
          <p:nvPr/>
        </p:nvSpPr>
        <p:spPr>
          <a:xfrm>
            <a:off x="960120" y="2670175"/>
            <a:ext cx="10058400" cy="365760"/>
          </a:xfrm>
          <a:prstGeom prst="rect">
            <a:avLst/>
          </a:prstGeom>
          <a:noFill/>
          <a:ln>
            <a:noFill/>
          </a:ln>
          <a:effectLst/>
        </p:spPr>
        <p:txBody>
          <a:bodyPr vert="horz" wrap="square" lIns="0" tIns="0" rIns="0" bIns="0" numCol="1" spcCol="215900" anchor="t"/>
          <a:lstStyle/>
          <a:p>
            <a:pPr algn="l">
              <a:defRPr lang="en-us"/>
            </a:pPr>
            <a:r>
              <a:rPr lang="en-us" sz="1500" b="1" cap="none">
                <a:solidFill>
                  <a:srgbClr val="FFFFFF"/>
                </a:solidFill>
              </a:rPr>
              <a:t>Détection plus large</a:t>
            </a:r>
            <a:endParaRPr lang="en-us" sz="1500" b="1" cap="none">
              <a:solidFill>
                <a:srgbClr val="FFFFFF"/>
              </a:solidFill>
            </a:endParaRPr>
          </a:p>
        </p:txBody>
      </p:sp>
      <p:sp>
        <p:nvSpPr>
          <p:cNvPr id="7" name="TextBox 7"/>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6AUAAK0SAADIQwAAfRUAABAgAAAmAAAACAAAAP//////////"/>
              </a:ext>
            </a:extLst>
          </p:cNvSpPr>
          <p:nvPr/>
        </p:nvSpPr>
        <p:spPr>
          <a:xfrm>
            <a:off x="960120" y="3035935"/>
            <a:ext cx="10058400" cy="457200"/>
          </a:xfrm>
          <a:prstGeom prst="rect">
            <a:avLst/>
          </a:prstGeom>
          <a:noFill/>
          <a:ln>
            <a:noFill/>
          </a:ln>
          <a:effectLst/>
        </p:spPr>
        <p:txBody>
          <a:bodyPr vert="horz" wrap="square" lIns="0" tIns="0" rIns="0" bIns="0" numCol="1" spcCol="215900" anchor="t"/>
          <a:lstStyle/>
          <a:p>
            <a:pPr algn="l">
              <a:defRPr lang="en-us"/>
            </a:pPr>
            <a:r>
              <a:rPr lang="en-us" sz="1100" cap="none">
                <a:solidFill>
                  <a:srgbClr val="CBD5E1"/>
                </a:solidFill>
              </a:rPr>
              <a:t>5 outils statiques + LLM 70B couvrent ce que Semgrep seul rate :</a:t>
            </a:r>
            <a:endParaRPr lang="en-us" sz="1100" cap="none">
              <a:solidFill>
                <a:srgbClr val="CBD5E1"/>
              </a:solidFill>
            </a:endParaRPr>
          </a:p>
          <a:p>
            <a:pPr algn="l">
              <a:defRPr lang="en-us"/>
            </a:pPr>
            <a:r>
              <a:rPr lang="en-us" sz="1100" cap="none">
                <a:solidFill>
                  <a:srgbClr val="CBD5E1"/>
                </a:solidFill>
              </a:rPr>
              <a:t>failles logiques, IDOR, race conditions.</a:t>
            </a:r>
            <a:endParaRPr lang="en-us" sz="1100" cap="none">
              <a:solidFill>
                <a:srgbClr val="CBD5E1"/>
              </a:solidFill>
            </a:endParaRPr>
          </a:p>
        </p:txBody>
      </p:sp>
      <p:sp>
        <p:nvSpPr>
          <p:cNvPr id="8" name="TextBox 9"/>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6AUAAA0WAADIQwAATRgAABAgAAAmAAAACAAAAP//////////"/>
              </a:ext>
            </a:extLst>
          </p:cNvSpPr>
          <p:nvPr/>
        </p:nvSpPr>
        <p:spPr>
          <a:xfrm>
            <a:off x="960120" y="3584575"/>
            <a:ext cx="10058400" cy="365760"/>
          </a:xfrm>
          <a:prstGeom prst="rect">
            <a:avLst/>
          </a:prstGeom>
          <a:noFill/>
          <a:ln>
            <a:noFill/>
          </a:ln>
          <a:effectLst/>
        </p:spPr>
        <p:txBody>
          <a:bodyPr vert="horz" wrap="square" lIns="0" tIns="0" rIns="0" bIns="0" numCol="1" spcCol="215900" anchor="t"/>
          <a:lstStyle/>
          <a:p>
            <a:pPr algn="l">
              <a:defRPr lang="en-us"/>
            </a:pPr>
            <a:r>
              <a:rPr lang="en-us" sz="1500" b="1" cap="none">
                <a:solidFill>
                  <a:srgbClr val="FFFFFF"/>
                </a:solidFill>
              </a:rPr>
              <a:t>Priorisation utile</a:t>
            </a:r>
            <a:endParaRPr lang="en-us" sz="1500" b="1" cap="none">
              <a:solidFill>
                <a:srgbClr val="FFFFFF"/>
              </a:solidFill>
            </a:endParaRPr>
          </a:p>
        </p:txBody>
      </p:sp>
      <p:sp>
        <p:nvSpPr>
          <p:cNvPr id="9" name="TextBox 10"/>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6AUAAE0YAADIQwAAHRsAABAgAAAmAAAACAAAAP//////////"/>
              </a:ext>
            </a:extLst>
          </p:cNvSpPr>
          <p:nvPr/>
        </p:nvSpPr>
        <p:spPr>
          <a:xfrm>
            <a:off x="960120" y="3950335"/>
            <a:ext cx="10058400" cy="457200"/>
          </a:xfrm>
          <a:prstGeom prst="rect">
            <a:avLst/>
          </a:prstGeom>
          <a:noFill/>
          <a:ln>
            <a:noFill/>
          </a:ln>
          <a:effectLst/>
        </p:spPr>
        <p:txBody>
          <a:bodyPr vert="horz" wrap="square" lIns="0" tIns="0" rIns="0" bIns="0" numCol="1" spcCol="215900" anchor="t"/>
          <a:lstStyle/>
          <a:p>
            <a:pPr algn="l">
              <a:defRPr lang="en-us"/>
            </a:pPr>
            <a:r>
              <a:rPr lang="en-us" sz="1100" cap="none">
                <a:solidFill>
                  <a:srgbClr val="CBD5E1"/>
                </a:solidFill>
              </a:rPr>
              <a:t>Chaque vuln reçoit un CVSS 3.1 + un booléen d'exploitabilité.</a:t>
            </a:r>
            <a:endParaRPr lang="en-us" sz="1100" cap="none">
              <a:solidFill>
                <a:srgbClr val="CBD5E1"/>
              </a:solidFill>
            </a:endParaRPr>
          </a:p>
          <a:p>
            <a:pPr algn="l">
              <a:defRPr lang="en-us"/>
            </a:pPr>
            <a:r>
              <a:rPr lang="en-us" sz="1100" cap="none">
                <a:solidFill>
                  <a:srgbClr val="CBD5E1"/>
                </a:solidFill>
              </a:rPr>
              <a:t>Fini la liste plate de 200 warnings.</a:t>
            </a:r>
            <a:endParaRPr lang="en-us" sz="1100" cap="none">
              <a:solidFill>
                <a:srgbClr val="CBD5E1"/>
              </a:solidFill>
            </a:endParaRPr>
          </a:p>
        </p:txBody>
      </p:sp>
      <p:sp>
        <p:nvSpPr>
          <p:cNvPr id="10" name="TextBox 12"/>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6AUAAK0bAADIQwAA7R0AABAgAAAmAAAACAAAAP//////////"/>
              </a:ext>
            </a:extLst>
          </p:cNvSpPr>
          <p:nvPr/>
        </p:nvSpPr>
        <p:spPr>
          <a:xfrm>
            <a:off x="960120" y="4498975"/>
            <a:ext cx="10058400" cy="365760"/>
          </a:xfrm>
          <a:prstGeom prst="rect">
            <a:avLst/>
          </a:prstGeom>
          <a:noFill/>
          <a:ln>
            <a:noFill/>
          </a:ln>
          <a:effectLst/>
        </p:spPr>
        <p:txBody>
          <a:bodyPr vert="horz" wrap="square" lIns="0" tIns="0" rIns="0" bIns="0" numCol="1" spcCol="215900" anchor="t"/>
          <a:lstStyle/>
          <a:p>
            <a:pPr algn="l">
              <a:defRPr lang="en-us"/>
            </a:pPr>
            <a:r>
              <a:rPr lang="en-us" sz="1500" b="1" cap="none">
                <a:solidFill>
                  <a:srgbClr val="FFFFFF"/>
                </a:solidFill>
              </a:rPr>
              <a:t>Patches automatisés</a:t>
            </a:r>
            <a:endParaRPr lang="en-us" sz="1500" b="1" cap="none">
              <a:solidFill>
                <a:srgbClr val="FFFFFF"/>
              </a:solidFill>
            </a:endParaRPr>
          </a:p>
        </p:txBody>
      </p:sp>
      <p:sp>
        <p:nvSpPr>
          <p:cNvPr id="11" name="TextBox 13"/>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6AUAAO0dAADIQwAAvSAAABAgAAAmAAAACAAAAP//////////"/>
              </a:ext>
            </a:extLst>
          </p:cNvSpPr>
          <p:nvPr/>
        </p:nvSpPr>
        <p:spPr>
          <a:xfrm>
            <a:off x="960120" y="4864735"/>
            <a:ext cx="10058400" cy="457200"/>
          </a:xfrm>
          <a:prstGeom prst="rect">
            <a:avLst/>
          </a:prstGeom>
          <a:noFill/>
          <a:ln>
            <a:noFill/>
          </a:ln>
          <a:effectLst/>
        </p:spPr>
        <p:txBody>
          <a:bodyPr vert="horz" wrap="square" lIns="0" tIns="0" rIns="0" bIns="0" numCol="1" spcCol="215900" anchor="t"/>
          <a:lstStyle/>
          <a:p>
            <a:pPr algn="l">
              <a:defRPr lang="en-us"/>
            </a:pPr>
            <a:r>
              <a:rPr lang="en-us" sz="1100" cap="none">
                <a:solidFill>
                  <a:srgbClr val="CBD5E1"/>
                </a:solidFill>
              </a:rPr>
              <a:t>Diff généré, appliqué, re-scanné, retry × 3 si rejeté.</a:t>
            </a:r>
            <a:endParaRPr lang="en-us" sz="1100" cap="none">
              <a:solidFill>
                <a:srgbClr val="CBD5E1"/>
              </a:solidFill>
            </a:endParaRPr>
          </a:p>
          <a:p>
            <a:pPr algn="l">
              <a:defRPr lang="en-us"/>
            </a:pPr>
            <a:r>
              <a:rPr lang="en-us" sz="1100" cap="none">
                <a:solidFill>
                  <a:srgbClr val="CBD5E1"/>
                </a:solidFill>
              </a:rPr>
              <a:t>Les patches validés enrichissent Qdrant.</a:t>
            </a:r>
            <a:endParaRPr lang="en-us" sz="1100" cap="none">
              <a:solidFill>
                <a:srgbClr val="CBD5E1"/>
              </a:solidFill>
            </a:endParaRPr>
          </a:p>
        </p:txBody>
      </p:sp>
      <p:sp>
        <p:nvSpPr>
          <p:cNvPr id="12" name="TextBox 15"/>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6AUAAE0hAADIQwAAjSMAABAgAAAmAAAACAAAAP//////////"/>
              </a:ext>
            </a:extLst>
          </p:cNvSpPr>
          <p:nvPr/>
        </p:nvSpPr>
        <p:spPr>
          <a:xfrm>
            <a:off x="960120" y="5413375"/>
            <a:ext cx="10058400" cy="365760"/>
          </a:xfrm>
          <a:prstGeom prst="rect">
            <a:avLst/>
          </a:prstGeom>
          <a:noFill/>
          <a:ln>
            <a:noFill/>
          </a:ln>
          <a:effectLst/>
        </p:spPr>
        <p:txBody>
          <a:bodyPr vert="horz" wrap="square" lIns="0" tIns="0" rIns="0" bIns="0" numCol="1" spcCol="215900" anchor="t"/>
          <a:lstStyle/>
          <a:p>
            <a:pPr algn="l">
              <a:defRPr lang="en-us"/>
            </a:pPr>
            <a:r>
              <a:rPr lang="en-us" sz="1500" b="1" cap="none">
                <a:solidFill>
                  <a:srgbClr val="FFFFFF"/>
                </a:solidFill>
              </a:rPr>
              <a:t>Mémoire qui apprend</a:t>
            </a:r>
            <a:endParaRPr lang="en-us" sz="1500" b="1" cap="none">
              <a:solidFill>
                <a:srgbClr val="FFFFFF"/>
              </a:solidFill>
            </a:endParaRPr>
          </a:p>
        </p:txBody>
      </p:sp>
      <p:sp>
        <p:nvSpPr>
          <p:cNvPr id="13" name="TextBox 16"/>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6AUAAI0jAADIQwAAXSYAABAgAAAmAAAACAAAAP//////////"/>
              </a:ext>
            </a:extLst>
          </p:cNvSpPr>
          <p:nvPr/>
        </p:nvSpPr>
        <p:spPr>
          <a:xfrm>
            <a:off x="960120" y="5779135"/>
            <a:ext cx="10058400" cy="457200"/>
          </a:xfrm>
          <a:prstGeom prst="rect">
            <a:avLst/>
          </a:prstGeom>
          <a:noFill/>
          <a:ln>
            <a:noFill/>
          </a:ln>
          <a:effectLst/>
        </p:spPr>
        <p:txBody>
          <a:bodyPr vert="horz" wrap="square" lIns="0" tIns="0" rIns="0" bIns="0" numCol="1" spcCol="215900" anchor="t"/>
          <a:lstStyle/>
          <a:p>
            <a:pPr algn="l">
              <a:defRPr lang="en-us"/>
            </a:pPr>
            <a:r>
              <a:rPr lang="en-us" sz="1100" cap="none">
                <a:solidFill>
                  <a:srgbClr val="CBD5E1"/>
                </a:solidFill>
              </a:rPr>
              <a:t>Patterns et patches s'accumulent dans Qdrant —</a:t>
            </a:r>
            <a:endParaRPr lang="en-us" sz="1100" cap="none">
              <a:solidFill>
                <a:srgbClr val="CBD5E1"/>
              </a:solidFill>
            </a:endParaRPr>
          </a:p>
          <a:p>
            <a:pPr algn="l">
              <a:defRPr lang="en-us"/>
            </a:pPr>
            <a:r>
              <a:rPr lang="en-us" sz="1100" cap="none">
                <a:solidFill>
                  <a:srgbClr val="CBD5E1"/>
                </a:solidFill>
              </a:rPr>
              <a:t>la qualité augmente scan après scan.</a:t>
            </a:r>
            <a:endParaRPr lang="en-us" sz="1100" cap="none">
              <a:solidFill>
                <a:srgbClr val="CBD5E1"/>
              </a:solidFill>
            </a:endParaRPr>
          </a:p>
        </p:txBody>
      </p:sp>
      <p:sp>
        <p:nvSpPr>
          <p:cNvPr id="14" name="TextBox 17"/>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gAQAABgnAABgQgAAWCkAABAgAAAmAAAACAAAAP//////////"/>
              </a:ext>
            </a:extLst>
          </p:cNvSpPr>
          <p:nvPr/>
        </p:nvSpPr>
        <p:spPr>
          <a:xfrm>
            <a:off x="731520" y="6355080"/>
            <a:ext cx="10058400" cy="365760"/>
          </a:xfrm>
          <a:prstGeom prst="rect">
            <a:avLst/>
          </a:prstGeom>
          <a:noFill/>
          <a:ln>
            <a:noFill/>
          </a:ln>
          <a:effectLst/>
        </p:spPr>
        <p:txBody>
          <a:bodyPr vert="horz" wrap="square" lIns="0" tIns="0" rIns="0" bIns="0" numCol="1" spcCol="215900" anchor="t"/>
          <a:lstStyle/>
          <a:p>
            <a:pPr algn="l">
              <a:defRPr lang="en-us"/>
            </a:pPr>
            <a:r>
              <a:rPr lang="en-us" sz="1000" cap="none">
                <a:solidFill>
                  <a:srgbClr val="475569"/>
                </a:solidFill>
              </a:rPr>
              <a:t>Documentation complète  ·  /docs  ·  index, architecture, agents, workflow, memory, llm, api, ui</a:t>
            </a:r>
            <a:endParaRPr lang="en-us" sz="1000" cap="none">
              <a:solidFill>
                <a:srgbClr val="475569"/>
              </a:solidFill>
            </a:endParaRPr>
          </a:p>
        </p:txBody>
      </p:sp>
      <p:sp>
        <p:nvSpPr>
          <p:cNvPr id="15" name="TextBox 18"/>
          <p:cNvSpPr>
            <a:extLst>
              <a:ext uri="smNativeData">
                <pr:smNativeData xmlns:pr="smNativeData" xmlns="smNativeData" val="SMDATA_15_ceEnahMAAAAlAAAAZAAAAE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sEAAAKgnAABwRwAAWCkAABAgAAAmAAAACAAAAP//////////"/>
              </a:ext>
            </a:extLst>
          </p:cNvSpPr>
          <p:nvPr/>
        </p:nvSpPr>
        <p:spPr>
          <a:xfrm>
            <a:off x="10515600" y="6446520"/>
            <a:ext cx="1097280" cy="274320"/>
          </a:xfrm>
          <a:prstGeom prst="rect">
            <a:avLst/>
          </a:prstGeom>
          <a:noFill/>
          <a:ln>
            <a:noFill/>
          </a:ln>
          <a:effectLst/>
        </p:spPr>
        <p:txBody>
          <a:bodyPr vert="horz" wrap="square" lIns="0" tIns="0" rIns="0" bIns="0" numCol="1" spcCol="215900" anchor="t"/>
          <a:lstStyle/>
          <a:p>
            <a:pPr algn="r">
              <a:defRPr lang="en-us"/>
            </a:pPr>
            <a:r>
              <a:rPr lang="en-us" sz="1000" cap="none">
                <a:solidFill>
                  <a:srgbClr val="475569"/>
                </a:solidFill>
              </a:rPr>
              <a:t>11 / 11</a:t>
            </a:r>
            <a:endParaRPr lang="en-us" sz="1000" cap="none">
              <a:solidFill>
                <a:srgbClr val="475569"/>
              </a:solidFill>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Presentation">
  <a:themeElements>
    <a:clrScheme name="Presentation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resentation">
      <a:majorFont>
        <a:latin typeface="Calibri Light"/>
        <a:ea typeface="Calibri Light"/>
        <a:cs typeface="Calibri Light"/>
      </a:majorFont>
      <a:minorFont>
        <a:latin typeface="Calibri"/>
        <a:ea typeface="Calibri"/>
        <a:cs typeface="Calibri"/>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prstTxWarp prst="textNoShape">
          <a:avLst/>
        </a:prstTxWarp>
        <a:noAutofit/>
      </a:bodyPr>
      <a:lstStyle>
        <a:defPPr>
          <a:defRPr/>
        </a:defPPr>
      </a:lstStyle>
      <a:style>
        <a:lnRef idx="0">
          <a:schemeClr val="accent1"/>
        </a:lnRef>
        <a:fillRef idx="0">
          <a:schemeClr val="accent1"/>
        </a:fillRef>
        <a:effectRef idx="0">
          <a:schemeClr val="accent1"/>
        </a:effectRef>
        <a:fontRef idx="minor">
          <a:schemeClr val="lt1"/>
        </a:fontRef>
      </a:style>
    </a:spDef>
  </a:objectDefaults>
  <a:extraClrSchemeLst>
    <a:extraClrScheme>
      <a:clrScheme name="Presentation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
      <a:clrScheme name="Presentation 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Presentation">
  <a:themeElements>
    <a:clrScheme name="Presentation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resentation">
      <a:majorFont>
        <a:latin typeface="Calibri Light"/>
        <a:ea typeface="Calibri Light"/>
        <a:cs typeface="Calibri Light"/>
      </a:majorFont>
      <a:minorFont>
        <a:latin typeface="Calibri"/>
        <a:ea typeface="Calibri"/>
        <a:cs typeface="Calibri"/>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prstTxWarp prst="textNoShape">
          <a:avLst/>
        </a:prstTxWarp>
        <a:noAutofit/>
      </a:bodyPr>
      <a:lstStyle>
        <a:defPPr>
          <a:defRPr/>
        </a:defPPr>
      </a:lstStyle>
      <a:style>
        <a:lnRef idx="0">
          <a:schemeClr val="accent1"/>
        </a:lnRef>
        <a:fillRef idx="0">
          <a:schemeClr val="accent1"/>
        </a:fillRef>
        <a:effectRef idx="0">
          <a:schemeClr val="accent1"/>
        </a:effectRef>
        <a:fontRef idx="minor">
          <a:schemeClr val="lt1"/>
        </a:fontRef>
      </a:style>
    </a:spDef>
  </a:objectDefaults>
  <a:extraClrSchemeLst>
    <a:extraClrScheme>
      <a:clrScheme name="Presentation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
      <a:clrScheme name="Presentation 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Time Infographic</dc:title>
  <dc:subject/>
  <dc:creator>Iryna Siletska</dc:creator>
  <cp:keywords/>
  <dc:description/>
  <cp:lastModifiedBy>pc</cp:lastModifiedBy>
  <cp:revision>0</cp:revision>
  <dcterms:created xsi:type="dcterms:W3CDTF">2021-03-15T16:54:13Z</dcterms:created>
  <dcterms:modified xsi:type="dcterms:W3CDTF">2026-06-09T09:48:33Z</dcterms:modified>
</cp:coreProperties>
</file>